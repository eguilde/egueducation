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467db3dcd6f4234" /><Relationship Type="http://schemas.openxmlformats.org/officeDocument/2006/relationships/extended-properties" Target="/docProps/app.xml" Id="R4f97fdacf2c5445e" /><Relationship Type="http://schemas.openxmlformats.org/officeDocument/2006/relationships/officeDocument" Target="/ppt/presentation.xml" Id="R2d7701acaf244955" /></Relationships>
</file>

<file path=ppt/presentation.xml><?xml version="1.0" encoding="utf-8"?>
<p:presentation xmlns:p="http://schemas.openxmlformats.org/presentationml/2006/main">
  <p:sldMasterIdLst>
    <p:sldMasterId xmlns:r="http://schemas.openxmlformats.org/officeDocument/2006/relationships" id="2147483648" r:id="R0dc6af6b16eb43cd"/>
  </p:sldMasterIdLst>
  <p:notesMasterIdLst>
    <p:notesMasterId xmlns:r="http://schemas.openxmlformats.org/officeDocument/2006/relationships" r:id="Rf83c539690e84795"/>
  </p:notesMasterIdLst>
  <p:sldIdLst>
    <p:sldId xmlns:r="http://schemas.openxmlformats.org/officeDocument/2006/relationships" id="256" r:id="R0502a72ce3024fff"/>
    <p:sldId xmlns:r="http://schemas.openxmlformats.org/officeDocument/2006/relationships" id="257" r:id="R2611582ed40d4e9e"/>
    <p:sldId xmlns:r="http://schemas.openxmlformats.org/officeDocument/2006/relationships" id="258" r:id="Rcee0041af5a048e7"/>
    <p:sldId xmlns:r="http://schemas.openxmlformats.org/officeDocument/2006/relationships" id="259" r:id="R3d4d0750bfb44352"/>
    <p:sldId xmlns:r="http://schemas.openxmlformats.org/officeDocument/2006/relationships" id="260" r:id="R4ae8df4911b64b88"/>
    <p:sldId xmlns:r="http://schemas.openxmlformats.org/officeDocument/2006/relationships" id="261" r:id="R86ead097364a4871"/>
    <p:sldId xmlns:r="http://schemas.openxmlformats.org/officeDocument/2006/relationships" id="262" r:id="Re7e55b6983414e3e"/>
    <p:sldId xmlns:r="http://schemas.openxmlformats.org/officeDocument/2006/relationships" id="263" r:id="Ra4f56ae81253419d"/>
    <p:sldId xmlns:r="http://schemas.openxmlformats.org/officeDocument/2006/relationships" id="264" r:id="Rd8534a36d6d34993"/>
    <p:sldId xmlns:r="http://schemas.openxmlformats.org/officeDocument/2006/relationships" id="265" r:id="Rb1f0afaf57d745bf"/>
    <p:sldId xmlns:r="http://schemas.openxmlformats.org/officeDocument/2006/relationships" id="266" r:id="R28d55d0c8629418c"/>
    <p:sldId xmlns:r="http://schemas.openxmlformats.org/officeDocument/2006/relationships" id="267" r:id="R25ed8f6cdb2344c2"/>
    <p:sldId xmlns:r="http://schemas.openxmlformats.org/officeDocument/2006/relationships" id="268" r:id="R1ff56dd9faf14f6a"/>
    <p:sldId xmlns:r="http://schemas.openxmlformats.org/officeDocument/2006/relationships" id="269" r:id="R6e23034aa034404f"/>
    <p:sldId xmlns:r="http://schemas.openxmlformats.org/officeDocument/2006/relationships" id="270" r:id="R3e2ddca490d54b1b"/>
    <p:sldId xmlns:r="http://schemas.openxmlformats.org/officeDocument/2006/relationships" id="271" r:id="Ra59b3020183344cc"/>
    <p:sldId xmlns:r="http://schemas.openxmlformats.org/officeDocument/2006/relationships" id="272" r:id="R784d4e25cae34bac"/>
    <p:sldId xmlns:r="http://schemas.openxmlformats.org/officeDocument/2006/relationships" id="273" r:id="R32720065f8af4e24"/>
    <p:sldId xmlns:r="http://schemas.openxmlformats.org/officeDocument/2006/relationships" id="274" r:id="R55f619d4d938444f"/>
    <p:sldId xmlns:r="http://schemas.openxmlformats.org/officeDocument/2006/relationships" id="275" r:id="R510cf9b575fa4552"/>
    <p:sldId xmlns:r="http://schemas.openxmlformats.org/officeDocument/2006/relationships" id="276" r:id="Rffa73686a8034707"/>
    <p:sldId xmlns:r="http://schemas.openxmlformats.org/officeDocument/2006/relationships" id="277" r:id="R52b3b9d039e34014"/>
    <p:sldId xmlns:r="http://schemas.openxmlformats.org/officeDocument/2006/relationships" id="278" r:id="R6e37e2f134bf4f3e"/>
    <p:sldId xmlns:r="http://schemas.openxmlformats.org/officeDocument/2006/relationships" id="279" r:id="R83612a2f0ab74785"/>
    <p:sldId xmlns:r="http://schemas.openxmlformats.org/officeDocument/2006/relationships" id="280" r:id="Raf7cebc82c2f4bc4"/>
    <p:sldId xmlns:r="http://schemas.openxmlformats.org/officeDocument/2006/relationships" id="281" r:id="Rcd5fd0392cde44ba"/>
    <p:sldId xmlns:r="http://schemas.openxmlformats.org/officeDocument/2006/relationships" id="282" r:id="R36701df2a00f4c24"/>
    <p:sldId xmlns:r="http://schemas.openxmlformats.org/officeDocument/2006/relationships" id="283" r:id="Rb12ca2c84dc443d2"/>
    <p:sldId xmlns:r="http://schemas.openxmlformats.org/officeDocument/2006/relationships" id="284" r:id="R0ecaf3e189224ede"/>
    <p:sldId xmlns:r="http://schemas.openxmlformats.org/officeDocument/2006/relationships" id="285" r:id="Rf5f37c0ddf014f9b"/>
    <p:sldId xmlns:r="http://schemas.openxmlformats.org/officeDocument/2006/relationships" id="286" r:id="R0966550d9c74437a"/>
    <p:sldId xmlns:r="http://schemas.openxmlformats.org/officeDocument/2006/relationships" id="287" r:id="Re97a2089fabb4d09"/>
    <p:sldId xmlns:r="http://schemas.openxmlformats.org/officeDocument/2006/relationships" id="288" r:id="R8beaa033b39b4c07"/>
    <p:sldId xmlns:r="http://schemas.openxmlformats.org/officeDocument/2006/relationships" id="289" r:id="Rdf56444d5bf045ba"/>
    <p:sldId xmlns:r="http://schemas.openxmlformats.org/officeDocument/2006/relationships" id="290" r:id="R41320de70f8f496d"/>
    <p:sldId xmlns:r="http://schemas.openxmlformats.org/officeDocument/2006/relationships" id="291" r:id="R3a656853d48d4623"/>
    <p:sldId xmlns:r="http://schemas.openxmlformats.org/officeDocument/2006/relationships" id="292" r:id="Raa4f9bbed8254af1"/>
    <p:sldId xmlns:r="http://schemas.openxmlformats.org/officeDocument/2006/relationships" id="293" r:id="R25b6bf8ab05b4132"/>
    <p:sldId xmlns:r="http://schemas.openxmlformats.org/officeDocument/2006/relationships" id="294" r:id="Re9a8872392e74a33"/>
    <p:sldId xmlns:r="http://schemas.openxmlformats.org/officeDocument/2006/relationships" id="295" r:id="R041706ba7d79460d"/>
    <p:sldId xmlns:r="http://schemas.openxmlformats.org/officeDocument/2006/relationships" id="296" r:id="R635e60ebeb5149be"/>
    <p:sldId xmlns:r="http://schemas.openxmlformats.org/officeDocument/2006/relationships" id="297" r:id="R1391e610822b4e69"/>
    <p:sldId xmlns:r="http://schemas.openxmlformats.org/officeDocument/2006/relationships" id="298" r:id="Rd92def16c20e4f4b"/>
    <p:sldId xmlns:r="http://schemas.openxmlformats.org/officeDocument/2006/relationships" id="299" r:id="R34ab15c1c73849be"/>
    <p:sldId xmlns:r="http://schemas.openxmlformats.org/officeDocument/2006/relationships" id="300" r:id="Rfa3e505c67c240db"/>
    <p:sldId xmlns:r="http://schemas.openxmlformats.org/officeDocument/2006/relationships" id="301" r:id="Rf7a7adff05fa4848"/>
    <p:sldId xmlns:r="http://schemas.openxmlformats.org/officeDocument/2006/relationships" id="302" r:id="Ree7301e28de44149"/>
    <p:sldId xmlns:r="http://schemas.openxmlformats.org/officeDocument/2006/relationships" id="303" r:id="R8ab51069e0364015"/>
    <p:sldId xmlns:r="http://schemas.openxmlformats.org/officeDocument/2006/relationships" id="304" r:id="R5c58942c71eb4cd4"/>
    <p:sldId xmlns:r="http://schemas.openxmlformats.org/officeDocument/2006/relationships" id="305" r:id="Rb77bfef7a63146cf"/>
    <p:sldId xmlns:r="http://schemas.openxmlformats.org/officeDocument/2006/relationships" id="306" r:id="R483a9254656741c3"/>
    <p:sldId xmlns:r="http://schemas.openxmlformats.org/officeDocument/2006/relationships" id="307" r:id="R3bda6c3d46b94350"/>
    <p:sldId xmlns:r="http://schemas.openxmlformats.org/officeDocument/2006/relationships" id="308" r:id="R6147eab8f5a541be"/>
    <p:sldId xmlns:r="http://schemas.openxmlformats.org/officeDocument/2006/relationships" id="309" r:id="Rdd9f75d024d445fb"/>
    <p:sldId xmlns:r="http://schemas.openxmlformats.org/officeDocument/2006/relationships" id="310" r:id="R3923766944a14266"/>
    <p:sldId xmlns:r="http://schemas.openxmlformats.org/officeDocument/2006/relationships" id="311" r:id="R841a501160254876"/>
    <p:sldId xmlns:r="http://schemas.openxmlformats.org/officeDocument/2006/relationships" id="312" r:id="R2ad238aaf9b04e49"/>
    <p:sldId xmlns:r="http://schemas.openxmlformats.org/officeDocument/2006/relationships" id="313" r:id="Ra9d163ed87754b95"/>
    <p:sldId xmlns:r="http://schemas.openxmlformats.org/officeDocument/2006/relationships" id="314" r:id="R8b58facce9db4f1b"/>
    <p:sldId xmlns:r="http://schemas.openxmlformats.org/officeDocument/2006/relationships" id="315" r:id="R9024c043339a4985"/>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3c9306f7444f39" /><Relationship Type="http://schemas.openxmlformats.org/officeDocument/2006/relationships/slideMaster" Target="/ppt/slideMasters/slideMaster1.xml" Id="R0dc6af6b16eb43cd" /><Relationship Type="http://schemas.openxmlformats.org/officeDocument/2006/relationships/notesMaster" Target="/ppt/notesMasters/notesMaster1.xml" Id="Rf83c539690e84795" /><Relationship Type="http://schemas.openxmlformats.org/officeDocument/2006/relationships/presProps" Target="/ppt/presProps.xml" Id="Rc90dbbfc6cb049f3" /><Relationship Type="http://schemas.openxmlformats.org/officeDocument/2006/relationships/tableStyles" Target="/ppt/tableStyles.xml" Id="Rafee7f4662f6419a" /><Relationship Type="http://schemas.openxmlformats.org/officeDocument/2006/relationships/slide" Target="/ppt/slides/slide1.xml" Id="R0502a72ce3024fff" /><Relationship Type="http://schemas.openxmlformats.org/officeDocument/2006/relationships/slide" Target="/ppt/slides/slide2.xml" Id="R2611582ed40d4e9e" /><Relationship Type="http://schemas.openxmlformats.org/officeDocument/2006/relationships/slide" Target="/ppt/slides/slide3.xml" Id="Rcee0041af5a048e7" /><Relationship Type="http://schemas.openxmlformats.org/officeDocument/2006/relationships/slide" Target="/ppt/slides/slide4.xml" Id="R3d4d0750bfb44352" /><Relationship Type="http://schemas.openxmlformats.org/officeDocument/2006/relationships/slide" Target="/ppt/slides/slide5.xml" Id="R4ae8df4911b64b88" /><Relationship Type="http://schemas.openxmlformats.org/officeDocument/2006/relationships/slide" Target="/ppt/slides/slide6.xml" Id="R86ead097364a4871" /><Relationship Type="http://schemas.openxmlformats.org/officeDocument/2006/relationships/slide" Target="/ppt/slides/slide7.xml" Id="Re7e55b6983414e3e" /><Relationship Type="http://schemas.openxmlformats.org/officeDocument/2006/relationships/slide" Target="/ppt/slides/slide8.xml" Id="Ra4f56ae81253419d" /><Relationship Type="http://schemas.openxmlformats.org/officeDocument/2006/relationships/slide" Target="/ppt/slides/slide9.xml" Id="Rd8534a36d6d34993" /><Relationship Type="http://schemas.openxmlformats.org/officeDocument/2006/relationships/slide" Target="/ppt/slides/slide10.xml" Id="Rb1f0afaf57d745bf" /><Relationship Type="http://schemas.openxmlformats.org/officeDocument/2006/relationships/slide" Target="/ppt/slides/slide11.xml" Id="R28d55d0c8629418c" /><Relationship Type="http://schemas.openxmlformats.org/officeDocument/2006/relationships/slide" Target="/ppt/slides/slide12.xml" Id="R25ed8f6cdb2344c2" /><Relationship Type="http://schemas.openxmlformats.org/officeDocument/2006/relationships/slide" Target="/ppt/slides/slide13.xml" Id="R1ff56dd9faf14f6a" /><Relationship Type="http://schemas.openxmlformats.org/officeDocument/2006/relationships/slide" Target="/ppt/slides/slide14.xml" Id="R6e23034aa034404f" /><Relationship Type="http://schemas.openxmlformats.org/officeDocument/2006/relationships/slide" Target="/ppt/slides/slide15.xml" Id="R3e2ddca490d54b1b" /><Relationship Type="http://schemas.openxmlformats.org/officeDocument/2006/relationships/slide" Target="/ppt/slides/slide16.xml" Id="Ra59b3020183344cc" /><Relationship Type="http://schemas.openxmlformats.org/officeDocument/2006/relationships/slide" Target="/ppt/slides/slide17.xml" Id="R784d4e25cae34bac" /><Relationship Type="http://schemas.openxmlformats.org/officeDocument/2006/relationships/slide" Target="/ppt/slides/slide18.xml" Id="R32720065f8af4e24" /><Relationship Type="http://schemas.openxmlformats.org/officeDocument/2006/relationships/slide" Target="/ppt/slides/slide19.xml" Id="R55f619d4d938444f" /><Relationship Type="http://schemas.openxmlformats.org/officeDocument/2006/relationships/slide" Target="/ppt/slides/slide20.xml" Id="R510cf9b575fa4552" /><Relationship Type="http://schemas.openxmlformats.org/officeDocument/2006/relationships/slide" Target="/ppt/slides/slide21.xml" Id="Rffa73686a8034707" /><Relationship Type="http://schemas.openxmlformats.org/officeDocument/2006/relationships/slide" Target="/ppt/slides/slide22.xml" Id="R52b3b9d039e34014" /><Relationship Type="http://schemas.openxmlformats.org/officeDocument/2006/relationships/slide" Target="/ppt/slides/slide23.xml" Id="R6e37e2f134bf4f3e" /><Relationship Type="http://schemas.openxmlformats.org/officeDocument/2006/relationships/slide" Target="/ppt/slides/slide24.xml" Id="R83612a2f0ab74785" /><Relationship Type="http://schemas.openxmlformats.org/officeDocument/2006/relationships/slide" Target="/ppt/slides/slide25.xml" Id="Raf7cebc82c2f4bc4" /><Relationship Type="http://schemas.openxmlformats.org/officeDocument/2006/relationships/slide" Target="/ppt/slides/slide26.xml" Id="Rcd5fd0392cde44ba" /><Relationship Type="http://schemas.openxmlformats.org/officeDocument/2006/relationships/slide" Target="/ppt/slides/slide27.xml" Id="R36701df2a00f4c24" /><Relationship Type="http://schemas.openxmlformats.org/officeDocument/2006/relationships/slide" Target="/ppt/slides/slide28.xml" Id="Rb12ca2c84dc443d2" /><Relationship Type="http://schemas.openxmlformats.org/officeDocument/2006/relationships/slide" Target="/ppt/slides/slide29.xml" Id="R0ecaf3e189224ede" /><Relationship Type="http://schemas.openxmlformats.org/officeDocument/2006/relationships/slide" Target="/ppt/slides/slide30.xml" Id="Rf5f37c0ddf014f9b" /><Relationship Type="http://schemas.openxmlformats.org/officeDocument/2006/relationships/slide" Target="/ppt/slides/slide31.xml" Id="R0966550d9c74437a" /><Relationship Type="http://schemas.openxmlformats.org/officeDocument/2006/relationships/slide" Target="/ppt/slides/slide32.xml" Id="Re97a2089fabb4d09" /><Relationship Type="http://schemas.openxmlformats.org/officeDocument/2006/relationships/slide" Target="/ppt/slides/slide33.xml" Id="R8beaa033b39b4c07" /><Relationship Type="http://schemas.openxmlformats.org/officeDocument/2006/relationships/slide" Target="/ppt/slides/slide34.xml" Id="Rdf56444d5bf045ba" /><Relationship Type="http://schemas.openxmlformats.org/officeDocument/2006/relationships/slide" Target="/ppt/slides/slide35.xml" Id="R41320de70f8f496d" /><Relationship Type="http://schemas.openxmlformats.org/officeDocument/2006/relationships/slide" Target="/ppt/slides/slide36.xml" Id="R3a656853d48d4623" /><Relationship Type="http://schemas.openxmlformats.org/officeDocument/2006/relationships/slide" Target="/ppt/slides/slide37.xml" Id="Raa4f9bbed8254af1" /><Relationship Type="http://schemas.openxmlformats.org/officeDocument/2006/relationships/slide" Target="/ppt/slides/slide38.xml" Id="R25b6bf8ab05b4132" /><Relationship Type="http://schemas.openxmlformats.org/officeDocument/2006/relationships/slide" Target="/ppt/slides/slide39.xml" Id="Re9a8872392e74a33" /><Relationship Type="http://schemas.openxmlformats.org/officeDocument/2006/relationships/slide" Target="/ppt/slides/slide40.xml" Id="R041706ba7d79460d" /><Relationship Type="http://schemas.openxmlformats.org/officeDocument/2006/relationships/slide" Target="/ppt/slides/slide41.xml" Id="R635e60ebeb5149be" /><Relationship Type="http://schemas.openxmlformats.org/officeDocument/2006/relationships/slide" Target="/ppt/slides/slide42.xml" Id="R1391e610822b4e69" /><Relationship Type="http://schemas.openxmlformats.org/officeDocument/2006/relationships/slide" Target="/ppt/slides/slide43.xml" Id="Rd92def16c20e4f4b" /><Relationship Type="http://schemas.openxmlformats.org/officeDocument/2006/relationships/slide" Target="/ppt/slides/slide44.xml" Id="R34ab15c1c73849be" /><Relationship Type="http://schemas.openxmlformats.org/officeDocument/2006/relationships/slide" Target="/ppt/slides/slide45.xml" Id="Rfa3e505c67c240db" /><Relationship Type="http://schemas.openxmlformats.org/officeDocument/2006/relationships/slide" Target="/ppt/slides/slide46.xml" Id="Rf7a7adff05fa4848" /><Relationship Type="http://schemas.openxmlformats.org/officeDocument/2006/relationships/slide" Target="/ppt/slides/slide47.xml" Id="Ree7301e28de44149" /><Relationship Type="http://schemas.openxmlformats.org/officeDocument/2006/relationships/slide" Target="/ppt/slides/slide48.xml" Id="R8ab51069e0364015" /><Relationship Type="http://schemas.openxmlformats.org/officeDocument/2006/relationships/slide" Target="/ppt/slides/slide49.xml" Id="R5c58942c71eb4cd4" /><Relationship Type="http://schemas.openxmlformats.org/officeDocument/2006/relationships/slide" Target="/ppt/slides/slide50.xml" Id="Rb77bfef7a63146cf" /><Relationship Type="http://schemas.openxmlformats.org/officeDocument/2006/relationships/slide" Target="/ppt/slides/slide51.xml" Id="R483a9254656741c3" /><Relationship Type="http://schemas.openxmlformats.org/officeDocument/2006/relationships/slide" Target="/ppt/slides/slide52.xml" Id="R3bda6c3d46b94350" /><Relationship Type="http://schemas.openxmlformats.org/officeDocument/2006/relationships/slide" Target="/ppt/slides/slide53.xml" Id="R6147eab8f5a541be" /><Relationship Type="http://schemas.openxmlformats.org/officeDocument/2006/relationships/slide" Target="/ppt/slides/slide54.xml" Id="Rdd9f75d024d445fb" /><Relationship Type="http://schemas.openxmlformats.org/officeDocument/2006/relationships/slide" Target="/ppt/slides/slide55.xml" Id="R3923766944a14266" /><Relationship Type="http://schemas.openxmlformats.org/officeDocument/2006/relationships/slide" Target="/ppt/slides/slide56.xml" Id="R841a501160254876" /><Relationship Type="http://schemas.openxmlformats.org/officeDocument/2006/relationships/slide" Target="/ppt/slides/slide57.xml" Id="R2ad238aaf9b04e49" /><Relationship Type="http://schemas.openxmlformats.org/officeDocument/2006/relationships/slide" Target="/ppt/slides/slide58.xml" Id="Ra9d163ed87754b95" /><Relationship Type="http://schemas.openxmlformats.org/officeDocument/2006/relationships/slide" Target="/ppt/slides/slide59.xml" Id="R8b58facce9db4f1b" /><Relationship Type="http://schemas.openxmlformats.org/officeDocument/2006/relationships/slide" Target="/ppt/slides/slide60.xml" Id="R9024c043339a49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a3abdec8cc4f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f904f943524179" /><Relationship Type="http://schemas.openxmlformats.org/officeDocument/2006/relationships/notesMaster" Target="/ppt/notesMasters/notesMaster1.xml" Id="R970528c2cd3348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7d9fb397ab9485d" /><Relationship Type="http://schemas.openxmlformats.org/officeDocument/2006/relationships/notesMaster" Target="/ppt/notesMasters/notesMaster1.xml" Id="Rd4d9ed6f14c04d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d13c59ac224295" /><Relationship Type="http://schemas.openxmlformats.org/officeDocument/2006/relationships/notesMaster" Target="/ppt/notesMasters/notesMaster1.xml" Id="Rd81308b5b03240f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5c7869919244b1" /><Relationship Type="http://schemas.openxmlformats.org/officeDocument/2006/relationships/notesMaster" Target="/ppt/notesMasters/notesMaster1.xml" Id="Rb05d2f72909c40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0be4e7b50f4d2f" /><Relationship Type="http://schemas.openxmlformats.org/officeDocument/2006/relationships/notesMaster" Target="/ppt/notesMasters/notesMaster1.xml" Id="Rff44631ef611479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592a68a2154a83" /><Relationship Type="http://schemas.openxmlformats.org/officeDocument/2006/relationships/notesMaster" Target="/ppt/notesMasters/notesMaster1.xml" Id="R75e16095c8954778" /></Relationships>
</file>

<file path=ppt/notesSlides/_rels/notesSlide7.xml.rels>&#65279;<?xml version="1.0" encoding="utf-8"?><Relationships xmlns="http://schemas.openxmlformats.org/package/2006/relationships"><Relationship Type="http://schemas.openxmlformats.org/officeDocument/2006/relationships/slide" Target="/ppt/slides/slide7.xml" Id="R87a8f57af21c4802" /><Relationship Type="http://schemas.openxmlformats.org/officeDocument/2006/relationships/notesMaster" Target="/ppt/notesMasters/notesMaster1.xml" Id="Rb445a4247cd34d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fe72edc0977b4839" /><Relationship Type="http://schemas.openxmlformats.org/officeDocument/2006/relationships/notesMaster" Target="/ppt/notesMasters/notesMaster1.xml" Id="R7414843811fa4a8f" /></Relationships>
</file>

<file path=ppt/notesSlides/_rels/notesSlide9.xml.rels>&#65279;<?xml version="1.0" encoding="utf-8"?><Relationships xmlns="http://schemas.openxmlformats.org/package/2006/relationships"><Relationship Type="http://schemas.openxmlformats.org/officeDocument/2006/relationships/slide" Target="/ppt/slides/slide9.xml" Id="R1a04e22e65db4e9e" /><Relationship Type="http://schemas.openxmlformats.org/officeDocument/2006/relationships/notesMaster" Target="/ppt/notesMasters/notesMaster1.xml" Id="Reaac783d5ee7430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59c592ef9d64e6a" /><Relationship Type="http://schemas.openxmlformats.org/officeDocument/2006/relationships/notesMaster" Target="/ppt/notesMasters/notesMaster1.xml" Id="R8ed44fc3d375430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446c19e53134205" /><Relationship Type="http://schemas.openxmlformats.org/officeDocument/2006/relationships/notesMaster" Target="/ppt/notesMasters/notesMaster1.xml" Id="R57ecd1340b4141d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221e196be5842f3" /><Relationship Type="http://schemas.openxmlformats.org/officeDocument/2006/relationships/notesMaster" Target="/ppt/notesMasters/notesMaster1.xml" Id="Rc216140279b84f7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cc47cb0393b426f" /><Relationship Type="http://schemas.openxmlformats.org/officeDocument/2006/relationships/notesMaster" Target="/ppt/notesMasters/notesMaster1.xml" Id="R8ec9ea7916814ba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cc249c9a33649c0" /><Relationship Type="http://schemas.openxmlformats.org/officeDocument/2006/relationships/notesMaster" Target="/ppt/notesMasters/notesMaster1.xml" Id="Rc2b8bd70a95049e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b8e908e88fd4990" /><Relationship Type="http://schemas.openxmlformats.org/officeDocument/2006/relationships/notesMaster" Target="/ppt/notesMasters/notesMaster1.xml" Id="R2ca3f3aa638a431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c100b38644f4b9f" /><Relationship Type="http://schemas.openxmlformats.org/officeDocument/2006/relationships/notesMaster" Target="/ppt/notesMasters/notesMaster1.xml" Id="R8fe0bec2936c4ad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770abf76cd946bc" /><Relationship Type="http://schemas.openxmlformats.org/officeDocument/2006/relationships/notesMaster" Target="/ppt/notesMasters/notesMaster1.xml" Id="R1f2a3f2df0c54ed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dbecf464b974b02" /><Relationship Type="http://schemas.openxmlformats.org/officeDocument/2006/relationships/notesMaster" Target="/ppt/notesMasters/notesMaster1.xml" Id="Redd64da5f42348e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bfa96b792b34b08" /><Relationship Type="http://schemas.openxmlformats.org/officeDocument/2006/relationships/notesMaster" Target="/ppt/notesMasters/notesMaster1.xml" Id="R511a646de95e469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9622c7ac77a453b" /><Relationship Type="http://schemas.openxmlformats.org/officeDocument/2006/relationships/notesMaster" Target="/ppt/notesMasters/notesMaster1.xml" Id="R3f53a79b0c36458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56868bf1bf64b43" /><Relationship Type="http://schemas.openxmlformats.org/officeDocument/2006/relationships/notesMaster" Target="/ppt/notesMasters/notesMaster1.xml" Id="R4660fdb82350488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d6ebecf73a14c47" /><Relationship Type="http://schemas.openxmlformats.org/officeDocument/2006/relationships/notesMaster" Target="/ppt/notesMasters/notesMaster1.xml" Id="Rf8c9337898cc4ca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0d158e5ebec4c3d" /><Relationship Type="http://schemas.openxmlformats.org/officeDocument/2006/relationships/notesMaster" Target="/ppt/notesMasters/notesMaster1.xml" Id="R25fb78b2159e426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8a83265fe194ec0" /><Relationship Type="http://schemas.openxmlformats.org/officeDocument/2006/relationships/notesMaster" Target="/ppt/notesMasters/notesMaster1.xml" Id="R7382f3efe2d1473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c99b042c2514877" /><Relationship Type="http://schemas.openxmlformats.org/officeDocument/2006/relationships/notesMaster" Target="/ppt/notesMasters/notesMaster1.xml" Id="Ra758a78824e74d2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6402d12be614769" /><Relationship Type="http://schemas.openxmlformats.org/officeDocument/2006/relationships/notesMaster" Target="/ppt/notesMasters/notesMaster1.xml" Id="R04b0ac1761d64b6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538c18c020648ed" /><Relationship Type="http://schemas.openxmlformats.org/officeDocument/2006/relationships/notesMaster" Target="/ppt/notesMasters/notesMaster1.xml" Id="R0723715232d445b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92e411428c646ab" /><Relationship Type="http://schemas.openxmlformats.org/officeDocument/2006/relationships/notesMaster" Target="/ppt/notesMasters/notesMaster1.xml" Id="R30ead8f9af07475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cc64cf04e0547f0" /><Relationship Type="http://schemas.openxmlformats.org/officeDocument/2006/relationships/notesMaster" Target="/ppt/notesMasters/notesMaster1.xml" Id="R6f617ad6b4c24ef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bdefd71fc2747ef" /><Relationship Type="http://schemas.openxmlformats.org/officeDocument/2006/relationships/notesMaster" Target="/ppt/notesMasters/notesMaster1.xml" Id="Rb1326b33f8c3400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7e2a370ced1474f" /><Relationship Type="http://schemas.openxmlformats.org/officeDocument/2006/relationships/notesMaster" Target="/ppt/notesMasters/notesMaster1.xml" Id="Rd1f92ef4c2f940d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8f2fb82892e42e7" /><Relationship Type="http://schemas.openxmlformats.org/officeDocument/2006/relationships/notesMaster" Target="/ppt/notesMasters/notesMaster1.xml" Id="Radf20028b7d446c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3607f1a91764ea9" /><Relationship Type="http://schemas.openxmlformats.org/officeDocument/2006/relationships/notesMaster" Target="/ppt/notesMasters/notesMaster1.xml" Id="R0bc4704895dc426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821d01f45434fb3" /><Relationship Type="http://schemas.openxmlformats.org/officeDocument/2006/relationships/notesMaster" Target="/ppt/notesMasters/notesMaster1.xml" Id="R2aa4dad1881b4e8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b837ec79cee48e9" /><Relationship Type="http://schemas.openxmlformats.org/officeDocument/2006/relationships/notesMaster" Target="/ppt/notesMasters/notesMaster1.xml" Id="R2cf33a0c73ad4e0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ae323117b6344b4" /><Relationship Type="http://schemas.openxmlformats.org/officeDocument/2006/relationships/notesMaster" Target="/ppt/notesMasters/notesMaster1.xml" Id="Ra5fc55c291f9455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464e6de153044bc" /><Relationship Type="http://schemas.openxmlformats.org/officeDocument/2006/relationships/notesMaster" Target="/ppt/notesMasters/notesMaster1.xml" Id="R8a4fe994845a421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5ba296b6ab641b2" /><Relationship Type="http://schemas.openxmlformats.org/officeDocument/2006/relationships/notesMaster" Target="/ppt/notesMasters/notesMaster1.xml" Id="Redeffac28e06471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27fec47b1f74f60" /><Relationship Type="http://schemas.openxmlformats.org/officeDocument/2006/relationships/notesMaster" Target="/ppt/notesMasters/notesMaster1.xml" Id="R65071ca775cb4b8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11edeaa81504b29" /><Relationship Type="http://schemas.openxmlformats.org/officeDocument/2006/relationships/notesMaster" Target="/ppt/notesMasters/notesMaster1.xml" Id="R4afe4e37bfd7442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841d2af71d04566" /><Relationship Type="http://schemas.openxmlformats.org/officeDocument/2006/relationships/notesMaster" Target="/ppt/notesMasters/notesMaster1.xml" Id="R05b86ace0d6646f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fba0248513e454f" /><Relationship Type="http://schemas.openxmlformats.org/officeDocument/2006/relationships/notesMaster" Target="/ppt/notesMasters/notesMaster1.xml" Id="R7de2ca70c022485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07a40f087df48e5" /><Relationship Type="http://schemas.openxmlformats.org/officeDocument/2006/relationships/notesMaster" Target="/ppt/notesMasters/notesMaster1.xml" Id="Rf0f13ede2d6f439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af1075746544ba2" /><Relationship Type="http://schemas.openxmlformats.org/officeDocument/2006/relationships/notesMaster" Target="/ppt/notesMasters/notesMaster1.xml" Id="R298b76e0a4d643a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6918b0a9845f4d58" /><Relationship Type="http://schemas.openxmlformats.org/officeDocument/2006/relationships/notesMaster" Target="/ppt/notesMasters/notesMaster1.xml" Id="Re674ce2adc9a4fdf"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8ee472a1f5db46bb" /><Relationship Type="http://schemas.openxmlformats.org/officeDocument/2006/relationships/notesMaster" Target="/ppt/notesMasters/notesMaster1.xml" Id="R1ec0450461164fd6"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74a6c2cc0b245db" /><Relationship Type="http://schemas.openxmlformats.org/officeDocument/2006/relationships/notesMaster" Target="/ppt/notesMasters/notesMaster1.xml" Id="R91d9703407bc4dd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a76d69ad1534a21" /><Relationship Type="http://schemas.openxmlformats.org/officeDocument/2006/relationships/notesMaster" Target="/ppt/notesMasters/notesMaster1.xml" Id="R9dd0ace50be2415c"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3c5da4b0960410f" /><Relationship Type="http://schemas.openxmlformats.org/officeDocument/2006/relationships/notesMaster" Target="/ppt/notesMasters/notesMaster1.xml" Id="R18bb4fcc6af24893"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172a8352cdea4a03" /><Relationship Type="http://schemas.openxmlformats.org/officeDocument/2006/relationships/notesMaster" Target="/ppt/notesMasters/notesMaster1.xml" Id="Rb876bdbd24bc49ef"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ce32455808dc4fad" /><Relationship Type="http://schemas.openxmlformats.org/officeDocument/2006/relationships/notesMaster" Target="/ppt/notesMasters/notesMaster1.xml" Id="R0169a69a83ac4e5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bd58bcb1700e4849" /><Relationship Type="http://schemas.openxmlformats.org/officeDocument/2006/relationships/notesMaster" Target="/ppt/notesMasters/notesMaster1.xml" Id="R008a6d763000406c"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4223e013abd4901" /><Relationship Type="http://schemas.openxmlformats.org/officeDocument/2006/relationships/notesMaster" Target="/ppt/notesMasters/notesMaster1.xml" Id="R6a704045fd704913"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bad5b0a067b7441c" /><Relationship Type="http://schemas.openxmlformats.org/officeDocument/2006/relationships/notesMaster" Target="/ppt/notesMasters/notesMaster1.xml" Id="Rabc9a3e799364294"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b00f92a8126d4218" /><Relationship Type="http://schemas.openxmlformats.org/officeDocument/2006/relationships/notesMaster" Target="/ppt/notesMasters/notesMaster1.xml" Id="Rd2052a229e464abe"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6cacfc71fc074e1b" /><Relationship Type="http://schemas.openxmlformats.org/officeDocument/2006/relationships/notesMaster" Target="/ppt/notesMasters/notesMaster1.xml" Id="R6a7b5b63d59d4517"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fa00f010276d422d" /><Relationship Type="http://schemas.openxmlformats.org/officeDocument/2006/relationships/notesMaster" Target="/ppt/notesMasters/notesMaster1.xml" Id="Rbf5a2ec6c0994a8b"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0cc9bb58ff5f4c54" /><Relationship Type="http://schemas.openxmlformats.org/officeDocument/2006/relationships/notesMaster" Target="/ppt/notesMasters/notesMaster1.xml" Id="Rff6115ccaa864f3c"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24a2d294784d4b6d" /><Relationship Type="http://schemas.openxmlformats.org/officeDocument/2006/relationships/notesMaster" Target="/ppt/notesMasters/notesMaster1.xml" Id="Rab572e0edc9e4490"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05f4e70e26514a35" /><Relationship Type="http://schemas.openxmlformats.org/officeDocument/2006/relationships/notesMaster" Target="/ppt/notesMasters/notesMaster1.xml" Id="R6c31866fbfed4f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713e58026b4d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57044cd6ed4ff0" /><Relationship Type="http://schemas.openxmlformats.org/officeDocument/2006/relationships/slideLayout" Target="/ppt/slideLayouts/slideLayout1.xml" Id="R5a1c727dfc5c4c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1c727dfc5c4c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3d1d2ee0da44aaf" /><Relationship Type="http://schemas.openxmlformats.org/officeDocument/2006/relationships/notesSlide" Target="/ppt/notesSlides/notesSlide1.xml" Id="Rfd66747b025046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570c5808c744189" /><Relationship Type="http://schemas.openxmlformats.org/officeDocument/2006/relationships/notesSlide" Target="/ppt/notesSlides/notesSlide2.xml" Id="R10e2ee12b72042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e9d914a59b54934" /><Relationship Type="http://schemas.openxmlformats.org/officeDocument/2006/relationships/notesSlide" Target="/ppt/notesSlides/notesSlide3.xml" Id="R4416c6fdd4f74c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4b0ef18f7e3480b" /><Relationship Type="http://schemas.openxmlformats.org/officeDocument/2006/relationships/image" Target="/ppt/media/image.png" Id="R4e20c688cd034088" /><Relationship Type="http://schemas.openxmlformats.org/officeDocument/2006/relationships/notesSlide" Target="/ppt/notesSlides/notesSlide4.xml" Id="R6450c5ff2a974c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c982b2f594648e3" /><Relationship Type="http://schemas.openxmlformats.org/officeDocument/2006/relationships/notesSlide" Target="/ppt/notesSlides/notesSlide5.xml" Id="R41604b5e0c5043c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0edb853ac044926" /><Relationship Type="http://schemas.openxmlformats.org/officeDocument/2006/relationships/notesSlide" Target="/ppt/notesSlides/notesSlide6.xml" Id="R698294cd723f4d6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a2d97d6bb1942b1" /><Relationship Type="http://schemas.openxmlformats.org/officeDocument/2006/relationships/image" Target="/ppt/media/image2.png" Id="R9c7b9b8eee2d4b38" /><Relationship Type="http://schemas.openxmlformats.org/officeDocument/2006/relationships/notesSlide" Target="/ppt/notesSlides/notesSlide7.xml" Id="R38922e6af1bd4ca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564d87bd0034244" /><Relationship Type="http://schemas.openxmlformats.org/officeDocument/2006/relationships/notesSlide" Target="/ppt/notesSlides/notesSlide8.xml" Id="R902678421ea4451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6d334053b814dc0" /><Relationship Type="http://schemas.openxmlformats.org/officeDocument/2006/relationships/notesSlide" Target="/ppt/notesSlides/notesSlide9.xml" Id="Raac874967ecc460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ee365a53d1b4dfe" /><Relationship Type="http://schemas.openxmlformats.org/officeDocument/2006/relationships/image" Target="/ppt/media/image3.png" Id="R88b1a2d325334a5a" /><Relationship Type="http://schemas.openxmlformats.org/officeDocument/2006/relationships/notesSlide" Target="/ppt/notesSlides/notesSlide10.xml" Id="Rab146bd05e0d4d6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5b71b3ab390468e" /><Relationship Type="http://schemas.openxmlformats.org/officeDocument/2006/relationships/image" Target="/ppt/media/image4.png" Id="R0f0606120d534a8d" /><Relationship Type="http://schemas.openxmlformats.org/officeDocument/2006/relationships/notesSlide" Target="/ppt/notesSlides/notesSlide11.xml" Id="Raa880e76270b48a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f67f2e0c1f04b57" /><Relationship Type="http://schemas.openxmlformats.org/officeDocument/2006/relationships/notesSlide" Target="/ppt/notesSlides/notesSlide12.xml" Id="Rc824183637024ed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fd4921cc9b64037" /><Relationship Type="http://schemas.openxmlformats.org/officeDocument/2006/relationships/image" Target="/ppt/media/image5.png" Id="R1511016d6679474d" /><Relationship Type="http://schemas.openxmlformats.org/officeDocument/2006/relationships/notesSlide" Target="/ppt/notesSlides/notesSlide13.xml" Id="R747665a0485c422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02ad6317ed94788" /><Relationship Type="http://schemas.openxmlformats.org/officeDocument/2006/relationships/image" Target="/ppt/media/image6.png" Id="Rec66342da81f42ef" /><Relationship Type="http://schemas.openxmlformats.org/officeDocument/2006/relationships/notesSlide" Target="/ppt/notesSlides/notesSlide14.xml" Id="R46f83d8a412c45e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2c9efeec2f74960" /><Relationship Type="http://schemas.openxmlformats.org/officeDocument/2006/relationships/image" Target="/ppt/media/image7.png" Id="R153e8064b1fb4757" /><Relationship Type="http://schemas.openxmlformats.org/officeDocument/2006/relationships/notesSlide" Target="/ppt/notesSlides/notesSlide15.xml" Id="R331faf65058d43d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674dd9e5eee4a60" /><Relationship Type="http://schemas.openxmlformats.org/officeDocument/2006/relationships/notesSlide" Target="/ppt/notesSlides/notesSlide16.xml" Id="R8506f974fe534bb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be223484d564345" /><Relationship Type="http://schemas.openxmlformats.org/officeDocument/2006/relationships/image" Target="/ppt/media/image8.png" Id="R3fcfc2e653374867" /><Relationship Type="http://schemas.openxmlformats.org/officeDocument/2006/relationships/notesSlide" Target="/ppt/notesSlides/notesSlide17.xml" Id="R2688b5626dd34e8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ea573aec02e4b02" /><Relationship Type="http://schemas.openxmlformats.org/officeDocument/2006/relationships/image" Target="/ppt/media/image9.png" Id="Ra55e7f8d734e4eef" /><Relationship Type="http://schemas.openxmlformats.org/officeDocument/2006/relationships/notesSlide" Target="/ppt/notesSlides/notesSlide18.xml" Id="Red98027a26914cb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342e280f3304a15" /><Relationship Type="http://schemas.openxmlformats.org/officeDocument/2006/relationships/image" Target="/ppt/media/image10.png" Id="R95dbf712ad9a4665" /><Relationship Type="http://schemas.openxmlformats.org/officeDocument/2006/relationships/notesSlide" Target="/ppt/notesSlides/notesSlide19.xml" Id="R882017c54cfa423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2d305091acd4f00" /><Relationship Type="http://schemas.openxmlformats.org/officeDocument/2006/relationships/image" Target="/ppt/media/image11.png" Id="R0fc20a61c6e6494b" /><Relationship Type="http://schemas.openxmlformats.org/officeDocument/2006/relationships/notesSlide" Target="/ppt/notesSlides/notesSlide20.xml" Id="R39b7a0886d624a6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726f56d6bd745b9" /><Relationship Type="http://schemas.openxmlformats.org/officeDocument/2006/relationships/image" Target="/ppt/media/image12.png" Id="Rb3054a31f30741f9" /><Relationship Type="http://schemas.openxmlformats.org/officeDocument/2006/relationships/notesSlide" Target="/ppt/notesSlides/notesSlide21.xml" Id="Rf2738ce3f27b4c5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29f1afc6067469e" /><Relationship Type="http://schemas.openxmlformats.org/officeDocument/2006/relationships/image" Target="/ppt/media/image13.png" Id="Rbc10167ac04545d5" /><Relationship Type="http://schemas.openxmlformats.org/officeDocument/2006/relationships/notesSlide" Target="/ppt/notesSlides/notesSlide22.xml" Id="R901f9c401bb2422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da76ea602374dcf" /><Relationship Type="http://schemas.openxmlformats.org/officeDocument/2006/relationships/image" Target="/ppt/media/image14.png" Id="Rfd806f3bd06a4101" /><Relationship Type="http://schemas.openxmlformats.org/officeDocument/2006/relationships/notesSlide" Target="/ppt/notesSlides/notesSlide23.xml" Id="R82f261018ec3483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6e4a797a62545ca" /><Relationship Type="http://schemas.openxmlformats.org/officeDocument/2006/relationships/image" Target="/ppt/media/image15.png" Id="Rf7a08488e5864db6" /><Relationship Type="http://schemas.openxmlformats.org/officeDocument/2006/relationships/notesSlide" Target="/ppt/notesSlides/notesSlide24.xml" Id="R0c94e150a21047a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a763a9ffc0f418c" /><Relationship Type="http://schemas.openxmlformats.org/officeDocument/2006/relationships/image" Target="/ppt/media/image16.png" Id="Re15660438941402f" /><Relationship Type="http://schemas.openxmlformats.org/officeDocument/2006/relationships/notesSlide" Target="/ppt/notesSlides/notesSlide25.xml" Id="R4e04659c0eed4b2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88ea6ee6343466a" /><Relationship Type="http://schemas.openxmlformats.org/officeDocument/2006/relationships/image" Target="/ppt/media/image17.png" Id="R03f3068f715b4778" /><Relationship Type="http://schemas.openxmlformats.org/officeDocument/2006/relationships/notesSlide" Target="/ppt/notesSlides/notesSlide26.xml" Id="Rf6c9cdf442cd40e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2658d713c6c4f2e" /><Relationship Type="http://schemas.openxmlformats.org/officeDocument/2006/relationships/image" Target="/ppt/media/image18.png" Id="R71e08c29137341fd" /><Relationship Type="http://schemas.openxmlformats.org/officeDocument/2006/relationships/notesSlide" Target="/ppt/notesSlides/notesSlide27.xml" Id="R9b464419fe324d9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5920c82d5b24516" /><Relationship Type="http://schemas.openxmlformats.org/officeDocument/2006/relationships/notesSlide" Target="/ppt/notesSlides/notesSlide28.xml" Id="R1c031c8432a340f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6eca5a893bd482b" /><Relationship Type="http://schemas.openxmlformats.org/officeDocument/2006/relationships/notesSlide" Target="/ppt/notesSlides/notesSlide29.xml" Id="R6fd7511b56b9437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6eadc4c759a4181" /><Relationship Type="http://schemas.openxmlformats.org/officeDocument/2006/relationships/image" Target="/ppt/media/image19.png" Id="R1c39797332e447c0" /><Relationship Type="http://schemas.openxmlformats.org/officeDocument/2006/relationships/notesSlide" Target="/ppt/notesSlides/notesSlide30.xml" Id="Rd333e49072224a3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2437ee7713a485f" /><Relationship Type="http://schemas.openxmlformats.org/officeDocument/2006/relationships/image" Target="/ppt/media/image20.png" Id="R9e08626b4e514993" /><Relationship Type="http://schemas.openxmlformats.org/officeDocument/2006/relationships/notesSlide" Target="/ppt/notesSlides/notesSlide31.xml" Id="Rc0ada00f42e64be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4f232e44b6d4df1" /><Relationship Type="http://schemas.openxmlformats.org/officeDocument/2006/relationships/image" Target="/ppt/media/image21.png" Id="R553a550d7989445f" /><Relationship Type="http://schemas.openxmlformats.org/officeDocument/2006/relationships/notesSlide" Target="/ppt/notesSlides/notesSlide32.xml" Id="R3f01d65298ab40c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5b9a1f76b394535" /><Relationship Type="http://schemas.openxmlformats.org/officeDocument/2006/relationships/notesSlide" Target="/ppt/notesSlides/notesSlide33.xml" Id="R1d3d8ae8dc8f404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65d6c58fc9394dc1" /><Relationship Type="http://schemas.openxmlformats.org/officeDocument/2006/relationships/image" Target="/ppt/media/image22.png" Id="R2f06a680c05b413d" /><Relationship Type="http://schemas.openxmlformats.org/officeDocument/2006/relationships/notesSlide" Target="/ppt/notesSlides/notesSlide34.xml" Id="R2b725a886ce04d4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799c3c5b1f5486d" /><Relationship Type="http://schemas.openxmlformats.org/officeDocument/2006/relationships/image" Target="/ppt/media/image23.png" Id="Ra6ef51f721504856" /><Relationship Type="http://schemas.openxmlformats.org/officeDocument/2006/relationships/notesSlide" Target="/ppt/notesSlides/notesSlide35.xml" Id="R7aed618e5d564f9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ce1e4ca8f20a4085" /><Relationship Type="http://schemas.openxmlformats.org/officeDocument/2006/relationships/notesSlide" Target="/ppt/notesSlides/notesSlide36.xml" Id="R36651f509e214e3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ddaabcfbe5747b2" /><Relationship Type="http://schemas.openxmlformats.org/officeDocument/2006/relationships/image" Target="/ppt/media/image24.png" Id="R8c60c422bab547c3" /><Relationship Type="http://schemas.openxmlformats.org/officeDocument/2006/relationships/notesSlide" Target="/ppt/notesSlides/notesSlide37.xml" Id="Rf0af236394594bc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66ed85aa4cd345a9" /><Relationship Type="http://schemas.openxmlformats.org/officeDocument/2006/relationships/image" Target="/ppt/media/image25.png" Id="R6e3d645f457f45f6" /><Relationship Type="http://schemas.openxmlformats.org/officeDocument/2006/relationships/notesSlide" Target="/ppt/notesSlides/notesSlide38.xml" Id="R40333c6cf5e84f9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d81fb77df40744cd" /><Relationship Type="http://schemas.openxmlformats.org/officeDocument/2006/relationships/image" Target="/ppt/media/image26.png" Id="Re6765593528b41a5" /><Relationship Type="http://schemas.openxmlformats.org/officeDocument/2006/relationships/notesSlide" Target="/ppt/notesSlides/notesSlide39.xml" Id="R2ca1915629704ec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bcebdd65bc4a4106" /><Relationship Type="http://schemas.openxmlformats.org/officeDocument/2006/relationships/image" Target="/ppt/media/image27.png" Id="Rf23a4db38bc04515" /><Relationship Type="http://schemas.openxmlformats.org/officeDocument/2006/relationships/notesSlide" Target="/ppt/notesSlides/notesSlide40.xml" Id="R94d45af542ab4a8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8e6653ae13474615" /><Relationship Type="http://schemas.openxmlformats.org/officeDocument/2006/relationships/image" Target="/ppt/media/image28.png" Id="R5bc52e23ce424656" /><Relationship Type="http://schemas.openxmlformats.org/officeDocument/2006/relationships/notesSlide" Target="/ppt/notesSlides/notesSlide41.xml" Id="R97d38c14e0bc4e6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f4c265971b8f485f" /><Relationship Type="http://schemas.openxmlformats.org/officeDocument/2006/relationships/notesSlide" Target="/ppt/notesSlides/notesSlide42.xml" Id="Rd46835edc25245b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5b4fe1db0c1d434a" /><Relationship Type="http://schemas.openxmlformats.org/officeDocument/2006/relationships/notesSlide" Target="/ppt/notesSlides/notesSlide43.xml" Id="R53602d29f92d42f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e245d9890adc4a2c" /><Relationship Type="http://schemas.openxmlformats.org/officeDocument/2006/relationships/notesSlide" Target="/ppt/notesSlides/notesSlide44.xml" Id="R4591e294f4454d3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41ee75d14e0e452d" /><Relationship Type="http://schemas.openxmlformats.org/officeDocument/2006/relationships/notesSlide" Target="/ppt/notesSlides/notesSlide45.xml" Id="R0551c1bc42b140f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a0632f466cb7442b" /><Relationship Type="http://schemas.openxmlformats.org/officeDocument/2006/relationships/notesSlide" Target="/ppt/notesSlides/notesSlide46.xml" Id="R515053552e4140da"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817b6e9416374008" /><Relationship Type="http://schemas.openxmlformats.org/officeDocument/2006/relationships/notesSlide" Target="/ppt/notesSlides/notesSlide47.xml" Id="Rd0f1ecf7937740e4"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3c1b1b496a1f4b66" /><Relationship Type="http://schemas.openxmlformats.org/officeDocument/2006/relationships/notesSlide" Target="/ppt/notesSlides/notesSlide48.xml" Id="Rc76123cc8a0146c9"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5ff3f2c205c042a3" /><Relationship Type="http://schemas.openxmlformats.org/officeDocument/2006/relationships/notesSlide" Target="/ppt/notesSlides/notesSlide49.xml" Id="R102e69cb9401494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cbff65ad614b4053" /><Relationship Type="http://schemas.openxmlformats.org/officeDocument/2006/relationships/notesSlide" Target="/ppt/notesSlides/notesSlide50.xml" Id="R70e02a877c4746ce"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7a778d2acb954e07" /><Relationship Type="http://schemas.openxmlformats.org/officeDocument/2006/relationships/notesSlide" Target="/ppt/notesSlides/notesSlide51.xml" Id="R16e9bd0182594225"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e5e1f8dcd4e54ede" /><Relationship Type="http://schemas.openxmlformats.org/officeDocument/2006/relationships/notesSlide" Target="/ppt/notesSlides/notesSlide52.xml" Id="R13b3b44781ac42de"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ed7a9ec5a4a84748" /><Relationship Type="http://schemas.openxmlformats.org/officeDocument/2006/relationships/notesSlide" Target="/ppt/notesSlides/notesSlide53.xml" Id="R27fc341eaab64fcd"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2dbf8c2888854795" /><Relationship Type="http://schemas.openxmlformats.org/officeDocument/2006/relationships/notesSlide" Target="/ppt/notesSlides/notesSlide54.xml" Id="R8e5620de66f34bf5"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1aa9e93992c94938" /><Relationship Type="http://schemas.openxmlformats.org/officeDocument/2006/relationships/notesSlide" Target="/ppt/notesSlides/notesSlide55.xml" Id="R7c713391812e456b"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95ff6ade990b485a" /><Relationship Type="http://schemas.openxmlformats.org/officeDocument/2006/relationships/notesSlide" Target="/ppt/notesSlides/notesSlide56.xml" Id="R31ae39e383224584"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dbb2ec2d47484571" /><Relationship Type="http://schemas.openxmlformats.org/officeDocument/2006/relationships/notesSlide" Target="/ppt/notesSlides/notesSlide57.xml" Id="Rcff8107c5f604882"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722b4858b7dc4abd" /><Relationship Type="http://schemas.openxmlformats.org/officeDocument/2006/relationships/notesSlide" Target="/ppt/notesSlides/notesSlide58.xml" Id="R6d07ff3ff8fd452b"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556ddb171a594546" /><Relationship Type="http://schemas.openxmlformats.org/officeDocument/2006/relationships/image" Target="/ppt/media/image29.png" Id="R31a3c68673144155" /><Relationship Type="http://schemas.openxmlformats.org/officeDocument/2006/relationships/notesSlide" Target="/ppt/notesSlides/notesSlide59.xml" Id="R3f7c8318a87d4ccc"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daa2c2da26024066" /><Relationship Type="http://schemas.openxmlformats.org/officeDocument/2006/relationships/notesSlide" Target="/ppt/notesSlides/notesSlide60.xml" Id="Reb80bfc2127a462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6F51762-BAC8-452B-9A70-6740D73E430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1C9C82D0-6C9B-4FFE-AAA2-57DF02A12437}"/>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3" name="">
            <a:extLst xmlns:a="http://schemas.openxmlformats.org/drawingml/2006/main">
              <a:ext uri="{FF2B5EF4-FFF2-40B4-BE49-F238E27FC236}">
                <a16:creationId xmlns:a16="http://schemas.microsoft.com/office/drawing/2014/main" id="{E68DA645-2BB4-4E25-83BD-F1086972BECE}"/>
              </a:ext>
            </a:extLst>
          </p:cNvPr>
          <p:cNvSpPr>
            <a:spLocks xmlns:a="http://schemas.openxmlformats.org/drawingml/2006/main" noGrp="1"/>
          </p:cNvSpPr>
          <p:nvPr/>
        </p:nvSpPr>
        <p:spPr>
          <a:xfrm xmlns:a="http://schemas.openxmlformats.org/drawingml/2006/main">
            <a:off x="533400" y="4572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Manual complet de utilizare</a:t>
            </a:r>
          </a:p>
        </p:txBody>
      </p:sp>
      <p:sp>
        <p:nvSpPr>
          <p:cNvPr id="4" name="">
            <a:extLst xmlns:a="http://schemas.openxmlformats.org/drawingml/2006/main">
              <a:ext uri="{FF2B5EF4-FFF2-40B4-BE49-F238E27FC236}">
                <a16:creationId xmlns:a16="http://schemas.microsoft.com/office/drawing/2014/main" id="{E83EFA09-19EC-47B0-ACE5-0D5F4FEF8B36}"/>
              </a:ext>
            </a:extLst>
          </p:cNvPr>
          <p:cNvSpPr>
            <a:spLocks xmlns:a="http://schemas.openxmlformats.org/drawingml/2006/main" noGrp="1"/>
          </p:cNvSpPr>
          <p:nvPr/>
        </p:nvSpPr>
        <p:spPr>
          <a:xfrm xmlns:a="http://schemas.openxmlformats.org/drawingml/2006/main">
            <a:off x="533400" y="914400"/>
            <a:ext cx="6477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020618"/>
                </a:solidFill>
              </a:defRPr>
            </a:pPr>
            <a:r>
              <a:rPr sz="2700" b="1">
                <a:solidFill>
                  <a:srgbClr val="020618"/>
                </a:solidFill>
              </a:rPr>
              <a:t>eGuEducation</a:t>
            </a:r>
          </a:p>
          <a:p xmlns:a="http://schemas.openxmlformats.org/drawingml/2006/main">
            <a:pPr>
              <a:defRPr sz="2700" b="1">
                <a:solidFill>
                  <a:srgbClr val="020618"/>
                </a:solidFill>
              </a:defRPr>
            </a:pPr>
            <a:r>
              <a:rPr sz="2700" b="1">
                <a:solidFill>
                  <a:srgbClr val="020618"/>
                </a:solidFill>
              </a:rPr>
              <a:t>Registratura, arhiva digitala si management educational</a:t>
            </a:r>
          </a:p>
        </p:txBody>
      </p:sp>
      <p:sp>
        <p:nvSpPr>
          <p:cNvPr id="5" name="">
            <a:extLst xmlns:a="http://schemas.openxmlformats.org/drawingml/2006/main">
              <a:ext uri="{FF2B5EF4-FFF2-40B4-BE49-F238E27FC236}">
                <a16:creationId xmlns:a16="http://schemas.microsoft.com/office/drawing/2014/main" id="{C582C21E-8E4B-40D6-AF60-4FDE152E3B2B}"/>
              </a:ext>
            </a:extLst>
          </p:cNvPr>
          <p:cNvSpPr>
            <a:spLocks xmlns:a="http://schemas.openxmlformats.org/drawingml/2006/main" noGrp="1"/>
          </p:cNvSpPr>
          <p:nvPr/>
        </p:nvSpPr>
        <p:spPr>
          <a:xfrm xmlns:a="http://schemas.openxmlformats.org/drawingml/2006/main">
            <a:off x="533400" y="2476500"/>
            <a:ext cx="590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314158"/>
                </a:solidFill>
              </a:defRPr>
            </a:pPr>
            <a:r>
              <a:rPr sz="1350">
                <a:solidFill>
                  <a:srgbClr val="314158"/>
                </a:solidFill>
              </a:rPr>
              <a:t>Prezentarea este construita ca ghid de lucru pentru utilizatori finali. Fiecare zona importanta a aplicatiei este explicata cu imagini reale, pasi clari si rezultate asteptate.</a:t>
            </a:r>
          </a:p>
        </p:txBody>
      </p:sp>
      <p:sp>
        <p:nvSpPr>
          <p:cNvPr id="6" name="">
            <a:extLst xmlns:a="http://schemas.openxmlformats.org/drawingml/2006/main">
              <a:ext uri="{FF2B5EF4-FFF2-40B4-BE49-F238E27FC236}">
                <a16:creationId xmlns:a16="http://schemas.microsoft.com/office/drawing/2014/main" id="{90203D94-1573-4FAC-9509-5AE7D381EFC3}"/>
              </a:ext>
            </a:extLst>
          </p:cNvPr>
          <p:cNvSpPr>
            <a:spLocks xmlns:a="http://schemas.openxmlformats.org/drawingml/2006/main" noGrp="1"/>
          </p:cNvSpPr>
          <p:nvPr/>
        </p:nvSpPr>
        <p:spPr>
          <a:xfrm xmlns:a="http://schemas.openxmlformats.org/drawingml/2006/main">
            <a:off x="7239000" y="800100"/>
            <a:ext cx="4191000" cy="2286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53461F0C-9701-41A4-8BCC-E2475465684E}"/>
              </a:ext>
            </a:extLst>
          </p:cNvPr>
          <p:cNvSpPr>
            <a:spLocks xmlns:a="http://schemas.openxmlformats.org/drawingml/2006/main" noGrp="1"/>
          </p:cNvSpPr>
          <p:nvPr/>
        </p:nvSpPr>
        <p:spPr>
          <a:xfrm xmlns:a="http://schemas.openxmlformats.org/drawingml/2006/main">
            <a:off x="7391400" y="93345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Ce contine</a:t>
            </a:r>
          </a:p>
        </p:txBody>
      </p:sp>
      <p:sp>
        <p:nvSpPr>
          <p:cNvPr id="8" name="">
            <a:extLst xmlns:a="http://schemas.openxmlformats.org/drawingml/2006/main">
              <a:ext uri="{FF2B5EF4-FFF2-40B4-BE49-F238E27FC236}">
                <a16:creationId xmlns:a16="http://schemas.microsoft.com/office/drawing/2014/main" id="{662EEBAE-47B1-4D87-AD43-27F9103D7DE1}"/>
              </a:ext>
            </a:extLst>
          </p:cNvPr>
          <p:cNvSpPr>
            <a:spLocks xmlns:a="http://schemas.openxmlformats.org/drawingml/2006/main" noGrp="1"/>
          </p:cNvSpPr>
          <p:nvPr/>
        </p:nvSpPr>
        <p:spPr>
          <a:xfrm xmlns:a="http://schemas.openxmlformats.org/drawingml/2006/main">
            <a:off x="7391400" y="1295400"/>
            <a:ext cx="38862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registratura si flux de documente</a:t>
            </a:r>
          </a:p>
          <a:p xmlns:a="http://schemas.openxmlformats.org/drawingml/2006/main">
            <a:pPr>
              <a:defRPr sz="1125">
                <a:solidFill>
                  <a:srgbClr val="314158"/>
                </a:solidFill>
              </a:defRPr>
            </a:pPr>
            <a:r>
              <a:rPr sz="1125">
                <a:solidFill>
                  <a:srgbClr val="314158"/>
                </a:solidFill>
              </a:rPr>
              <a:t>• registre si arhiva electronica</a:t>
            </a:r>
          </a:p>
          <a:p xmlns:a="http://schemas.openxmlformats.org/drawingml/2006/main">
            <a:pPr>
              <a:defRPr sz="1125">
                <a:solidFill>
                  <a:srgbClr val="314158"/>
                </a:solidFill>
              </a:defRPr>
            </a:pPr>
            <a:r>
              <a:rPr sz="1125">
                <a:solidFill>
                  <a:srgbClr val="314158"/>
                </a:solidFill>
              </a:rPr>
              <a:t>• cockpituri pe roluri</a:t>
            </a:r>
          </a:p>
          <a:p xmlns:a="http://schemas.openxmlformats.org/drawingml/2006/main">
            <a:pPr>
              <a:defRPr sz="1125">
                <a:solidFill>
                  <a:srgbClr val="314158"/>
                </a:solidFill>
              </a:defRPr>
            </a:pPr>
            <a:r>
              <a:rPr sz="1125">
                <a:solidFill>
                  <a:srgbClr val="314158"/>
                </a:solidFill>
              </a:rPr>
              <a:t>• guvernanta, personal, portofolii, conformitate</a:t>
            </a:r>
          </a:p>
          <a:p xmlns:a="http://schemas.openxmlformats.org/drawingml/2006/main">
            <a:pPr>
              <a:defRPr sz="1125">
                <a:solidFill>
                  <a:srgbClr val="314158"/>
                </a:solidFill>
              </a:defRPr>
            </a:pPr>
            <a:r>
              <a:rPr sz="1125">
                <a:solidFill>
                  <a:srgbClr val="314158"/>
                </a:solidFill>
              </a:rPr>
              <a:t>• rapoarte si scenarii complete de lucru</a:t>
            </a:r>
          </a:p>
        </p:txBody>
      </p:sp>
      <p:sp>
        <p:nvSpPr>
          <p:cNvPr id="9" name="">
            <a:extLst xmlns:a="http://schemas.openxmlformats.org/drawingml/2006/main">
              <a:ext uri="{FF2B5EF4-FFF2-40B4-BE49-F238E27FC236}">
                <a16:creationId xmlns:a16="http://schemas.microsoft.com/office/drawing/2014/main" id="{C5BA6B72-1E8C-4EBD-B2B5-EDC18FD10354}"/>
              </a:ext>
            </a:extLst>
          </p:cNvPr>
          <p:cNvSpPr>
            <a:spLocks xmlns:a="http://schemas.openxmlformats.org/drawingml/2006/main" noGrp="1"/>
          </p:cNvSpPr>
          <p:nvPr/>
        </p:nvSpPr>
        <p:spPr>
          <a:xfrm xmlns:a="http://schemas.openxmlformats.org/drawingml/2006/main">
            <a:off x="533400" y="4762500"/>
            <a:ext cx="10896600" cy="11430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070E4FF8-7290-4447-8060-D9FEB26872DC}"/>
              </a:ext>
            </a:extLst>
          </p:cNvPr>
          <p:cNvSpPr>
            <a:spLocks xmlns:a="http://schemas.openxmlformats.org/drawingml/2006/main" noGrp="1"/>
          </p:cNvSpPr>
          <p:nvPr/>
        </p:nvSpPr>
        <p:spPr>
          <a:xfrm xmlns:a="http://schemas.openxmlformats.org/drawingml/2006/main">
            <a:off x="685800" y="489585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Baza functionala</a:t>
            </a:r>
          </a:p>
        </p:txBody>
      </p:sp>
      <p:sp>
        <p:nvSpPr>
          <p:cNvPr id="11" name="">
            <a:extLst xmlns:a="http://schemas.openxmlformats.org/drawingml/2006/main">
              <a:ext uri="{FF2B5EF4-FFF2-40B4-BE49-F238E27FC236}">
                <a16:creationId xmlns:a16="http://schemas.microsoft.com/office/drawing/2014/main" id="{B746E529-73F2-4F3A-8362-2A59330110CD}"/>
              </a:ext>
            </a:extLst>
          </p:cNvPr>
          <p:cNvSpPr>
            <a:spLocks xmlns:a="http://schemas.openxmlformats.org/drawingml/2006/main" noGrp="1"/>
          </p:cNvSpPr>
          <p:nvPr/>
        </p:nvSpPr>
        <p:spPr>
          <a:xfrm xmlns:a="http://schemas.openxmlformats.org/drawingml/2006/main">
            <a:off x="685800" y="5257800"/>
            <a:ext cx="10591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Manualul urmareste atat cerintele metodologice din documentele sursa, cat si functionalitatile efectiv disponibile in aplicatie, prezentate ca produs complet gata de utilizare.</a:t>
            </a:r>
          </a:p>
        </p:txBody>
      </p:sp>
      <p:sp>
        <p:nvSpPr>
          <p:cNvPr id="12" name="">
            <a:extLst xmlns:a="http://schemas.openxmlformats.org/drawingml/2006/main">
              <a:ext uri="{FF2B5EF4-FFF2-40B4-BE49-F238E27FC236}">
                <a16:creationId xmlns:a16="http://schemas.microsoft.com/office/drawing/2014/main" id="{E3BB7089-9380-40B2-95C5-3BFE5368C047}"/>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3" name="">
            <a:extLst xmlns:a="http://schemas.openxmlformats.org/drawingml/2006/main">
              <a:ext uri="{FF2B5EF4-FFF2-40B4-BE49-F238E27FC236}">
                <a16:creationId xmlns:a16="http://schemas.microsoft.com/office/drawing/2014/main" id="{6864DA1B-2D0B-429E-B67F-826D32A3DE02}"/>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Manual utilizator bazat pe fluxurile din aplicatie si pe cerintele institutionale</a:t>
            </a:r>
          </a:p>
        </p:txBody>
      </p:sp>
    </p:spTree>
    <p:extLst>
      <p:ext uri="{BB962C8B-B14F-4D97-AF65-F5344CB8AC3E}">
        <p14:creationId xmlns:p14="http://schemas.microsoft.com/office/powerpoint/2010/main" val="9433080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A7363F6-27C0-49EE-BFEB-E4F06F69FD8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69EAFF6A-1394-460D-86D5-358BCB989220}"/>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Orientare</a:t>
            </a:r>
          </a:p>
        </p:txBody>
      </p:sp>
      <p:sp>
        <p:nvSpPr>
          <p:cNvPr id="3" name="">
            <a:extLst xmlns:a="http://schemas.openxmlformats.org/drawingml/2006/main">
              <a:ext uri="{FF2B5EF4-FFF2-40B4-BE49-F238E27FC236}">
                <a16:creationId xmlns:a16="http://schemas.microsoft.com/office/drawing/2014/main" id="{B040A9C9-B5D7-4C73-9BF2-C2BB20D9B6AF}"/>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Cum se foloseste acest manual</a:t>
            </a:r>
          </a:p>
        </p:txBody>
      </p:sp>
      <p:sp>
        <p:nvSpPr>
          <p:cNvPr id="4" name="">
            <a:extLst xmlns:a="http://schemas.openxmlformats.org/drawingml/2006/main">
              <a:ext uri="{FF2B5EF4-FFF2-40B4-BE49-F238E27FC236}">
                <a16:creationId xmlns:a16="http://schemas.microsoft.com/office/drawing/2014/main" id="{BBD19440-CFD0-4FB1-9C9D-530EA56FC8D9}"/>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02</a:t>
            </a:r>
          </a:p>
        </p:txBody>
      </p:sp>
      <p:sp>
        <p:nvSpPr>
          <p:cNvPr id="5" name="">
            <a:extLst xmlns:a="http://schemas.openxmlformats.org/drawingml/2006/main">
              <a:ext uri="{FF2B5EF4-FFF2-40B4-BE49-F238E27FC236}">
                <a16:creationId xmlns:a16="http://schemas.microsoft.com/office/drawing/2014/main" id="{4AC45D36-A9CC-4607-AAC9-FD318E80C92C}"/>
              </a:ext>
            </a:extLst>
          </p:cNvPr>
          <p:cNvSpPr>
            <a:spLocks xmlns:a="http://schemas.openxmlformats.org/drawingml/2006/main" noGrp="1"/>
          </p:cNvSpPr>
          <p:nvPr/>
        </p:nvSpPr>
        <p:spPr>
          <a:xfrm xmlns:a="http://schemas.openxmlformats.org/drawingml/2006/main">
            <a:off x="514350" y="1181100"/>
            <a:ext cx="10858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314158"/>
                </a:solidFill>
              </a:defRPr>
            </a:pPr>
            <a:r>
              <a:rPr sz="1275">
                <a:solidFill>
                  <a:srgbClr val="314158"/>
                </a:solidFill>
              </a:rPr>
              <a:t>Manualul este organizat pe fluxuri de lucru. Pentru fiecare zona a aplicatiei vei vedea mai intai scopul, apoi imaginea reala a ecranului, iar la final pasii concreti pe care ii urmeaza utilizatorul.</a:t>
            </a:r>
          </a:p>
        </p:txBody>
      </p:sp>
      <p:sp>
        <p:nvSpPr>
          <p:cNvPr id="6" name="">
            <a:extLst xmlns:a="http://schemas.openxmlformats.org/drawingml/2006/main">
              <a:ext uri="{FF2B5EF4-FFF2-40B4-BE49-F238E27FC236}">
                <a16:creationId xmlns:a16="http://schemas.microsoft.com/office/drawing/2014/main" id="{ED3C4002-FFA9-4CDD-AF42-966E48E01977}"/>
              </a:ext>
            </a:extLst>
          </p:cNvPr>
          <p:cNvSpPr>
            <a:spLocks xmlns:a="http://schemas.openxmlformats.org/drawingml/2006/main" noGrp="1"/>
          </p:cNvSpPr>
          <p:nvPr/>
        </p:nvSpPr>
        <p:spPr>
          <a:xfrm xmlns:a="http://schemas.openxmlformats.org/drawingml/2006/main">
            <a:off x="514350"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B6E9ED30-7252-4E8F-9B6F-074E32020209}"/>
              </a:ext>
            </a:extLst>
          </p:cNvPr>
          <p:cNvSpPr>
            <a:spLocks xmlns:a="http://schemas.openxmlformats.org/drawingml/2006/main" noGrp="1"/>
          </p:cNvSpPr>
          <p:nvPr/>
        </p:nvSpPr>
        <p:spPr>
          <a:xfrm xmlns:a="http://schemas.openxmlformats.org/drawingml/2006/main">
            <a:off x="666750" y="23431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Navigare</a:t>
            </a:r>
          </a:p>
        </p:txBody>
      </p:sp>
      <p:sp>
        <p:nvSpPr>
          <p:cNvPr id="8" name="">
            <a:extLst xmlns:a="http://schemas.openxmlformats.org/drawingml/2006/main">
              <a:ext uri="{FF2B5EF4-FFF2-40B4-BE49-F238E27FC236}">
                <a16:creationId xmlns:a16="http://schemas.microsoft.com/office/drawing/2014/main" id="{0AF826F5-7690-4736-A04C-657D43EF22C3}"/>
              </a:ext>
            </a:extLst>
          </p:cNvPr>
          <p:cNvSpPr>
            <a:spLocks xmlns:a="http://schemas.openxmlformats.org/drawingml/2006/main" noGrp="1"/>
          </p:cNvSpPr>
          <p:nvPr/>
        </p:nvSpPr>
        <p:spPr>
          <a:xfrm xmlns:a="http://schemas.openxmlformats.org/drawingml/2006/main">
            <a:off x="666750"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Pornesti din meniul principal, alegi domeniul de lucru si intri in ecranul potrivit rolului tau.</a:t>
            </a:r>
          </a:p>
        </p:txBody>
      </p:sp>
      <p:sp>
        <p:nvSpPr>
          <p:cNvPr id="9" name="">
            <a:extLst xmlns:a="http://schemas.openxmlformats.org/drawingml/2006/main">
              <a:ext uri="{FF2B5EF4-FFF2-40B4-BE49-F238E27FC236}">
                <a16:creationId xmlns:a16="http://schemas.microsoft.com/office/drawing/2014/main" id="{F60FC470-E6E5-421B-A51A-24961C266CEE}"/>
              </a:ext>
            </a:extLst>
          </p:cNvPr>
          <p:cNvSpPr>
            <a:spLocks xmlns:a="http://schemas.openxmlformats.org/drawingml/2006/main" noGrp="1"/>
          </p:cNvSpPr>
          <p:nvPr/>
        </p:nvSpPr>
        <p:spPr>
          <a:xfrm xmlns:a="http://schemas.openxmlformats.org/drawingml/2006/main">
            <a:off x="6086475"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DBAA25E3-AA6B-4CBE-B7FB-6C5F325FDC52}"/>
              </a:ext>
            </a:extLst>
          </p:cNvPr>
          <p:cNvSpPr>
            <a:spLocks xmlns:a="http://schemas.openxmlformats.org/drawingml/2006/main" noGrp="1"/>
          </p:cNvSpPr>
          <p:nvPr/>
        </p:nvSpPr>
        <p:spPr>
          <a:xfrm xmlns:a="http://schemas.openxmlformats.org/drawingml/2006/main">
            <a:off x="6238875" y="234315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Lucru efectiv</a:t>
            </a:r>
          </a:p>
        </p:txBody>
      </p:sp>
      <p:sp>
        <p:nvSpPr>
          <p:cNvPr id="11" name="">
            <a:extLst xmlns:a="http://schemas.openxmlformats.org/drawingml/2006/main">
              <a:ext uri="{FF2B5EF4-FFF2-40B4-BE49-F238E27FC236}">
                <a16:creationId xmlns:a16="http://schemas.microsoft.com/office/drawing/2014/main" id="{12D69B98-E22F-41D2-80FD-5D69FD2B4EAD}"/>
              </a:ext>
            </a:extLst>
          </p:cNvPr>
          <p:cNvSpPr>
            <a:spLocks xmlns:a="http://schemas.openxmlformats.org/drawingml/2006/main" noGrp="1"/>
          </p:cNvSpPr>
          <p:nvPr/>
        </p:nvSpPr>
        <p:spPr>
          <a:xfrm xmlns:a="http://schemas.openxmlformats.org/drawingml/2006/main">
            <a:off x="6238875"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In majoritatea zonelor ai o lista, filtre, un buton de adaugare si actiuni pe fiecare inregistrare.</a:t>
            </a:r>
          </a:p>
        </p:txBody>
      </p:sp>
      <p:sp>
        <p:nvSpPr>
          <p:cNvPr id="12" name="">
            <a:extLst xmlns:a="http://schemas.openxmlformats.org/drawingml/2006/main">
              <a:ext uri="{FF2B5EF4-FFF2-40B4-BE49-F238E27FC236}">
                <a16:creationId xmlns:a16="http://schemas.microsoft.com/office/drawing/2014/main" id="{1FDBC761-90D0-4A81-AAC1-D9AA8A8B6550}"/>
              </a:ext>
            </a:extLst>
          </p:cNvPr>
          <p:cNvSpPr>
            <a:spLocks xmlns:a="http://schemas.openxmlformats.org/drawingml/2006/main" noGrp="1"/>
          </p:cNvSpPr>
          <p:nvPr/>
        </p:nvSpPr>
        <p:spPr>
          <a:xfrm xmlns:a="http://schemas.openxmlformats.org/drawingml/2006/main">
            <a:off x="514350" y="401955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A8436CC0-7F4D-4142-B1D2-790CA34E97A6}"/>
              </a:ext>
            </a:extLst>
          </p:cNvPr>
          <p:cNvSpPr>
            <a:spLocks xmlns:a="http://schemas.openxmlformats.org/drawingml/2006/main" noGrp="1"/>
          </p:cNvSpPr>
          <p:nvPr/>
        </p:nvSpPr>
        <p:spPr>
          <a:xfrm xmlns:a="http://schemas.openxmlformats.org/drawingml/2006/main">
            <a:off x="666750" y="415290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Rezultate</a:t>
            </a:r>
          </a:p>
        </p:txBody>
      </p:sp>
      <p:sp>
        <p:nvSpPr>
          <p:cNvPr id="14" name="">
            <a:extLst xmlns:a="http://schemas.openxmlformats.org/drawingml/2006/main">
              <a:ext uri="{FF2B5EF4-FFF2-40B4-BE49-F238E27FC236}">
                <a16:creationId xmlns:a16="http://schemas.microsoft.com/office/drawing/2014/main" id="{E470BEF0-81F3-45B7-A8AC-8365EEB1D253}"/>
              </a:ext>
            </a:extLst>
          </p:cNvPr>
          <p:cNvSpPr>
            <a:spLocks xmlns:a="http://schemas.openxmlformats.org/drawingml/2006/main" noGrp="1"/>
          </p:cNvSpPr>
          <p:nvPr/>
        </p:nvSpPr>
        <p:spPr>
          <a:xfrm xmlns:a="http://schemas.openxmlformats.org/drawingml/2006/main">
            <a:off x="666750" y="451485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Fiecare flux produce documente, stari, trasee, rapoarte sau dovezi care raman disponibile pentru consultare.</a:t>
            </a:r>
          </a:p>
        </p:txBody>
      </p:sp>
      <p:sp>
        <p:nvSpPr>
          <p:cNvPr id="15" name="">
            <a:extLst xmlns:a="http://schemas.openxmlformats.org/drawingml/2006/main">
              <a:ext uri="{FF2B5EF4-FFF2-40B4-BE49-F238E27FC236}">
                <a16:creationId xmlns:a16="http://schemas.microsoft.com/office/drawing/2014/main" id="{1453BC03-C33E-4B9A-A2E6-915FC7E2AA98}"/>
              </a:ext>
            </a:extLst>
          </p:cNvPr>
          <p:cNvSpPr>
            <a:spLocks xmlns:a="http://schemas.openxmlformats.org/drawingml/2006/main" noGrp="1"/>
          </p:cNvSpPr>
          <p:nvPr/>
        </p:nvSpPr>
        <p:spPr>
          <a:xfrm xmlns:a="http://schemas.openxmlformats.org/drawingml/2006/main">
            <a:off x="514350" y="5676900"/>
            <a:ext cx="1085850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C0DA00AA-E94F-4D8B-807B-DCEE336234EC}"/>
              </a:ext>
            </a:extLst>
          </p:cNvPr>
          <p:cNvSpPr>
            <a:spLocks xmlns:a="http://schemas.openxmlformats.org/drawingml/2006/main" noGrp="1"/>
          </p:cNvSpPr>
          <p:nvPr/>
        </p:nvSpPr>
        <p:spPr>
          <a:xfrm xmlns:a="http://schemas.openxmlformats.org/drawingml/2006/main">
            <a:off x="666750" y="5810250"/>
            <a:ext cx="1055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se foloseste in practica: Manualul este organizat pe fluxuri de lucru. Pentru fiecare zona a aplicatiei vei vedea mai intai scopul, apoi imaginea reala a ecranului, iar la final pasii concreti pe care ii urmeaza utilizatorul. Navigare: Pornesti din meniul principal, alegi domeniul de lucru si intri in ecranul potrivit rolului tau. Lucru efectiv: In majoritatea zonelor ai o lista, filtre, un buton de adaugare si actiuni pe fiecare inregistrare. Rezultate: Fiecare flux produce documente, stari, trasee, rapoarte sau dovezi care raman disponibile pentru consultare.</a:t>
            </a:r>
          </a:p>
        </p:txBody>
      </p:sp>
      <p:sp>
        <p:nvSpPr>
          <p:cNvPr id="17" name="">
            <a:extLst xmlns:a="http://schemas.openxmlformats.org/drawingml/2006/main">
              <a:ext uri="{FF2B5EF4-FFF2-40B4-BE49-F238E27FC236}">
                <a16:creationId xmlns:a16="http://schemas.microsoft.com/office/drawing/2014/main" id="{C2C0EB57-4BEA-481C-9842-3C440DB71F89}"/>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8" name="">
            <a:extLst xmlns:a="http://schemas.openxmlformats.org/drawingml/2006/main">
              <a:ext uri="{FF2B5EF4-FFF2-40B4-BE49-F238E27FC236}">
                <a16:creationId xmlns:a16="http://schemas.microsoft.com/office/drawing/2014/main" id="{87AECE8C-56C2-45B7-9F0E-B087BA11A3E7}"/>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Manual utilizator - mod de parcurgere</a:t>
            </a:r>
          </a:p>
        </p:txBody>
      </p:sp>
    </p:spTree>
    <p:extLst>
      <p:ext uri="{BB962C8B-B14F-4D97-AF65-F5344CB8AC3E}">
        <p14:creationId xmlns:p14="http://schemas.microsoft.com/office/powerpoint/2010/main" val="13821569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43F28AF-1B4E-4E29-B32D-DBF8AF72472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115AB63F-30DD-451F-8A50-1A6FD135DD78}"/>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Structura produsului</a:t>
            </a:r>
          </a:p>
        </p:txBody>
      </p:sp>
      <p:sp>
        <p:nvSpPr>
          <p:cNvPr id="3" name="">
            <a:extLst xmlns:a="http://schemas.openxmlformats.org/drawingml/2006/main">
              <a:ext uri="{FF2B5EF4-FFF2-40B4-BE49-F238E27FC236}">
                <a16:creationId xmlns:a16="http://schemas.microsoft.com/office/drawing/2014/main" id="{79E5F0CF-26C6-4466-8E23-55685DC35364}"/>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Harta aplicatiei</a:t>
            </a:r>
          </a:p>
        </p:txBody>
      </p:sp>
      <p:sp>
        <p:nvSpPr>
          <p:cNvPr id="4" name="">
            <a:extLst xmlns:a="http://schemas.openxmlformats.org/drawingml/2006/main">
              <a:ext uri="{FF2B5EF4-FFF2-40B4-BE49-F238E27FC236}">
                <a16:creationId xmlns:a16="http://schemas.microsoft.com/office/drawing/2014/main" id="{B344EFB7-505B-4D03-8202-F69603B8EB49}"/>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03</a:t>
            </a:r>
          </a:p>
        </p:txBody>
      </p:sp>
      <p:sp>
        <p:nvSpPr>
          <p:cNvPr id="5" name="">
            <a:extLst xmlns:a="http://schemas.openxmlformats.org/drawingml/2006/main">
              <a:ext uri="{FF2B5EF4-FFF2-40B4-BE49-F238E27FC236}">
                <a16:creationId xmlns:a16="http://schemas.microsoft.com/office/drawing/2014/main" id="{E98B048E-260D-4849-ACC7-0500878AF2FD}"/>
              </a:ext>
            </a:extLst>
          </p:cNvPr>
          <p:cNvSpPr>
            <a:spLocks xmlns:a="http://schemas.openxmlformats.org/drawingml/2006/main" noGrp="1"/>
          </p:cNvSpPr>
          <p:nvPr/>
        </p:nvSpPr>
        <p:spPr>
          <a:xfrm xmlns:a="http://schemas.openxmlformats.org/drawingml/2006/main">
            <a:off x="514350" y="1181100"/>
            <a:ext cx="10858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314158"/>
                </a:solidFill>
              </a:defRPr>
            </a:pPr>
            <a:r>
              <a:rPr sz="1275">
                <a:solidFill>
                  <a:srgbClr val="314158"/>
                </a:solidFill>
              </a:rPr>
              <a:t>eGuEducation este gandit ca o platforma unica pentru operatiuni administrative si educationale. Utilizatorul nu lucreaza in sisteme separate, ci in acelasi produs, cu aceeasi logica de navigare.</a:t>
            </a:r>
          </a:p>
        </p:txBody>
      </p:sp>
      <p:sp>
        <p:nvSpPr>
          <p:cNvPr id="6" name="">
            <a:extLst xmlns:a="http://schemas.openxmlformats.org/drawingml/2006/main">
              <a:ext uri="{FF2B5EF4-FFF2-40B4-BE49-F238E27FC236}">
                <a16:creationId xmlns:a16="http://schemas.microsoft.com/office/drawing/2014/main" id="{768EDEC4-16E8-4F82-BE7B-FE1339DB7E29}"/>
              </a:ext>
            </a:extLst>
          </p:cNvPr>
          <p:cNvSpPr>
            <a:spLocks xmlns:a="http://schemas.openxmlformats.org/drawingml/2006/main" noGrp="1"/>
          </p:cNvSpPr>
          <p:nvPr/>
        </p:nvSpPr>
        <p:spPr>
          <a:xfrm xmlns:a="http://schemas.openxmlformats.org/drawingml/2006/main">
            <a:off x="514350"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264ED180-4E1F-45DC-9C40-C6D2EE294A3E}"/>
              </a:ext>
            </a:extLst>
          </p:cNvPr>
          <p:cNvSpPr>
            <a:spLocks xmlns:a="http://schemas.openxmlformats.org/drawingml/2006/main" noGrp="1"/>
          </p:cNvSpPr>
          <p:nvPr/>
        </p:nvSpPr>
        <p:spPr>
          <a:xfrm xmlns:a="http://schemas.openxmlformats.org/drawingml/2006/main">
            <a:off x="666750" y="23431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Registratura</a:t>
            </a:r>
          </a:p>
        </p:txBody>
      </p:sp>
      <p:sp>
        <p:nvSpPr>
          <p:cNvPr id="8" name="">
            <a:extLst xmlns:a="http://schemas.openxmlformats.org/drawingml/2006/main">
              <a:ext uri="{FF2B5EF4-FFF2-40B4-BE49-F238E27FC236}">
                <a16:creationId xmlns:a16="http://schemas.microsoft.com/office/drawing/2014/main" id="{AA8C562A-8FBD-4731-B089-3122D11B6DE9}"/>
              </a:ext>
            </a:extLst>
          </p:cNvPr>
          <p:cNvSpPr>
            <a:spLocks xmlns:a="http://schemas.openxmlformats.org/drawingml/2006/main" noGrp="1"/>
          </p:cNvSpPr>
          <p:nvPr/>
        </p:nvSpPr>
        <p:spPr>
          <a:xfrm xmlns:a="http://schemas.openxmlformats.org/drawingml/2006/main">
            <a:off x="666750"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Inregistrezi documente de intrare, iesire sau interne, cauti rapid, editezi si lansezi taskuri de lucru.</a:t>
            </a:r>
          </a:p>
        </p:txBody>
      </p:sp>
      <p:sp>
        <p:nvSpPr>
          <p:cNvPr id="9" name="">
            <a:extLst xmlns:a="http://schemas.openxmlformats.org/drawingml/2006/main">
              <a:ext uri="{FF2B5EF4-FFF2-40B4-BE49-F238E27FC236}">
                <a16:creationId xmlns:a16="http://schemas.microsoft.com/office/drawing/2014/main" id="{17430E13-5D74-46F4-912D-38C835A471CB}"/>
              </a:ext>
            </a:extLst>
          </p:cNvPr>
          <p:cNvSpPr>
            <a:spLocks xmlns:a="http://schemas.openxmlformats.org/drawingml/2006/main" noGrp="1"/>
          </p:cNvSpPr>
          <p:nvPr/>
        </p:nvSpPr>
        <p:spPr>
          <a:xfrm xmlns:a="http://schemas.openxmlformats.org/drawingml/2006/main">
            <a:off x="6086475"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F91A408B-89C5-4E38-A56B-203E5FC7983D}"/>
              </a:ext>
            </a:extLst>
          </p:cNvPr>
          <p:cNvSpPr>
            <a:spLocks xmlns:a="http://schemas.openxmlformats.org/drawingml/2006/main" noGrp="1"/>
          </p:cNvSpPr>
          <p:nvPr/>
        </p:nvSpPr>
        <p:spPr>
          <a:xfrm xmlns:a="http://schemas.openxmlformats.org/drawingml/2006/main">
            <a:off x="6238875" y="234315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Flux documente</a:t>
            </a:r>
          </a:p>
        </p:txBody>
      </p:sp>
      <p:sp>
        <p:nvSpPr>
          <p:cNvPr id="11" name="">
            <a:extLst xmlns:a="http://schemas.openxmlformats.org/drawingml/2006/main">
              <a:ext uri="{FF2B5EF4-FFF2-40B4-BE49-F238E27FC236}">
                <a16:creationId xmlns:a16="http://schemas.microsoft.com/office/drawing/2014/main" id="{C7155CFA-E4C6-4DEF-807B-7FEAED87B4CB}"/>
              </a:ext>
            </a:extLst>
          </p:cNvPr>
          <p:cNvSpPr>
            <a:spLocks xmlns:a="http://schemas.openxmlformats.org/drawingml/2006/main" noGrp="1"/>
          </p:cNvSpPr>
          <p:nvPr/>
        </p:nvSpPr>
        <p:spPr>
          <a:xfrm xmlns:a="http://schemas.openxmlformats.org/drawingml/2006/main">
            <a:off x="6238875"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Urmaresti sarcini, aprobari, tranzitii si starea documentelor aflate in lucru.</a:t>
            </a:r>
          </a:p>
        </p:txBody>
      </p:sp>
      <p:sp>
        <p:nvSpPr>
          <p:cNvPr id="12" name="">
            <a:extLst xmlns:a="http://schemas.openxmlformats.org/drawingml/2006/main">
              <a:ext uri="{FF2B5EF4-FFF2-40B4-BE49-F238E27FC236}">
                <a16:creationId xmlns:a16="http://schemas.microsoft.com/office/drawing/2014/main" id="{CB055F1E-E804-4E1A-8D6D-AD39081DF7A8}"/>
              </a:ext>
            </a:extLst>
          </p:cNvPr>
          <p:cNvSpPr>
            <a:spLocks xmlns:a="http://schemas.openxmlformats.org/drawingml/2006/main" noGrp="1"/>
          </p:cNvSpPr>
          <p:nvPr/>
        </p:nvSpPr>
        <p:spPr>
          <a:xfrm xmlns:a="http://schemas.openxmlformats.org/drawingml/2006/main">
            <a:off x="514350" y="401955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2D1D10D8-790B-426F-8644-876048452CEC}"/>
              </a:ext>
            </a:extLst>
          </p:cNvPr>
          <p:cNvSpPr>
            <a:spLocks xmlns:a="http://schemas.openxmlformats.org/drawingml/2006/main" noGrp="1"/>
          </p:cNvSpPr>
          <p:nvPr/>
        </p:nvSpPr>
        <p:spPr>
          <a:xfrm xmlns:a="http://schemas.openxmlformats.org/drawingml/2006/main">
            <a:off x="666750" y="415290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Arhiva electronica</a:t>
            </a:r>
          </a:p>
        </p:txBody>
      </p:sp>
      <p:sp>
        <p:nvSpPr>
          <p:cNvPr id="14" name="">
            <a:extLst xmlns:a="http://schemas.openxmlformats.org/drawingml/2006/main">
              <a:ext uri="{FF2B5EF4-FFF2-40B4-BE49-F238E27FC236}">
                <a16:creationId xmlns:a16="http://schemas.microsoft.com/office/drawing/2014/main" id="{02AA4086-83DE-406D-A57F-F09175609BB7}"/>
              </a:ext>
            </a:extLst>
          </p:cNvPr>
          <p:cNvSpPr>
            <a:spLocks xmlns:a="http://schemas.openxmlformats.org/drawingml/2006/main" noGrp="1"/>
          </p:cNvSpPr>
          <p:nvPr/>
        </p:nvSpPr>
        <p:spPr>
          <a:xfrm xmlns:a="http://schemas.openxmlformats.org/drawingml/2006/main">
            <a:off x="666750" y="451485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Pregatesti si consulti inregistrari arhivistice, loturi, fonduri si referinte de arhiva.</a:t>
            </a:r>
          </a:p>
        </p:txBody>
      </p:sp>
      <p:sp>
        <p:nvSpPr>
          <p:cNvPr id="15" name="">
            <a:extLst xmlns:a="http://schemas.openxmlformats.org/drawingml/2006/main">
              <a:ext uri="{FF2B5EF4-FFF2-40B4-BE49-F238E27FC236}">
                <a16:creationId xmlns:a16="http://schemas.microsoft.com/office/drawing/2014/main" id="{DB0182B6-566F-469C-B79B-9D3D922E6466}"/>
              </a:ext>
            </a:extLst>
          </p:cNvPr>
          <p:cNvSpPr>
            <a:spLocks xmlns:a="http://schemas.openxmlformats.org/drawingml/2006/main" noGrp="1"/>
          </p:cNvSpPr>
          <p:nvPr/>
        </p:nvSpPr>
        <p:spPr>
          <a:xfrm xmlns:a="http://schemas.openxmlformats.org/drawingml/2006/main">
            <a:off x="6086475" y="401955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2F50FB48-4F99-494B-8B3D-E7EA742E11C9}"/>
              </a:ext>
            </a:extLst>
          </p:cNvPr>
          <p:cNvSpPr>
            <a:spLocks xmlns:a="http://schemas.openxmlformats.org/drawingml/2006/main" noGrp="1"/>
          </p:cNvSpPr>
          <p:nvPr/>
        </p:nvSpPr>
        <p:spPr>
          <a:xfrm xmlns:a="http://schemas.openxmlformats.org/drawingml/2006/main">
            <a:off x="6238875" y="415290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Educatie</a:t>
            </a:r>
          </a:p>
        </p:txBody>
      </p:sp>
      <p:sp>
        <p:nvSpPr>
          <p:cNvPr id="17" name="">
            <a:extLst xmlns:a="http://schemas.openxmlformats.org/drawingml/2006/main">
              <a:ext uri="{FF2B5EF4-FFF2-40B4-BE49-F238E27FC236}">
                <a16:creationId xmlns:a16="http://schemas.microsoft.com/office/drawing/2014/main" id="{DB00A6F5-CA87-4C4B-83BD-72C0CD6269D3}"/>
              </a:ext>
            </a:extLst>
          </p:cNvPr>
          <p:cNvSpPr>
            <a:spLocks xmlns:a="http://schemas.openxmlformats.org/drawingml/2006/main" noGrp="1"/>
          </p:cNvSpPr>
          <p:nvPr/>
        </p:nvSpPr>
        <p:spPr>
          <a:xfrm xmlns:a="http://schemas.openxmlformats.org/drawingml/2006/main">
            <a:off x="6238875" y="451485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Lucrezi cu portofolii, personal, guvernanta, conformitate si rapoarte manageriale.</a:t>
            </a:r>
          </a:p>
        </p:txBody>
      </p:sp>
      <p:sp>
        <p:nvSpPr>
          <p:cNvPr id="18" name="">
            <a:extLst xmlns:a="http://schemas.openxmlformats.org/drawingml/2006/main">
              <a:ext uri="{FF2B5EF4-FFF2-40B4-BE49-F238E27FC236}">
                <a16:creationId xmlns:a16="http://schemas.microsoft.com/office/drawing/2014/main" id="{EF887BAB-E0E1-4DF7-AE13-F1E14BA6233B}"/>
              </a:ext>
            </a:extLst>
          </p:cNvPr>
          <p:cNvSpPr>
            <a:spLocks xmlns:a="http://schemas.openxmlformats.org/drawingml/2006/main" noGrp="1"/>
          </p:cNvSpPr>
          <p:nvPr/>
        </p:nvSpPr>
        <p:spPr>
          <a:xfrm xmlns:a="http://schemas.openxmlformats.org/drawingml/2006/main">
            <a:off x="514350" y="5676900"/>
            <a:ext cx="1085850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9" name="">
            <a:extLst xmlns:a="http://schemas.openxmlformats.org/drawingml/2006/main">
              <a:ext uri="{FF2B5EF4-FFF2-40B4-BE49-F238E27FC236}">
                <a16:creationId xmlns:a16="http://schemas.microsoft.com/office/drawing/2014/main" id="{2DD270C6-7398-4763-8DA5-DF82C4BEC571}"/>
              </a:ext>
            </a:extLst>
          </p:cNvPr>
          <p:cNvSpPr>
            <a:spLocks xmlns:a="http://schemas.openxmlformats.org/drawingml/2006/main" noGrp="1"/>
          </p:cNvSpPr>
          <p:nvPr/>
        </p:nvSpPr>
        <p:spPr>
          <a:xfrm xmlns:a="http://schemas.openxmlformats.org/drawingml/2006/main">
            <a:off x="666750" y="5810250"/>
            <a:ext cx="1055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se foloseste in practica: eGuEducation este gandit ca o platforma unica pentru operatiuni administrative si educationale. Utilizatorul nu lucreaza in sisteme separate, ci in acelasi produs, cu aceeasi logica de navigare. Registratura: Inregistrezi documente de intrare, iesire sau interne, cauti rapid, editezi si lansezi taskuri de lucru. Flux documente: Urmaresti sarcini, aprobari, tranzitii si starea documentelor aflate in lucru. Arhiva electronica: Pregatesti si consulti inregistrari arhivistice, loturi, fonduri si referinte de arhiva. Educatie: Lucrezi cu portofolii, personal, guvernanta, conformitate si rapoarte manageriale.</a:t>
            </a:r>
          </a:p>
        </p:txBody>
      </p:sp>
      <p:sp>
        <p:nvSpPr>
          <p:cNvPr id="20" name="">
            <a:extLst xmlns:a="http://schemas.openxmlformats.org/drawingml/2006/main">
              <a:ext uri="{FF2B5EF4-FFF2-40B4-BE49-F238E27FC236}">
                <a16:creationId xmlns:a16="http://schemas.microsoft.com/office/drawing/2014/main" id="{D8B491EA-B632-43DF-9211-46CEEDF1F09B}"/>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21" name="">
            <a:extLst xmlns:a="http://schemas.openxmlformats.org/drawingml/2006/main">
              <a:ext uri="{FF2B5EF4-FFF2-40B4-BE49-F238E27FC236}">
                <a16:creationId xmlns:a16="http://schemas.microsoft.com/office/drawing/2014/main" id="{33F4B40D-4368-4E18-9C06-3AB80987BFE5}"/>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Zone principale ale produsului</a:t>
            </a:r>
          </a:p>
        </p:txBody>
      </p:sp>
    </p:spTree>
    <p:extLst>
      <p:ext uri="{BB962C8B-B14F-4D97-AF65-F5344CB8AC3E}">
        <p14:creationId xmlns:p14="http://schemas.microsoft.com/office/powerpoint/2010/main" val="3899827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5E66B32-D4F1-4B4A-B7C1-31214EDDF9B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5ACAF2E5-D156-481B-8969-31206284A7DA}"/>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Punct de intrare</a:t>
            </a:r>
          </a:p>
        </p:txBody>
      </p:sp>
      <p:sp>
        <p:nvSpPr>
          <p:cNvPr id="3" name="">
            <a:extLst xmlns:a="http://schemas.openxmlformats.org/drawingml/2006/main">
              <a:ext uri="{FF2B5EF4-FFF2-40B4-BE49-F238E27FC236}">
                <a16:creationId xmlns:a16="http://schemas.microsoft.com/office/drawing/2014/main" id="{08589DC4-BFAA-4596-B8D7-97FA09543844}"/>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Dashboard-ul general</a:t>
            </a:r>
          </a:p>
        </p:txBody>
      </p:sp>
      <p:sp>
        <p:nvSpPr>
          <p:cNvPr id="4" name="">
            <a:extLst xmlns:a="http://schemas.openxmlformats.org/drawingml/2006/main">
              <a:ext uri="{FF2B5EF4-FFF2-40B4-BE49-F238E27FC236}">
                <a16:creationId xmlns:a16="http://schemas.microsoft.com/office/drawing/2014/main" id="{E2670CED-E68C-446E-B130-14D2EFC1162D}"/>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04</a:t>
            </a:r>
          </a:p>
        </p:txBody>
      </p:sp>
      <p:sp>
        <p:nvSpPr>
          <p:cNvPr id="5" name="">
            <a:extLst xmlns:a="http://schemas.openxmlformats.org/drawingml/2006/main">
              <a:ext uri="{FF2B5EF4-FFF2-40B4-BE49-F238E27FC236}">
                <a16:creationId xmlns:a16="http://schemas.microsoft.com/office/drawing/2014/main" id="{23D2E09F-7977-45E6-AC4F-6BD8D814273F}"/>
              </a:ext>
            </a:extLst>
          </p:cNvPr>
          <p:cNvSpPr>
            <a:spLocks xmlns:a="http://schemas.openxmlformats.org/drawingml/2006/main" noGrp="1"/>
          </p:cNvSpPr>
          <p:nvPr/>
        </p:nvSpPr>
        <p:spPr>
          <a:xfrm xmlns:a="http://schemas.openxmlformats.org/drawingml/2006/main">
            <a:off x="514350" y="112395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Panoul general de educatie este locul din care utilizatorul vede repede situatia operationala si alege cockpitul sau domeniul potrivit.</a:t>
            </a:r>
          </a:p>
        </p:txBody>
      </p:sp>
      <p:sp>
        <p:nvSpPr>
          <p:cNvPr id="6" name="">
            <a:extLst xmlns:a="http://schemas.openxmlformats.org/drawingml/2006/main">
              <a:ext uri="{FF2B5EF4-FFF2-40B4-BE49-F238E27FC236}">
                <a16:creationId xmlns:a16="http://schemas.microsoft.com/office/drawing/2014/main" id="{857B917D-A2E9-4E8B-8156-5422102D9360}"/>
              </a:ext>
            </a:extLst>
          </p:cNvPr>
          <p:cNvSpPr>
            <a:spLocks xmlns:a="http://schemas.openxmlformats.org/drawingml/2006/main" noGrp="1"/>
          </p:cNvSpPr>
          <p:nvPr/>
        </p:nvSpPr>
        <p:spPr>
          <a:xfrm xmlns:a="http://schemas.openxmlformats.org/drawingml/2006/main">
            <a:off x="514350" y="1809750"/>
            <a:ext cx="11163300" cy="2990850"/>
          </a:xfrm>
          <a:prstGeom xmlns:a="http://schemas.openxmlformats.org/drawingml/2006/main" prst="roundRect">
            <a:avLst>
              <a:gd name="adj" fmla="val 5096"/>
            </a:avLst>
          </a:prstGeom>
          <a:solidFill xmlns:a="http://schemas.openxmlformats.org/drawingml/2006/main">
            <a:srgbClr val="F8FAFC"/>
          </a:solidFill>
          <a:ln xmlns:a="http://schemas.openxmlformats.org/drawingml/2006/main" w="9525">
            <a:solidFill>
              <a:srgbClr val="E2E8F0"/>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e20c688cd034088"/>
          <a:stretch xmlns:a="http://schemas.openxmlformats.org/drawingml/2006/main"/>
        </p:blipFill>
        <p:spPr>
          <a:xfrm xmlns:a="http://schemas.openxmlformats.org/drawingml/2006/main">
            <a:off x="3640667" y="1924050"/>
            <a:ext cx="4910667" cy="2762250"/>
          </a:xfrm>
          <a:prstGeom xmlns:a="http://schemas.openxmlformats.org/drawingml/2006/main" prst="roundRect">
            <a:avLst>
              <a:gd name="adj" fmla="val 4138"/>
            </a:avLst>
          </a:prstGeom>
        </p:spPr>
      </p:pic>
      <p:sp>
        <p:nvSpPr>
          <p:cNvPr id="8" name="">
            <a:extLst xmlns:a="http://schemas.openxmlformats.org/drawingml/2006/main">
              <a:ext uri="{FF2B5EF4-FFF2-40B4-BE49-F238E27FC236}">
                <a16:creationId xmlns:a16="http://schemas.microsoft.com/office/drawing/2014/main" id="{C4B94270-0FEF-4A8B-A354-5538172A36D8}"/>
              </a:ext>
            </a:extLst>
          </p:cNvPr>
          <p:cNvSpPr>
            <a:spLocks xmlns:a="http://schemas.openxmlformats.org/drawingml/2006/main" noGrp="1"/>
          </p:cNvSpPr>
          <p:nvPr/>
        </p:nvSpPr>
        <p:spPr>
          <a:xfrm xmlns:a="http://schemas.openxmlformats.org/drawingml/2006/main">
            <a:off x="514350" y="4972050"/>
            <a:ext cx="5334000" cy="12954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E2E8F0"/>
            </a:solidFill>
            <a:prstDash val="solid"/>
          </a:ln>
        </p:spPr>
      </p:sp>
      <p:sp>
        <p:nvSpPr>
          <p:cNvPr id="9" name="">
            <a:extLst xmlns:a="http://schemas.openxmlformats.org/drawingml/2006/main">
              <a:ext uri="{FF2B5EF4-FFF2-40B4-BE49-F238E27FC236}">
                <a16:creationId xmlns:a16="http://schemas.microsoft.com/office/drawing/2014/main" id="{63F6730D-B2AC-40D3-AF26-A3B5BF95C990}"/>
              </a:ext>
            </a:extLst>
          </p:cNvPr>
          <p:cNvSpPr>
            <a:spLocks xmlns:a="http://schemas.openxmlformats.org/drawingml/2006/main" noGrp="1"/>
          </p:cNvSpPr>
          <p:nvPr/>
        </p:nvSpPr>
        <p:spPr>
          <a:xfrm xmlns:a="http://schemas.openxmlformats.org/drawingml/2006/main">
            <a:off x="666750" y="510540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Cum lucrezi</a:t>
            </a:r>
          </a:p>
        </p:txBody>
      </p:sp>
      <p:sp>
        <p:nvSpPr>
          <p:cNvPr id="10" name="">
            <a:extLst xmlns:a="http://schemas.openxmlformats.org/drawingml/2006/main">
              <a:ext uri="{FF2B5EF4-FFF2-40B4-BE49-F238E27FC236}">
                <a16:creationId xmlns:a16="http://schemas.microsoft.com/office/drawing/2014/main" id="{6BC5E630-D081-40F8-9C12-7411C7AA4983}"/>
              </a:ext>
            </a:extLst>
          </p:cNvPr>
          <p:cNvSpPr>
            <a:spLocks xmlns:a="http://schemas.openxmlformats.org/drawingml/2006/main" noGrp="1"/>
          </p:cNvSpPr>
          <p:nvPr/>
        </p:nvSpPr>
        <p:spPr>
          <a:xfrm xmlns:a="http://schemas.openxmlformats.org/drawingml/2006/main">
            <a:off x="666750" y="5467350"/>
            <a:ext cx="5029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Verifici sumarul principal si zona de organizare.</a:t>
            </a:r>
          </a:p>
          <a:p xmlns:a="http://schemas.openxmlformats.org/drawingml/2006/main">
            <a:pPr>
              <a:defRPr sz="1125">
                <a:solidFill>
                  <a:srgbClr val="314158"/>
                </a:solidFill>
              </a:defRPr>
            </a:pPr>
            <a:r>
              <a:rPr sz="1125">
                <a:solidFill>
                  <a:srgbClr val="314158"/>
                </a:solidFill>
              </a:rPr>
              <a:t>• Deschizi cockpitul relevant pentru rolul tau.</a:t>
            </a:r>
          </a:p>
          <a:p xmlns:a="http://schemas.openxmlformats.org/drawingml/2006/main">
            <a:pPr>
              <a:defRPr sz="1125">
                <a:solidFill>
                  <a:srgbClr val="314158"/>
                </a:solidFill>
              </a:defRPr>
            </a:pPr>
            <a:r>
              <a:rPr sz="1125">
                <a:solidFill>
                  <a:srgbClr val="314158"/>
                </a:solidFill>
              </a:rPr>
              <a:t>• Intri in tabul de guvernanta, personal, portofolii sau conformitate.</a:t>
            </a:r>
          </a:p>
        </p:txBody>
      </p:sp>
      <p:sp>
        <p:nvSpPr>
          <p:cNvPr id="11" name="">
            <a:extLst xmlns:a="http://schemas.openxmlformats.org/drawingml/2006/main">
              <a:ext uri="{FF2B5EF4-FFF2-40B4-BE49-F238E27FC236}">
                <a16:creationId xmlns:a16="http://schemas.microsoft.com/office/drawing/2014/main" id="{264ED2FA-FCD3-4140-B414-56C5D8B03A24}"/>
              </a:ext>
            </a:extLst>
          </p:cNvPr>
          <p:cNvSpPr>
            <a:spLocks xmlns:a="http://schemas.openxmlformats.org/drawingml/2006/main" noGrp="1"/>
          </p:cNvSpPr>
          <p:nvPr/>
        </p:nvSpPr>
        <p:spPr>
          <a:xfrm xmlns:a="http://schemas.openxmlformats.org/drawingml/2006/main">
            <a:off x="6343650" y="4972050"/>
            <a:ext cx="533400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E2E8F0"/>
            </a:solidFill>
            <a:prstDash val="solid"/>
          </a:ln>
        </p:spPr>
      </p:sp>
      <p:sp>
        <p:nvSpPr>
          <p:cNvPr id="12" name="">
            <a:extLst xmlns:a="http://schemas.openxmlformats.org/drawingml/2006/main">
              <a:ext uri="{FF2B5EF4-FFF2-40B4-BE49-F238E27FC236}">
                <a16:creationId xmlns:a16="http://schemas.microsoft.com/office/drawing/2014/main" id="{23DE8255-7750-480A-816B-8678B7EAD342}"/>
              </a:ext>
            </a:extLst>
          </p:cNvPr>
          <p:cNvSpPr>
            <a:spLocks xmlns:a="http://schemas.openxmlformats.org/drawingml/2006/main" noGrp="1"/>
          </p:cNvSpPr>
          <p:nvPr/>
        </p:nvSpPr>
        <p:spPr>
          <a:xfrm xmlns:a="http://schemas.openxmlformats.org/drawingml/2006/main">
            <a:off x="6496050" y="5105400"/>
            <a:ext cx="5029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Ce obtii: Ai o intrare rapida in modulul educational si poti continua direct in fluxul potrivit.</a:t>
            </a:r>
          </a:p>
        </p:txBody>
      </p:sp>
      <p:sp>
        <p:nvSpPr>
          <p:cNvPr id="13" name="">
            <a:extLst xmlns:a="http://schemas.openxmlformats.org/drawingml/2006/main">
              <a:ext uri="{FF2B5EF4-FFF2-40B4-BE49-F238E27FC236}">
                <a16:creationId xmlns:a16="http://schemas.microsoft.com/office/drawing/2014/main" id="{15478226-5DA6-491D-BD01-EFA71D49B65A}"/>
              </a:ext>
            </a:extLst>
          </p:cNvPr>
          <p:cNvSpPr>
            <a:spLocks xmlns:a="http://schemas.openxmlformats.org/drawingml/2006/main" noGrp="1"/>
          </p:cNvSpPr>
          <p:nvPr/>
        </p:nvSpPr>
        <p:spPr>
          <a:xfrm xmlns:a="http://schemas.openxmlformats.org/drawingml/2006/main">
            <a:off x="6343650" y="5734050"/>
            <a:ext cx="5334000" cy="5334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AB52BF02-4AF9-4103-9499-C7CBD0327D5C}"/>
              </a:ext>
            </a:extLst>
          </p:cNvPr>
          <p:cNvSpPr>
            <a:spLocks xmlns:a="http://schemas.openxmlformats.org/drawingml/2006/main" noGrp="1"/>
          </p:cNvSpPr>
          <p:nvPr/>
        </p:nvSpPr>
        <p:spPr>
          <a:xfrm xmlns:a="http://schemas.openxmlformats.org/drawingml/2006/main">
            <a:off x="6496050" y="5867400"/>
            <a:ext cx="502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citesti captura: Captura prezinta ecranul real folosit de utilizator in dashboard-ul general, cu zonele de lista, filtrare, completare si actiune vizibile exact asa cum apar in aplicatie.</a:t>
            </a:r>
          </a:p>
        </p:txBody>
      </p:sp>
      <p:sp>
        <p:nvSpPr>
          <p:cNvPr id="15" name="">
            <a:extLst xmlns:a="http://schemas.openxmlformats.org/drawingml/2006/main">
              <a:ext uri="{FF2B5EF4-FFF2-40B4-BE49-F238E27FC236}">
                <a16:creationId xmlns:a16="http://schemas.microsoft.com/office/drawing/2014/main" id="{6F47E4B4-2BA7-4CC1-AB00-3205BBA0D749}"/>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6" name="">
            <a:extLst xmlns:a="http://schemas.openxmlformats.org/drawingml/2006/main">
              <a:ext uri="{FF2B5EF4-FFF2-40B4-BE49-F238E27FC236}">
                <a16:creationId xmlns:a16="http://schemas.microsoft.com/office/drawing/2014/main" id="{F5993BB5-D654-4E6D-81AF-D721C02B49B7}"/>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Dashboard general educatie</a:t>
            </a:r>
          </a:p>
        </p:txBody>
      </p:sp>
    </p:spTree>
    <p:extLst>
      <p:ext uri="{BB962C8B-B14F-4D97-AF65-F5344CB8AC3E}">
        <p14:creationId xmlns:p14="http://schemas.microsoft.com/office/powerpoint/2010/main" val="106536702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C2CA3C5-4412-4749-9ADB-8564528F358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BBA2D5FA-5740-40E2-BB3A-1D7263F2A816}"/>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Meniu si structura</a:t>
            </a:r>
          </a:p>
        </p:txBody>
      </p:sp>
      <p:sp>
        <p:nvSpPr>
          <p:cNvPr id="3" name="">
            <a:extLst xmlns:a="http://schemas.openxmlformats.org/drawingml/2006/main">
              <a:ext uri="{FF2B5EF4-FFF2-40B4-BE49-F238E27FC236}">
                <a16:creationId xmlns:a16="http://schemas.microsoft.com/office/drawing/2014/main" id="{E486153B-43D9-4F80-870B-41530C70BA53}"/>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Navigarea in aplicatie</a:t>
            </a:r>
          </a:p>
        </p:txBody>
      </p:sp>
      <p:sp>
        <p:nvSpPr>
          <p:cNvPr id="4" name="">
            <a:extLst xmlns:a="http://schemas.openxmlformats.org/drawingml/2006/main">
              <a:ext uri="{FF2B5EF4-FFF2-40B4-BE49-F238E27FC236}">
                <a16:creationId xmlns:a16="http://schemas.microsoft.com/office/drawing/2014/main" id="{D7C1C5BB-149E-4F7F-8981-75E757C3E64C}"/>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05</a:t>
            </a:r>
          </a:p>
        </p:txBody>
      </p:sp>
      <p:sp>
        <p:nvSpPr>
          <p:cNvPr id="5" name="">
            <a:extLst xmlns:a="http://schemas.openxmlformats.org/drawingml/2006/main">
              <a:ext uri="{FF2B5EF4-FFF2-40B4-BE49-F238E27FC236}">
                <a16:creationId xmlns:a16="http://schemas.microsoft.com/office/drawing/2014/main" id="{03526E11-A67D-4197-9223-9F9A8E26B2D0}"/>
              </a:ext>
            </a:extLst>
          </p:cNvPr>
          <p:cNvSpPr>
            <a:spLocks xmlns:a="http://schemas.openxmlformats.org/drawingml/2006/main" noGrp="1"/>
          </p:cNvSpPr>
          <p:nvPr/>
        </p:nvSpPr>
        <p:spPr>
          <a:xfrm xmlns:a="http://schemas.openxmlformats.org/drawingml/2006/main">
            <a:off x="514350" y="1181100"/>
            <a:ext cx="10858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314158"/>
                </a:solidFill>
              </a:defRPr>
            </a:pPr>
            <a:r>
              <a:rPr sz="1275">
                <a:solidFill>
                  <a:srgbClr val="314158"/>
                </a:solidFill>
              </a:rPr>
              <a:t>Meniul principal pastreaza aceeasi logica in toata aplicatia: Start, Registratura / Flux / Arhiva, Educatie si Administrare. In interiorul fiecarui modul, butoanele si actiunile se repeta consecvent.</a:t>
            </a:r>
          </a:p>
        </p:txBody>
      </p:sp>
      <p:sp>
        <p:nvSpPr>
          <p:cNvPr id="6" name="">
            <a:extLst xmlns:a="http://schemas.openxmlformats.org/drawingml/2006/main">
              <a:ext uri="{FF2B5EF4-FFF2-40B4-BE49-F238E27FC236}">
                <a16:creationId xmlns:a16="http://schemas.microsoft.com/office/drawing/2014/main" id="{75463B1F-7CCD-4654-AB49-D9085A13F0C6}"/>
              </a:ext>
            </a:extLst>
          </p:cNvPr>
          <p:cNvSpPr>
            <a:spLocks xmlns:a="http://schemas.openxmlformats.org/drawingml/2006/main" noGrp="1"/>
          </p:cNvSpPr>
          <p:nvPr/>
        </p:nvSpPr>
        <p:spPr>
          <a:xfrm xmlns:a="http://schemas.openxmlformats.org/drawingml/2006/main">
            <a:off x="514350"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06AF422C-6D02-4976-B303-3D9EF237B896}"/>
              </a:ext>
            </a:extLst>
          </p:cNvPr>
          <p:cNvSpPr>
            <a:spLocks xmlns:a="http://schemas.openxmlformats.org/drawingml/2006/main" noGrp="1"/>
          </p:cNvSpPr>
          <p:nvPr/>
        </p:nvSpPr>
        <p:spPr>
          <a:xfrm xmlns:a="http://schemas.openxmlformats.org/drawingml/2006/main">
            <a:off x="666750" y="23431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Buton plus / Adauga</a:t>
            </a:r>
          </a:p>
        </p:txBody>
      </p:sp>
      <p:sp>
        <p:nvSpPr>
          <p:cNvPr id="8" name="">
            <a:extLst xmlns:a="http://schemas.openxmlformats.org/drawingml/2006/main">
              <a:ext uri="{FF2B5EF4-FFF2-40B4-BE49-F238E27FC236}">
                <a16:creationId xmlns:a16="http://schemas.microsoft.com/office/drawing/2014/main" id="{EACF0A08-475F-4052-8B11-D34F74882744}"/>
              </a:ext>
            </a:extLst>
          </p:cNvPr>
          <p:cNvSpPr>
            <a:spLocks xmlns:a="http://schemas.openxmlformats.org/drawingml/2006/main" noGrp="1"/>
          </p:cNvSpPr>
          <p:nvPr/>
        </p:nvSpPr>
        <p:spPr>
          <a:xfrm xmlns:a="http://schemas.openxmlformats.org/drawingml/2006/main">
            <a:off x="666750"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Deschide un formular sau un wizard nou pentru resursa curenta.</a:t>
            </a:r>
          </a:p>
        </p:txBody>
      </p:sp>
      <p:sp>
        <p:nvSpPr>
          <p:cNvPr id="9" name="">
            <a:extLst xmlns:a="http://schemas.openxmlformats.org/drawingml/2006/main">
              <a:ext uri="{FF2B5EF4-FFF2-40B4-BE49-F238E27FC236}">
                <a16:creationId xmlns:a16="http://schemas.microsoft.com/office/drawing/2014/main" id="{2A9C9473-2E65-48E8-B51D-EFA71E1735DE}"/>
              </a:ext>
            </a:extLst>
          </p:cNvPr>
          <p:cNvSpPr>
            <a:spLocks xmlns:a="http://schemas.openxmlformats.org/drawingml/2006/main" noGrp="1"/>
          </p:cNvSpPr>
          <p:nvPr/>
        </p:nvSpPr>
        <p:spPr>
          <a:xfrm xmlns:a="http://schemas.openxmlformats.org/drawingml/2006/main">
            <a:off x="6086475"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85444710-A108-4072-9780-22010017D8F4}"/>
              </a:ext>
            </a:extLst>
          </p:cNvPr>
          <p:cNvSpPr>
            <a:spLocks xmlns:a="http://schemas.openxmlformats.org/drawingml/2006/main" noGrp="1"/>
          </p:cNvSpPr>
          <p:nvPr/>
        </p:nvSpPr>
        <p:spPr>
          <a:xfrm xmlns:a="http://schemas.openxmlformats.org/drawingml/2006/main">
            <a:off x="6238875" y="234315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Filtre</a:t>
            </a:r>
          </a:p>
        </p:txBody>
      </p:sp>
      <p:sp>
        <p:nvSpPr>
          <p:cNvPr id="11" name="">
            <a:extLst xmlns:a="http://schemas.openxmlformats.org/drawingml/2006/main">
              <a:ext uri="{FF2B5EF4-FFF2-40B4-BE49-F238E27FC236}">
                <a16:creationId xmlns:a16="http://schemas.microsoft.com/office/drawing/2014/main" id="{21DDE1A2-76A7-493C-9C05-ABF02C80BD30}"/>
              </a:ext>
            </a:extLst>
          </p:cNvPr>
          <p:cNvSpPr>
            <a:spLocks xmlns:a="http://schemas.openxmlformats.org/drawingml/2006/main" noGrp="1"/>
          </p:cNvSpPr>
          <p:nvPr/>
        </p:nvSpPr>
        <p:spPr>
          <a:xfrm xmlns:a="http://schemas.openxmlformats.org/drawingml/2006/main">
            <a:off x="6238875"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Reduc rapid lista la documente, persoane sau inregistrari relevante.</a:t>
            </a:r>
          </a:p>
        </p:txBody>
      </p:sp>
      <p:sp>
        <p:nvSpPr>
          <p:cNvPr id="12" name="">
            <a:extLst xmlns:a="http://schemas.openxmlformats.org/drawingml/2006/main">
              <a:ext uri="{FF2B5EF4-FFF2-40B4-BE49-F238E27FC236}">
                <a16:creationId xmlns:a16="http://schemas.microsoft.com/office/drawing/2014/main" id="{00D2C6C3-674F-4ADE-AA3D-E0489BE21DA2}"/>
              </a:ext>
            </a:extLst>
          </p:cNvPr>
          <p:cNvSpPr>
            <a:spLocks xmlns:a="http://schemas.openxmlformats.org/drawingml/2006/main" noGrp="1"/>
          </p:cNvSpPr>
          <p:nvPr/>
        </p:nvSpPr>
        <p:spPr>
          <a:xfrm xmlns:a="http://schemas.openxmlformats.org/drawingml/2006/main">
            <a:off x="514350" y="401955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D68C370B-F244-4D37-8CDB-E0B038ED0BC2}"/>
              </a:ext>
            </a:extLst>
          </p:cNvPr>
          <p:cNvSpPr>
            <a:spLocks xmlns:a="http://schemas.openxmlformats.org/drawingml/2006/main" noGrp="1"/>
          </p:cNvSpPr>
          <p:nvPr/>
        </p:nvSpPr>
        <p:spPr>
          <a:xfrm xmlns:a="http://schemas.openxmlformats.org/drawingml/2006/main">
            <a:off x="666750" y="415290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Actiuni pe rand</a:t>
            </a:r>
          </a:p>
        </p:txBody>
      </p:sp>
      <p:sp>
        <p:nvSpPr>
          <p:cNvPr id="14" name="">
            <a:extLst xmlns:a="http://schemas.openxmlformats.org/drawingml/2006/main">
              <a:ext uri="{FF2B5EF4-FFF2-40B4-BE49-F238E27FC236}">
                <a16:creationId xmlns:a16="http://schemas.microsoft.com/office/drawing/2014/main" id="{32789DE7-7C38-4C0E-855C-02B17D923D32}"/>
              </a:ext>
            </a:extLst>
          </p:cNvPr>
          <p:cNvSpPr>
            <a:spLocks xmlns:a="http://schemas.openxmlformats.org/drawingml/2006/main" noGrp="1"/>
          </p:cNvSpPr>
          <p:nvPr/>
        </p:nvSpPr>
        <p:spPr>
          <a:xfrm xmlns:a="http://schemas.openxmlformats.org/drawingml/2006/main">
            <a:off x="666750" y="451485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Deschid detaliul, PDF-ul, documentele, tranzitiile sau alte fluxuri secundare.</a:t>
            </a:r>
          </a:p>
        </p:txBody>
      </p:sp>
      <p:sp>
        <p:nvSpPr>
          <p:cNvPr id="15" name="">
            <a:extLst xmlns:a="http://schemas.openxmlformats.org/drawingml/2006/main">
              <a:ext uri="{FF2B5EF4-FFF2-40B4-BE49-F238E27FC236}">
                <a16:creationId xmlns:a16="http://schemas.microsoft.com/office/drawing/2014/main" id="{BE11EC12-B79F-40F0-B293-02F82E815E34}"/>
              </a:ext>
            </a:extLst>
          </p:cNvPr>
          <p:cNvSpPr>
            <a:spLocks xmlns:a="http://schemas.openxmlformats.org/drawingml/2006/main" noGrp="1"/>
          </p:cNvSpPr>
          <p:nvPr/>
        </p:nvSpPr>
        <p:spPr>
          <a:xfrm xmlns:a="http://schemas.openxmlformats.org/drawingml/2006/main">
            <a:off x="514350" y="5676900"/>
            <a:ext cx="1085850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84640070-2B62-4995-9C07-275E52B1AA17}"/>
              </a:ext>
            </a:extLst>
          </p:cNvPr>
          <p:cNvSpPr>
            <a:spLocks xmlns:a="http://schemas.openxmlformats.org/drawingml/2006/main" noGrp="1"/>
          </p:cNvSpPr>
          <p:nvPr/>
        </p:nvSpPr>
        <p:spPr>
          <a:xfrm xmlns:a="http://schemas.openxmlformats.org/drawingml/2006/main">
            <a:off x="666750" y="5810250"/>
            <a:ext cx="1055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se foloseste in practica: Meniul principal pastreaza aceeasi logica in toata aplicatia: Start, Registratura / Flux / Arhiva, Educatie si Administrare. In interiorul fiecarui modul, butoanele si actiunile se repeta consecvent. Buton plus / Adauga: Deschide un formular sau un wizard nou pentru resursa curenta. Filtre: Reduc rapid lista la documente, persoane sau inregistrari relevante. Actiuni pe rand: Deschid detaliul, PDF-ul, documentele, tranzitiile sau alte fluxuri secundare.</a:t>
            </a:r>
          </a:p>
        </p:txBody>
      </p:sp>
      <p:sp>
        <p:nvSpPr>
          <p:cNvPr id="17" name="">
            <a:extLst xmlns:a="http://schemas.openxmlformats.org/drawingml/2006/main">
              <a:ext uri="{FF2B5EF4-FFF2-40B4-BE49-F238E27FC236}">
                <a16:creationId xmlns:a16="http://schemas.microsoft.com/office/drawing/2014/main" id="{7A92CA75-43F2-4F53-B2F8-7AB5A42E98A4}"/>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8" name="">
            <a:extLst xmlns:a="http://schemas.openxmlformats.org/drawingml/2006/main">
              <a:ext uri="{FF2B5EF4-FFF2-40B4-BE49-F238E27FC236}">
                <a16:creationId xmlns:a16="http://schemas.microsoft.com/office/drawing/2014/main" id="{E72477D9-18EB-4C66-9618-113980601490}"/>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Logica de navigare pentru utilizatori finali</a:t>
            </a:r>
          </a:p>
        </p:txBody>
      </p:sp>
    </p:spTree>
    <p:extLst>
      <p:ext uri="{BB962C8B-B14F-4D97-AF65-F5344CB8AC3E}">
        <p14:creationId xmlns:p14="http://schemas.microsoft.com/office/powerpoint/2010/main" val="167449589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633D2F7-F777-447C-ACB6-D43FD2AFC2D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752D4BAE-9566-4F5E-A89C-DEB5E223861D}"/>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Modul administrativ</a:t>
            </a:r>
          </a:p>
        </p:txBody>
      </p:sp>
      <p:sp>
        <p:nvSpPr>
          <p:cNvPr id="3" name="">
            <a:extLst xmlns:a="http://schemas.openxmlformats.org/drawingml/2006/main">
              <a:ext uri="{FF2B5EF4-FFF2-40B4-BE49-F238E27FC236}">
                <a16:creationId xmlns:a16="http://schemas.microsoft.com/office/drawing/2014/main" id="{02F57578-8EF8-47D6-B6A1-E43B9DD5BE2C}"/>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Registratura - vedere de ansamblu</a:t>
            </a:r>
          </a:p>
        </p:txBody>
      </p:sp>
      <p:sp>
        <p:nvSpPr>
          <p:cNvPr id="4" name="">
            <a:extLst xmlns:a="http://schemas.openxmlformats.org/drawingml/2006/main">
              <a:ext uri="{FF2B5EF4-FFF2-40B4-BE49-F238E27FC236}">
                <a16:creationId xmlns:a16="http://schemas.microsoft.com/office/drawing/2014/main" id="{36611D3D-885B-4671-8654-CB6046C93FFE}"/>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06</a:t>
            </a:r>
          </a:p>
        </p:txBody>
      </p:sp>
      <p:sp>
        <p:nvSpPr>
          <p:cNvPr id="5" name="">
            <a:extLst xmlns:a="http://schemas.openxmlformats.org/drawingml/2006/main">
              <a:ext uri="{FF2B5EF4-FFF2-40B4-BE49-F238E27FC236}">
                <a16:creationId xmlns:a16="http://schemas.microsoft.com/office/drawing/2014/main" id="{FD681FB9-E467-490D-AC67-54C212344F69}"/>
              </a:ext>
            </a:extLst>
          </p:cNvPr>
          <p:cNvSpPr>
            <a:spLocks xmlns:a="http://schemas.openxmlformats.org/drawingml/2006/main" noGrp="1"/>
          </p:cNvSpPr>
          <p:nvPr/>
        </p:nvSpPr>
        <p:spPr>
          <a:xfrm xmlns:a="http://schemas.openxmlformats.org/drawingml/2006/main">
            <a:off x="514350" y="1181100"/>
            <a:ext cx="10858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314158"/>
                </a:solidFill>
              </a:defRPr>
            </a:pPr>
            <a:r>
              <a:rPr sz="1275">
                <a:solidFill>
                  <a:srgbClr val="314158"/>
                </a:solidFill>
              </a:rPr>
              <a:t>Modulul de registratura este baza de lucru pentru evidenta documentelor. Aici se inregistreaza intrarile, iesirile, documentele interne si legaturile dintre ele.</a:t>
            </a:r>
          </a:p>
        </p:txBody>
      </p:sp>
      <p:sp>
        <p:nvSpPr>
          <p:cNvPr id="6" name="">
            <a:extLst xmlns:a="http://schemas.openxmlformats.org/drawingml/2006/main">
              <a:ext uri="{FF2B5EF4-FFF2-40B4-BE49-F238E27FC236}">
                <a16:creationId xmlns:a16="http://schemas.microsoft.com/office/drawing/2014/main" id="{70BE701D-C605-4279-8673-1CFF19B15B1B}"/>
              </a:ext>
            </a:extLst>
          </p:cNvPr>
          <p:cNvSpPr>
            <a:spLocks xmlns:a="http://schemas.openxmlformats.org/drawingml/2006/main" noGrp="1"/>
          </p:cNvSpPr>
          <p:nvPr/>
        </p:nvSpPr>
        <p:spPr>
          <a:xfrm xmlns:a="http://schemas.openxmlformats.org/drawingml/2006/main">
            <a:off x="514350"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3656B631-1E3F-4B69-AF4B-94B55A4176F4}"/>
              </a:ext>
            </a:extLst>
          </p:cNvPr>
          <p:cNvSpPr>
            <a:spLocks xmlns:a="http://schemas.openxmlformats.org/drawingml/2006/main" noGrp="1"/>
          </p:cNvSpPr>
          <p:nvPr/>
        </p:nvSpPr>
        <p:spPr>
          <a:xfrm xmlns:a="http://schemas.openxmlformats.org/drawingml/2006/main">
            <a:off x="666750" y="23431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Registratura</a:t>
            </a:r>
          </a:p>
        </p:txBody>
      </p:sp>
      <p:sp>
        <p:nvSpPr>
          <p:cNvPr id="8" name="">
            <a:extLst xmlns:a="http://schemas.openxmlformats.org/drawingml/2006/main">
              <a:ext uri="{FF2B5EF4-FFF2-40B4-BE49-F238E27FC236}">
                <a16:creationId xmlns:a16="http://schemas.microsoft.com/office/drawing/2014/main" id="{43CFDBFF-36FB-49EE-AF75-0DF706BD1876}"/>
              </a:ext>
            </a:extLst>
          </p:cNvPr>
          <p:cNvSpPr>
            <a:spLocks xmlns:a="http://schemas.openxmlformats.org/drawingml/2006/main" noGrp="1"/>
          </p:cNvSpPr>
          <p:nvPr/>
        </p:nvSpPr>
        <p:spPr>
          <a:xfrm xmlns:a="http://schemas.openxmlformats.org/drawingml/2006/main">
            <a:off x="666750"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Lista principala de documente, cautare, filtre, registru activ si operatiuni de inregistrare.</a:t>
            </a:r>
          </a:p>
        </p:txBody>
      </p:sp>
      <p:sp>
        <p:nvSpPr>
          <p:cNvPr id="9" name="">
            <a:extLst xmlns:a="http://schemas.openxmlformats.org/drawingml/2006/main">
              <a:ext uri="{FF2B5EF4-FFF2-40B4-BE49-F238E27FC236}">
                <a16:creationId xmlns:a16="http://schemas.microsoft.com/office/drawing/2014/main" id="{563E1466-4100-4B9A-9C4F-A4ADDD20CA21}"/>
              </a:ext>
            </a:extLst>
          </p:cNvPr>
          <p:cNvSpPr>
            <a:spLocks xmlns:a="http://schemas.openxmlformats.org/drawingml/2006/main" noGrp="1"/>
          </p:cNvSpPr>
          <p:nvPr/>
        </p:nvSpPr>
        <p:spPr>
          <a:xfrm xmlns:a="http://schemas.openxmlformats.org/drawingml/2006/main">
            <a:off x="6086475"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97E4AAC5-1B87-4439-BE42-5978F237BEED}"/>
              </a:ext>
            </a:extLst>
          </p:cNvPr>
          <p:cNvSpPr>
            <a:spLocks xmlns:a="http://schemas.openxmlformats.org/drawingml/2006/main" noGrp="1"/>
          </p:cNvSpPr>
          <p:nvPr/>
        </p:nvSpPr>
        <p:spPr>
          <a:xfrm xmlns:a="http://schemas.openxmlformats.org/drawingml/2006/main">
            <a:off x="6238875" y="234315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Flux documente</a:t>
            </a:r>
          </a:p>
        </p:txBody>
      </p:sp>
      <p:sp>
        <p:nvSpPr>
          <p:cNvPr id="11" name="">
            <a:extLst xmlns:a="http://schemas.openxmlformats.org/drawingml/2006/main">
              <a:ext uri="{FF2B5EF4-FFF2-40B4-BE49-F238E27FC236}">
                <a16:creationId xmlns:a16="http://schemas.microsoft.com/office/drawing/2014/main" id="{079718B7-182D-48EB-A330-D598D074DA19}"/>
              </a:ext>
            </a:extLst>
          </p:cNvPr>
          <p:cNvSpPr>
            <a:spLocks xmlns:a="http://schemas.openxmlformats.org/drawingml/2006/main" noGrp="1"/>
          </p:cNvSpPr>
          <p:nvPr/>
        </p:nvSpPr>
        <p:spPr>
          <a:xfrm xmlns:a="http://schemas.openxmlformats.org/drawingml/2006/main">
            <a:off x="6238875"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Taskuri si aprobari care pornesc de la documentele inregistrate.</a:t>
            </a:r>
          </a:p>
        </p:txBody>
      </p:sp>
      <p:sp>
        <p:nvSpPr>
          <p:cNvPr id="12" name="">
            <a:extLst xmlns:a="http://schemas.openxmlformats.org/drawingml/2006/main">
              <a:ext uri="{FF2B5EF4-FFF2-40B4-BE49-F238E27FC236}">
                <a16:creationId xmlns:a16="http://schemas.microsoft.com/office/drawing/2014/main" id="{0FCC20B3-A45A-4031-B651-5D8F3EB45299}"/>
              </a:ext>
            </a:extLst>
          </p:cNvPr>
          <p:cNvSpPr>
            <a:spLocks xmlns:a="http://schemas.openxmlformats.org/drawingml/2006/main" noGrp="1"/>
          </p:cNvSpPr>
          <p:nvPr/>
        </p:nvSpPr>
        <p:spPr>
          <a:xfrm xmlns:a="http://schemas.openxmlformats.org/drawingml/2006/main">
            <a:off x="514350" y="401955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1E067AE7-733F-4C8B-9917-FC00E265F791}"/>
              </a:ext>
            </a:extLst>
          </p:cNvPr>
          <p:cNvSpPr>
            <a:spLocks xmlns:a="http://schemas.openxmlformats.org/drawingml/2006/main" noGrp="1"/>
          </p:cNvSpPr>
          <p:nvPr/>
        </p:nvSpPr>
        <p:spPr>
          <a:xfrm xmlns:a="http://schemas.openxmlformats.org/drawingml/2006/main">
            <a:off x="666750" y="415290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eArhiva</a:t>
            </a:r>
          </a:p>
        </p:txBody>
      </p:sp>
      <p:sp>
        <p:nvSpPr>
          <p:cNvPr id="14" name="">
            <a:extLst xmlns:a="http://schemas.openxmlformats.org/drawingml/2006/main">
              <a:ext uri="{FF2B5EF4-FFF2-40B4-BE49-F238E27FC236}">
                <a16:creationId xmlns:a16="http://schemas.microsoft.com/office/drawing/2014/main" id="{FB5060FB-B682-43B9-ACDF-B58275E6B4B9}"/>
              </a:ext>
            </a:extLst>
          </p:cNvPr>
          <p:cNvSpPr>
            <a:spLocks xmlns:a="http://schemas.openxmlformats.org/drawingml/2006/main" noGrp="1"/>
          </p:cNvSpPr>
          <p:nvPr/>
        </p:nvSpPr>
        <p:spPr>
          <a:xfrm xmlns:a="http://schemas.openxmlformats.org/drawingml/2006/main">
            <a:off x="666750" y="451485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Zona in care documentele finalizate sunt transformate in inregistrari arhivistice.</a:t>
            </a:r>
          </a:p>
        </p:txBody>
      </p:sp>
      <p:sp>
        <p:nvSpPr>
          <p:cNvPr id="15" name="">
            <a:extLst xmlns:a="http://schemas.openxmlformats.org/drawingml/2006/main">
              <a:ext uri="{FF2B5EF4-FFF2-40B4-BE49-F238E27FC236}">
                <a16:creationId xmlns:a16="http://schemas.microsoft.com/office/drawing/2014/main" id="{4927C62D-CCB8-4295-8590-16C6FD7D6074}"/>
              </a:ext>
            </a:extLst>
          </p:cNvPr>
          <p:cNvSpPr>
            <a:spLocks xmlns:a="http://schemas.openxmlformats.org/drawingml/2006/main" noGrp="1"/>
          </p:cNvSpPr>
          <p:nvPr/>
        </p:nvSpPr>
        <p:spPr>
          <a:xfrm xmlns:a="http://schemas.openxmlformats.org/drawingml/2006/main">
            <a:off x="514350" y="5676900"/>
            <a:ext cx="1085850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A95CB4EE-E421-489A-8910-50E6470BF958}"/>
              </a:ext>
            </a:extLst>
          </p:cNvPr>
          <p:cNvSpPr>
            <a:spLocks xmlns:a="http://schemas.openxmlformats.org/drawingml/2006/main" noGrp="1"/>
          </p:cNvSpPr>
          <p:nvPr/>
        </p:nvSpPr>
        <p:spPr>
          <a:xfrm xmlns:a="http://schemas.openxmlformats.org/drawingml/2006/main">
            <a:off x="666750" y="5810250"/>
            <a:ext cx="1055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se foloseste in practica: Modulul de registratura este baza de lucru pentru evidenta documentelor. Aici se inregistreaza intrarile, iesirile, documentele interne si legaturile dintre ele. Registratura: Lista principala de documente, cautare, filtre, registru activ si operatiuni de inregistrare. Flux documente: Taskuri si aprobari care pornesc de la documentele inregistrate. eArhiva: Zona in care documentele finalizate sunt transformate in inregistrari arhivistice.</a:t>
            </a:r>
          </a:p>
        </p:txBody>
      </p:sp>
      <p:sp>
        <p:nvSpPr>
          <p:cNvPr id="17" name="">
            <a:extLst xmlns:a="http://schemas.openxmlformats.org/drawingml/2006/main">
              <a:ext uri="{FF2B5EF4-FFF2-40B4-BE49-F238E27FC236}">
                <a16:creationId xmlns:a16="http://schemas.microsoft.com/office/drawing/2014/main" id="{7BCA9998-7C35-4490-9694-7A045E4EA8BD}"/>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8" name="">
            <a:extLst xmlns:a="http://schemas.openxmlformats.org/drawingml/2006/main">
              <a:ext uri="{FF2B5EF4-FFF2-40B4-BE49-F238E27FC236}">
                <a16:creationId xmlns:a16="http://schemas.microsoft.com/office/drawing/2014/main" id="{90F62141-F900-4CAB-B270-23159F30DE4C}"/>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Introducere in registratura si arhiva</a:t>
            </a:r>
          </a:p>
        </p:txBody>
      </p:sp>
    </p:spTree>
    <p:extLst>
      <p:ext uri="{BB962C8B-B14F-4D97-AF65-F5344CB8AC3E}">
        <p14:creationId xmlns:p14="http://schemas.microsoft.com/office/powerpoint/2010/main" val="183460873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FEBA8FD-B6A1-4E58-A917-1248C3A0DFE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D2FB102B-5005-4330-8B48-184F6C27B839}"/>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Registratura</a:t>
            </a:r>
          </a:p>
        </p:txBody>
      </p:sp>
      <p:sp>
        <p:nvSpPr>
          <p:cNvPr id="3" name="">
            <a:extLst xmlns:a="http://schemas.openxmlformats.org/drawingml/2006/main">
              <a:ext uri="{FF2B5EF4-FFF2-40B4-BE49-F238E27FC236}">
                <a16:creationId xmlns:a16="http://schemas.microsoft.com/office/drawing/2014/main" id="{B0E97260-8AA6-4E74-AAAC-01F7FE20FD85}"/>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Lista de documente din registratura</a:t>
            </a:r>
          </a:p>
        </p:txBody>
      </p:sp>
      <p:sp>
        <p:nvSpPr>
          <p:cNvPr id="4" name="">
            <a:extLst xmlns:a="http://schemas.openxmlformats.org/drawingml/2006/main">
              <a:ext uri="{FF2B5EF4-FFF2-40B4-BE49-F238E27FC236}">
                <a16:creationId xmlns:a16="http://schemas.microsoft.com/office/drawing/2014/main" id="{4488CFA9-B1B9-477D-95AF-5E8A8C7FA2CB}"/>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07</a:t>
            </a:r>
          </a:p>
        </p:txBody>
      </p:sp>
      <p:sp>
        <p:nvSpPr>
          <p:cNvPr id="5" name="">
            <a:extLst xmlns:a="http://schemas.openxmlformats.org/drawingml/2006/main">
              <a:ext uri="{FF2B5EF4-FFF2-40B4-BE49-F238E27FC236}">
                <a16:creationId xmlns:a16="http://schemas.microsoft.com/office/drawing/2014/main" id="{CB6D052A-06DF-467B-9D56-890C8EB51458}"/>
              </a:ext>
            </a:extLst>
          </p:cNvPr>
          <p:cNvSpPr>
            <a:spLocks xmlns:a="http://schemas.openxmlformats.org/drawingml/2006/main" noGrp="1"/>
          </p:cNvSpPr>
          <p:nvPr/>
        </p:nvSpPr>
        <p:spPr>
          <a:xfrm xmlns:a="http://schemas.openxmlformats.org/drawingml/2006/main">
            <a:off x="514350" y="112395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Ecranul principal de documente combina trei zone: registratura curenta, flux documente si documente arhivate. Utilizatorul vede imediat registrul activ si documentele aferente.</a:t>
            </a:r>
          </a:p>
        </p:txBody>
      </p:sp>
      <p:sp>
        <p:nvSpPr>
          <p:cNvPr id="6" name="">
            <a:extLst xmlns:a="http://schemas.openxmlformats.org/drawingml/2006/main">
              <a:ext uri="{FF2B5EF4-FFF2-40B4-BE49-F238E27FC236}">
                <a16:creationId xmlns:a16="http://schemas.microsoft.com/office/drawing/2014/main" id="{B1558695-5826-4507-AE36-02F8AEC77C37}"/>
              </a:ext>
            </a:extLst>
          </p:cNvPr>
          <p:cNvSpPr>
            <a:spLocks xmlns:a="http://schemas.openxmlformats.org/drawingml/2006/main" noGrp="1"/>
          </p:cNvSpPr>
          <p:nvPr/>
        </p:nvSpPr>
        <p:spPr>
          <a:xfrm xmlns:a="http://schemas.openxmlformats.org/drawingml/2006/main">
            <a:off x="514350" y="1809750"/>
            <a:ext cx="11163300" cy="2990850"/>
          </a:xfrm>
          <a:prstGeom xmlns:a="http://schemas.openxmlformats.org/drawingml/2006/main" prst="roundRect">
            <a:avLst>
              <a:gd name="adj" fmla="val 5096"/>
            </a:avLst>
          </a:prstGeom>
          <a:solidFill xmlns:a="http://schemas.openxmlformats.org/drawingml/2006/main">
            <a:srgbClr val="F8FAFC"/>
          </a:solidFill>
          <a:ln xmlns:a="http://schemas.openxmlformats.org/drawingml/2006/main" w="9525">
            <a:solidFill>
              <a:srgbClr val="E2E8F0"/>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9c7b9b8eee2d4b38"/>
          <a:stretch xmlns:a="http://schemas.openxmlformats.org/drawingml/2006/main"/>
        </p:blipFill>
        <p:spPr>
          <a:xfrm xmlns:a="http://schemas.openxmlformats.org/drawingml/2006/main">
            <a:off x="3640667" y="1924050"/>
            <a:ext cx="4910667" cy="2762250"/>
          </a:xfrm>
          <a:prstGeom xmlns:a="http://schemas.openxmlformats.org/drawingml/2006/main" prst="roundRect">
            <a:avLst>
              <a:gd name="adj" fmla="val 4138"/>
            </a:avLst>
          </a:prstGeom>
        </p:spPr>
      </p:pic>
      <p:sp>
        <p:nvSpPr>
          <p:cNvPr id="8" name="">
            <a:extLst xmlns:a="http://schemas.openxmlformats.org/drawingml/2006/main">
              <a:ext uri="{FF2B5EF4-FFF2-40B4-BE49-F238E27FC236}">
                <a16:creationId xmlns:a16="http://schemas.microsoft.com/office/drawing/2014/main" id="{A9F1FC69-5B12-4FCB-A8CA-3EC7C4DCD71B}"/>
              </a:ext>
            </a:extLst>
          </p:cNvPr>
          <p:cNvSpPr>
            <a:spLocks xmlns:a="http://schemas.openxmlformats.org/drawingml/2006/main" noGrp="1"/>
          </p:cNvSpPr>
          <p:nvPr/>
        </p:nvSpPr>
        <p:spPr>
          <a:xfrm xmlns:a="http://schemas.openxmlformats.org/drawingml/2006/main">
            <a:off x="514350" y="4972050"/>
            <a:ext cx="5334000" cy="12954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E2E8F0"/>
            </a:solidFill>
            <a:prstDash val="solid"/>
          </a:ln>
        </p:spPr>
      </p:sp>
      <p:sp>
        <p:nvSpPr>
          <p:cNvPr id="9" name="">
            <a:extLst xmlns:a="http://schemas.openxmlformats.org/drawingml/2006/main">
              <a:ext uri="{FF2B5EF4-FFF2-40B4-BE49-F238E27FC236}">
                <a16:creationId xmlns:a16="http://schemas.microsoft.com/office/drawing/2014/main" id="{4AACFD24-3154-4BBB-8189-FD2B9BFA3269}"/>
              </a:ext>
            </a:extLst>
          </p:cNvPr>
          <p:cNvSpPr>
            <a:spLocks xmlns:a="http://schemas.openxmlformats.org/drawingml/2006/main" noGrp="1"/>
          </p:cNvSpPr>
          <p:nvPr/>
        </p:nvSpPr>
        <p:spPr>
          <a:xfrm xmlns:a="http://schemas.openxmlformats.org/drawingml/2006/main">
            <a:off x="666750" y="510540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Cum lucrezi</a:t>
            </a:r>
          </a:p>
        </p:txBody>
      </p:sp>
      <p:sp>
        <p:nvSpPr>
          <p:cNvPr id="10" name="">
            <a:extLst xmlns:a="http://schemas.openxmlformats.org/drawingml/2006/main">
              <a:ext uri="{FF2B5EF4-FFF2-40B4-BE49-F238E27FC236}">
                <a16:creationId xmlns:a16="http://schemas.microsoft.com/office/drawing/2014/main" id="{2DA950CD-5F6D-4500-A08A-BC50DF9ABE16}"/>
              </a:ext>
            </a:extLst>
          </p:cNvPr>
          <p:cNvSpPr>
            <a:spLocks xmlns:a="http://schemas.openxmlformats.org/drawingml/2006/main" noGrp="1"/>
          </p:cNvSpPr>
          <p:nvPr/>
        </p:nvSpPr>
        <p:spPr>
          <a:xfrm xmlns:a="http://schemas.openxmlformats.org/drawingml/2006/main">
            <a:off x="666750" y="5467350"/>
            <a:ext cx="5029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Alegi registrul activ din selectorul din dreapta sus.</a:t>
            </a:r>
          </a:p>
          <a:p xmlns:a="http://schemas.openxmlformats.org/drawingml/2006/main">
            <a:pPr>
              <a:defRPr sz="1125">
                <a:solidFill>
                  <a:srgbClr val="314158"/>
                </a:solidFill>
              </a:defRPr>
            </a:pPr>
            <a:r>
              <a:rPr sz="1125">
                <a:solidFill>
                  <a:srgbClr val="314158"/>
                </a:solidFill>
              </a:rPr>
              <a:t>• Folosesti butoanele Intrare, Iesire sau Multiplu pentru o inregistrare noua.</a:t>
            </a:r>
          </a:p>
          <a:p xmlns:a="http://schemas.openxmlformats.org/drawingml/2006/main">
            <a:pPr>
              <a:defRPr sz="1125">
                <a:solidFill>
                  <a:srgbClr val="314158"/>
                </a:solidFill>
              </a:defRPr>
            </a:pPr>
            <a:r>
              <a:rPr sz="1125">
                <a:solidFill>
                  <a:srgbClr val="314158"/>
                </a:solidFill>
              </a:rPr>
              <a:t>• Deschizi documentul dorit pentru detalii, editare, legaturi sau arhivare.</a:t>
            </a:r>
          </a:p>
        </p:txBody>
      </p:sp>
      <p:sp>
        <p:nvSpPr>
          <p:cNvPr id="11" name="">
            <a:extLst xmlns:a="http://schemas.openxmlformats.org/drawingml/2006/main">
              <a:ext uri="{FF2B5EF4-FFF2-40B4-BE49-F238E27FC236}">
                <a16:creationId xmlns:a16="http://schemas.microsoft.com/office/drawing/2014/main" id="{DEFFFB29-3FDD-46DF-9209-4C060CC29A40}"/>
              </a:ext>
            </a:extLst>
          </p:cNvPr>
          <p:cNvSpPr>
            <a:spLocks xmlns:a="http://schemas.openxmlformats.org/drawingml/2006/main" noGrp="1"/>
          </p:cNvSpPr>
          <p:nvPr/>
        </p:nvSpPr>
        <p:spPr>
          <a:xfrm xmlns:a="http://schemas.openxmlformats.org/drawingml/2006/main">
            <a:off x="6343650" y="4972050"/>
            <a:ext cx="533400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E2E8F0"/>
            </a:solidFill>
            <a:prstDash val="solid"/>
          </a:ln>
        </p:spPr>
      </p:sp>
      <p:sp>
        <p:nvSpPr>
          <p:cNvPr id="12" name="">
            <a:extLst xmlns:a="http://schemas.openxmlformats.org/drawingml/2006/main">
              <a:ext uri="{FF2B5EF4-FFF2-40B4-BE49-F238E27FC236}">
                <a16:creationId xmlns:a16="http://schemas.microsoft.com/office/drawing/2014/main" id="{045758A4-4DA7-4CC1-91BE-613951AD466D}"/>
              </a:ext>
            </a:extLst>
          </p:cNvPr>
          <p:cNvSpPr>
            <a:spLocks xmlns:a="http://schemas.openxmlformats.org/drawingml/2006/main" noGrp="1"/>
          </p:cNvSpPr>
          <p:nvPr/>
        </p:nvSpPr>
        <p:spPr>
          <a:xfrm xmlns:a="http://schemas.openxmlformats.org/drawingml/2006/main">
            <a:off x="6496050" y="5105400"/>
            <a:ext cx="5029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Ce obtii: Poti administra cap-coada toate documentele unei perioade fara sa iesi din acelasi ecran.</a:t>
            </a:r>
          </a:p>
        </p:txBody>
      </p:sp>
      <p:sp>
        <p:nvSpPr>
          <p:cNvPr id="13" name="">
            <a:extLst xmlns:a="http://schemas.openxmlformats.org/drawingml/2006/main">
              <a:ext uri="{FF2B5EF4-FFF2-40B4-BE49-F238E27FC236}">
                <a16:creationId xmlns:a16="http://schemas.microsoft.com/office/drawing/2014/main" id="{42B61C33-C4A6-4C23-B37C-42DCB7555FA2}"/>
              </a:ext>
            </a:extLst>
          </p:cNvPr>
          <p:cNvSpPr>
            <a:spLocks xmlns:a="http://schemas.openxmlformats.org/drawingml/2006/main" noGrp="1"/>
          </p:cNvSpPr>
          <p:nvPr/>
        </p:nvSpPr>
        <p:spPr>
          <a:xfrm xmlns:a="http://schemas.openxmlformats.org/drawingml/2006/main">
            <a:off x="6343650" y="5734050"/>
            <a:ext cx="5334000" cy="5334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09DC930D-3378-4F29-92ED-98D4696B316E}"/>
              </a:ext>
            </a:extLst>
          </p:cNvPr>
          <p:cNvSpPr>
            <a:spLocks xmlns:a="http://schemas.openxmlformats.org/drawingml/2006/main" noGrp="1"/>
          </p:cNvSpPr>
          <p:nvPr/>
        </p:nvSpPr>
        <p:spPr>
          <a:xfrm xmlns:a="http://schemas.openxmlformats.org/drawingml/2006/main">
            <a:off x="6496050" y="5867400"/>
            <a:ext cx="502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citesti captura: Captura prezinta ecranul real folosit de utilizator in lista de documente din registratura, cu zonele de lista, filtrare, completare si actiune vizibile exact asa cum apar in aplicatie.</a:t>
            </a:r>
          </a:p>
        </p:txBody>
      </p:sp>
      <p:sp>
        <p:nvSpPr>
          <p:cNvPr id="15" name="">
            <a:extLst xmlns:a="http://schemas.openxmlformats.org/drawingml/2006/main">
              <a:ext uri="{FF2B5EF4-FFF2-40B4-BE49-F238E27FC236}">
                <a16:creationId xmlns:a16="http://schemas.microsoft.com/office/drawing/2014/main" id="{B145DA4E-1E5F-4113-AA5B-5C7E053AC721}"/>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6" name="">
            <a:extLst xmlns:a="http://schemas.openxmlformats.org/drawingml/2006/main">
              <a:ext uri="{FF2B5EF4-FFF2-40B4-BE49-F238E27FC236}">
                <a16:creationId xmlns:a16="http://schemas.microsoft.com/office/drawing/2014/main" id="{76AD0D55-8BE3-4C96-9E75-6FC3A0ABB20D}"/>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Registratura - lista documente</a:t>
            </a:r>
          </a:p>
        </p:txBody>
      </p:sp>
    </p:spTree>
    <p:extLst>
      <p:ext uri="{BB962C8B-B14F-4D97-AF65-F5344CB8AC3E}">
        <p14:creationId xmlns:p14="http://schemas.microsoft.com/office/powerpoint/2010/main" val="54988169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91F3558-1A8C-4ECA-ACAC-85D5DE3714D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776C5325-844F-4FFD-82CF-39A903E8990F}"/>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Registratura - pas cu pas</a:t>
            </a:r>
          </a:p>
        </p:txBody>
      </p:sp>
      <p:sp>
        <p:nvSpPr>
          <p:cNvPr id="3" name="">
            <a:extLst xmlns:a="http://schemas.openxmlformats.org/drawingml/2006/main">
              <a:ext uri="{FF2B5EF4-FFF2-40B4-BE49-F238E27FC236}">
                <a16:creationId xmlns:a16="http://schemas.microsoft.com/office/drawing/2014/main" id="{E21C79FF-B2E1-483A-92C5-E1D148910301}"/>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Cum inregistrezi un document de intrare</a:t>
            </a:r>
          </a:p>
        </p:txBody>
      </p:sp>
      <p:sp>
        <p:nvSpPr>
          <p:cNvPr id="4" name="">
            <a:extLst xmlns:a="http://schemas.openxmlformats.org/drawingml/2006/main">
              <a:ext uri="{FF2B5EF4-FFF2-40B4-BE49-F238E27FC236}">
                <a16:creationId xmlns:a16="http://schemas.microsoft.com/office/drawing/2014/main" id="{82EBA40B-B1E2-4C65-BA88-25E8AB86E457}"/>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08</a:t>
            </a:r>
          </a:p>
        </p:txBody>
      </p:sp>
      <p:sp>
        <p:nvSpPr>
          <p:cNvPr id="5" name="">
            <a:extLst xmlns:a="http://schemas.openxmlformats.org/drawingml/2006/main">
              <a:ext uri="{FF2B5EF4-FFF2-40B4-BE49-F238E27FC236}">
                <a16:creationId xmlns:a16="http://schemas.microsoft.com/office/drawing/2014/main" id="{99AECE36-2C15-4862-A10A-65E9704D5B2F}"/>
              </a:ext>
            </a:extLst>
          </p:cNvPr>
          <p:cNvSpPr>
            <a:spLocks xmlns:a="http://schemas.openxmlformats.org/drawingml/2006/main" noGrp="1"/>
          </p:cNvSpPr>
          <p:nvPr/>
        </p:nvSpPr>
        <p:spPr>
          <a:xfrm xmlns:a="http://schemas.openxmlformats.org/drawingml/2006/main">
            <a:off x="514350" y="1181100"/>
            <a:ext cx="10858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314158"/>
                </a:solidFill>
              </a:defRPr>
            </a:pPr>
            <a:r>
              <a:rPr sz="1275">
                <a:solidFill>
                  <a:srgbClr val="314158"/>
                </a:solidFill>
              </a:rPr>
              <a:t>Pentru un document de intrare, operatorul completeaza datele de baza, verifica registrul si salveaza. Dupa salvare, documentul poate fi consultat imediat sau trimis in workflow.</a:t>
            </a:r>
          </a:p>
        </p:txBody>
      </p:sp>
      <p:sp>
        <p:nvSpPr>
          <p:cNvPr id="6" name="">
            <a:extLst xmlns:a="http://schemas.openxmlformats.org/drawingml/2006/main">
              <a:ext uri="{FF2B5EF4-FFF2-40B4-BE49-F238E27FC236}">
                <a16:creationId xmlns:a16="http://schemas.microsoft.com/office/drawing/2014/main" id="{7FC16561-51E6-42E7-AAB4-3D2D0999FC02}"/>
              </a:ext>
            </a:extLst>
          </p:cNvPr>
          <p:cNvSpPr>
            <a:spLocks xmlns:a="http://schemas.openxmlformats.org/drawingml/2006/main" noGrp="1"/>
          </p:cNvSpPr>
          <p:nvPr/>
        </p:nvSpPr>
        <p:spPr>
          <a:xfrm xmlns:a="http://schemas.openxmlformats.org/drawingml/2006/main">
            <a:off x="514350"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09C98FA1-3036-46C0-8E97-5BBC64EC8D16}"/>
              </a:ext>
            </a:extLst>
          </p:cNvPr>
          <p:cNvSpPr>
            <a:spLocks xmlns:a="http://schemas.openxmlformats.org/drawingml/2006/main" noGrp="1"/>
          </p:cNvSpPr>
          <p:nvPr/>
        </p:nvSpPr>
        <p:spPr>
          <a:xfrm xmlns:a="http://schemas.openxmlformats.org/drawingml/2006/main">
            <a:off x="666750" y="23431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Pasul 1</a:t>
            </a:r>
          </a:p>
        </p:txBody>
      </p:sp>
      <p:sp>
        <p:nvSpPr>
          <p:cNvPr id="8" name="">
            <a:extLst xmlns:a="http://schemas.openxmlformats.org/drawingml/2006/main">
              <a:ext uri="{FF2B5EF4-FFF2-40B4-BE49-F238E27FC236}">
                <a16:creationId xmlns:a16="http://schemas.microsoft.com/office/drawing/2014/main" id="{FE6AAC29-369E-497C-8401-5888814E0449}"/>
              </a:ext>
            </a:extLst>
          </p:cNvPr>
          <p:cNvSpPr>
            <a:spLocks xmlns:a="http://schemas.openxmlformats.org/drawingml/2006/main" noGrp="1"/>
          </p:cNvSpPr>
          <p:nvPr/>
        </p:nvSpPr>
        <p:spPr>
          <a:xfrm xmlns:a="http://schemas.openxmlformats.org/drawingml/2006/main">
            <a:off x="666750"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Apesi `Intrare` din antetul registraturii si deschizi formularul de document nou.</a:t>
            </a:r>
          </a:p>
        </p:txBody>
      </p:sp>
      <p:sp>
        <p:nvSpPr>
          <p:cNvPr id="9" name="">
            <a:extLst xmlns:a="http://schemas.openxmlformats.org/drawingml/2006/main">
              <a:ext uri="{FF2B5EF4-FFF2-40B4-BE49-F238E27FC236}">
                <a16:creationId xmlns:a16="http://schemas.microsoft.com/office/drawing/2014/main" id="{E6ABBCF6-D246-4AF3-AC13-09D9C3E278D8}"/>
              </a:ext>
            </a:extLst>
          </p:cNvPr>
          <p:cNvSpPr>
            <a:spLocks xmlns:a="http://schemas.openxmlformats.org/drawingml/2006/main" noGrp="1"/>
          </p:cNvSpPr>
          <p:nvPr/>
        </p:nvSpPr>
        <p:spPr>
          <a:xfrm xmlns:a="http://schemas.openxmlformats.org/drawingml/2006/main">
            <a:off x="6086475"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AF8BBA30-FF97-4DED-ABE2-D503632CB6C5}"/>
              </a:ext>
            </a:extLst>
          </p:cNvPr>
          <p:cNvSpPr>
            <a:spLocks xmlns:a="http://schemas.openxmlformats.org/drawingml/2006/main" noGrp="1"/>
          </p:cNvSpPr>
          <p:nvPr/>
        </p:nvSpPr>
        <p:spPr>
          <a:xfrm xmlns:a="http://schemas.openxmlformats.org/drawingml/2006/main">
            <a:off x="6238875" y="234315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Pasul 2</a:t>
            </a:r>
          </a:p>
        </p:txBody>
      </p:sp>
      <p:sp>
        <p:nvSpPr>
          <p:cNvPr id="11" name="">
            <a:extLst xmlns:a="http://schemas.openxmlformats.org/drawingml/2006/main">
              <a:ext uri="{FF2B5EF4-FFF2-40B4-BE49-F238E27FC236}">
                <a16:creationId xmlns:a16="http://schemas.microsoft.com/office/drawing/2014/main" id="{23379344-8C42-4F15-9E1D-348CE0593294}"/>
              </a:ext>
            </a:extLst>
          </p:cNvPr>
          <p:cNvSpPr>
            <a:spLocks xmlns:a="http://schemas.openxmlformats.org/drawingml/2006/main" noGrp="1"/>
          </p:cNvSpPr>
          <p:nvPr/>
        </p:nvSpPr>
        <p:spPr>
          <a:xfrm xmlns:a="http://schemas.openxmlformats.org/drawingml/2006/main">
            <a:off x="6238875"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Completezi tipul documentului, subiectul, emitentul, destinatarul si termenul de raspuns.</a:t>
            </a:r>
          </a:p>
        </p:txBody>
      </p:sp>
      <p:sp>
        <p:nvSpPr>
          <p:cNvPr id="12" name="">
            <a:extLst xmlns:a="http://schemas.openxmlformats.org/drawingml/2006/main">
              <a:ext uri="{FF2B5EF4-FFF2-40B4-BE49-F238E27FC236}">
                <a16:creationId xmlns:a16="http://schemas.microsoft.com/office/drawing/2014/main" id="{5721455C-18EF-4149-AEC0-EA48946BE9B1}"/>
              </a:ext>
            </a:extLst>
          </p:cNvPr>
          <p:cNvSpPr>
            <a:spLocks xmlns:a="http://schemas.openxmlformats.org/drawingml/2006/main" noGrp="1"/>
          </p:cNvSpPr>
          <p:nvPr/>
        </p:nvSpPr>
        <p:spPr>
          <a:xfrm xmlns:a="http://schemas.openxmlformats.org/drawingml/2006/main">
            <a:off x="514350" y="401955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99B1F71C-9C76-4BF8-8EC5-9939480E2856}"/>
              </a:ext>
            </a:extLst>
          </p:cNvPr>
          <p:cNvSpPr>
            <a:spLocks xmlns:a="http://schemas.openxmlformats.org/drawingml/2006/main" noGrp="1"/>
          </p:cNvSpPr>
          <p:nvPr/>
        </p:nvSpPr>
        <p:spPr>
          <a:xfrm xmlns:a="http://schemas.openxmlformats.org/drawingml/2006/main">
            <a:off x="666750" y="415290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Pasul 3</a:t>
            </a:r>
          </a:p>
        </p:txBody>
      </p:sp>
      <p:sp>
        <p:nvSpPr>
          <p:cNvPr id="14" name="">
            <a:extLst xmlns:a="http://schemas.openxmlformats.org/drawingml/2006/main">
              <a:ext uri="{FF2B5EF4-FFF2-40B4-BE49-F238E27FC236}">
                <a16:creationId xmlns:a16="http://schemas.microsoft.com/office/drawing/2014/main" id="{A7977338-1B3D-49F9-8877-5D3C5B171BB3}"/>
              </a:ext>
            </a:extLst>
          </p:cNvPr>
          <p:cNvSpPr>
            <a:spLocks xmlns:a="http://schemas.openxmlformats.org/drawingml/2006/main" noGrp="1"/>
          </p:cNvSpPr>
          <p:nvPr/>
        </p:nvSpPr>
        <p:spPr>
          <a:xfrm xmlns:a="http://schemas.openxmlformats.org/drawingml/2006/main">
            <a:off x="666750" y="451485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Salvezi, iar documentul primeste numar in registru si devine vizibil in lista.</a:t>
            </a:r>
          </a:p>
        </p:txBody>
      </p:sp>
      <p:sp>
        <p:nvSpPr>
          <p:cNvPr id="15" name="">
            <a:extLst xmlns:a="http://schemas.openxmlformats.org/drawingml/2006/main">
              <a:ext uri="{FF2B5EF4-FFF2-40B4-BE49-F238E27FC236}">
                <a16:creationId xmlns:a16="http://schemas.microsoft.com/office/drawing/2014/main" id="{530DB1F8-0ED9-40DE-BB7A-1A5DFD476973}"/>
              </a:ext>
            </a:extLst>
          </p:cNvPr>
          <p:cNvSpPr>
            <a:spLocks xmlns:a="http://schemas.openxmlformats.org/drawingml/2006/main" noGrp="1"/>
          </p:cNvSpPr>
          <p:nvPr/>
        </p:nvSpPr>
        <p:spPr>
          <a:xfrm xmlns:a="http://schemas.openxmlformats.org/drawingml/2006/main">
            <a:off x="6086475" y="401955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F7A182F4-E5E0-4645-934A-4EEFCBACB2E7}"/>
              </a:ext>
            </a:extLst>
          </p:cNvPr>
          <p:cNvSpPr>
            <a:spLocks xmlns:a="http://schemas.openxmlformats.org/drawingml/2006/main" noGrp="1"/>
          </p:cNvSpPr>
          <p:nvPr/>
        </p:nvSpPr>
        <p:spPr>
          <a:xfrm xmlns:a="http://schemas.openxmlformats.org/drawingml/2006/main">
            <a:off x="6238875" y="415290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Pasul 4</a:t>
            </a:r>
          </a:p>
        </p:txBody>
      </p:sp>
      <p:sp>
        <p:nvSpPr>
          <p:cNvPr id="17" name="">
            <a:extLst xmlns:a="http://schemas.openxmlformats.org/drawingml/2006/main">
              <a:ext uri="{FF2B5EF4-FFF2-40B4-BE49-F238E27FC236}">
                <a16:creationId xmlns:a16="http://schemas.microsoft.com/office/drawing/2014/main" id="{28633E41-A986-451E-8865-B0B34F4C6C5D}"/>
              </a:ext>
            </a:extLst>
          </p:cNvPr>
          <p:cNvSpPr>
            <a:spLocks xmlns:a="http://schemas.openxmlformats.org/drawingml/2006/main" noGrp="1"/>
          </p:cNvSpPr>
          <p:nvPr/>
        </p:nvSpPr>
        <p:spPr>
          <a:xfrm xmlns:a="http://schemas.openxmlformats.org/drawingml/2006/main">
            <a:off x="6238875" y="451485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Din detaliu poti lansa task workflow, poti edita continutul sau il poti pregati pentru arhivare.</a:t>
            </a:r>
          </a:p>
        </p:txBody>
      </p:sp>
      <p:sp>
        <p:nvSpPr>
          <p:cNvPr id="18" name="">
            <a:extLst xmlns:a="http://schemas.openxmlformats.org/drawingml/2006/main">
              <a:ext uri="{FF2B5EF4-FFF2-40B4-BE49-F238E27FC236}">
                <a16:creationId xmlns:a16="http://schemas.microsoft.com/office/drawing/2014/main" id="{A6839F97-00A2-4CEB-AF1F-E504ECF130E1}"/>
              </a:ext>
            </a:extLst>
          </p:cNvPr>
          <p:cNvSpPr>
            <a:spLocks xmlns:a="http://schemas.openxmlformats.org/drawingml/2006/main" noGrp="1"/>
          </p:cNvSpPr>
          <p:nvPr/>
        </p:nvSpPr>
        <p:spPr>
          <a:xfrm xmlns:a="http://schemas.openxmlformats.org/drawingml/2006/main">
            <a:off x="514350" y="5676900"/>
            <a:ext cx="1085850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9" name="">
            <a:extLst xmlns:a="http://schemas.openxmlformats.org/drawingml/2006/main">
              <a:ext uri="{FF2B5EF4-FFF2-40B4-BE49-F238E27FC236}">
                <a16:creationId xmlns:a16="http://schemas.microsoft.com/office/drawing/2014/main" id="{57629F07-4F50-41B9-9B10-3A153D74BA20}"/>
              </a:ext>
            </a:extLst>
          </p:cNvPr>
          <p:cNvSpPr>
            <a:spLocks xmlns:a="http://schemas.openxmlformats.org/drawingml/2006/main" noGrp="1"/>
          </p:cNvSpPr>
          <p:nvPr/>
        </p:nvSpPr>
        <p:spPr>
          <a:xfrm xmlns:a="http://schemas.openxmlformats.org/drawingml/2006/main">
            <a:off x="666750" y="5810250"/>
            <a:ext cx="1055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se foloseste in practica: Pentru un document de intrare, operatorul completeaza datele de baza, verifica registrul si salveaza. Dupa salvare, documentul poate fi consultat imediat sau trimis in workflow. Pasul 1: Apesi `Intrare` din antetul registraturii si deschizi formularul de document nou. Pasul 2: Completezi tipul documentului, subiectul, emitentul, destinatarul si termenul de raspuns. Pasul 3: Salvezi, iar documentul primeste numar in registru si devine vizibil in lista. Pasul 4: Din detaliu poti lansa task workflow, poti edita continutul sau il poti pregati pentru arhivare.</a:t>
            </a:r>
          </a:p>
        </p:txBody>
      </p:sp>
      <p:sp>
        <p:nvSpPr>
          <p:cNvPr id="20" name="">
            <a:extLst xmlns:a="http://schemas.openxmlformats.org/drawingml/2006/main">
              <a:ext uri="{FF2B5EF4-FFF2-40B4-BE49-F238E27FC236}">
                <a16:creationId xmlns:a16="http://schemas.microsoft.com/office/drawing/2014/main" id="{41D32ACB-D380-42E8-89E4-943ED38ADB9D}"/>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21" name="">
            <a:extLst xmlns:a="http://schemas.openxmlformats.org/drawingml/2006/main">
              <a:ext uri="{FF2B5EF4-FFF2-40B4-BE49-F238E27FC236}">
                <a16:creationId xmlns:a16="http://schemas.microsoft.com/office/drawing/2014/main" id="{6C069483-2249-4AFF-9C58-C37C17E536E0}"/>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Registratura - document de intrare</a:t>
            </a:r>
          </a:p>
        </p:txBody>
      </p:sp>
    </p:spTree>
    <p:extLst>
      <p:ext uri="{BB962C8B-B14F-4D97-AF65-F5344CB8AC3E}">
        <p14:creationId xmlns:p14="http://schemas.microsoft.com/office/powerpoint/2010/main" val="832871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0601684-651F-47FA-A2F0-082ECC572F8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346C2B35-7DB7-4CF7-AD16-40873DC0ED8A}"/>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Registratura - variante de lucru</a:t>
            </a:r>
          </a:p>
        </p:txBody>
      </p:sp>
      <p:sp>
        <p:nvSpPr>
          <p:cNvPr id="3" name="">
            <a:extLst xmlns:a="http://schemas.openxmlformats.org/drawingml/2006/main">
              <a:ext uri="{FF2B5EF4-FFF2-40B4-BE49-F238E27FC236}">
                <a16:creationId xmlns:a16="http://schemas.microsoft.com/office/drawing/2014/main" id="{BBA02618-A6E6-4E3C-81A9-AFF95662E6B0}"/>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Cum inregistrezi un document de iesire sau un lot multiplu</a:t>
            </a:r>
          </a:p>
        </p:txBody>
      </p:sp>
      <p:sp>
        <p:nvSpPr>
          <p:cNvPr id="4" name="">
            <a:extLst xmlns:a="http://schemas.openxmlformats.org/drawingml/2006/main">
              <a:ext uri="{FF2B5EF4-FFF2-40B4-BE49-F238E27FC236}">
                <a16:creationId xmlns:a16="http://schemas.microsoft.com/office/drawing/2014/main" id="{09F07CEC-65C7-45FE-802E-F852C9583FFA}"/>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09</a:t>
            </a:r>
          </a:p>
        </p:txBody>
      </p:sp>
      <p:sp>
        <p:nvSpPr>
          <p:cNvPr id="5" name="">
            <a:extLst xmlns:a="http://schemas.openxmlformats.org/drawingml/2006/main">
              <a:ext uri="{FF2B5EF4-FFF2-40B4-BE49-F238E27FC236}">
                <a16:creationId xmlns:a16="http://schemas.microsoft.com/office/drawing/2014/main" id="{F3335F6D-45AC-4535-A015-21A6C3E43C63}"/>
              </a:ext>
            </a:extLst>
          </p:cNvPr>
          <p:cNvSpPr>
            <a:spLocks xmlns:a="http://schemas.openxmlformats.org/drawingml/2006/main" noGrp="1"/>
          </p:cNvSpPr>
          <p:nvPr/>
        </p:nvSpPr>
        <p:spPr>
          <a:xfrm xmlns:a="http://schemas.openxmlformats.org/drawingml/2006/main">
            <a:off x="514350" y="1181100"/>
            <a:ext cx="10858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314158"/>
                </a:solidFill>
              </a:defRPr>
            </a:pPr>
            <a:r>
              <a:rPr sz="1275">
                <a:solidFill>
                  <a:srgbClr val="314158"/>
                </a:solidFill>
              </a:rPr>
              <a:t>Pentru documentele de iesire logica este aceeasi, dar destinatarul devine principal. Pentru loturi repetitive, butonul `Multiplu` accelereaza inregistrarea mai multor documente similare.</a:t>
            </a:r>
          </a:p>
        </p:txBody>
      </p:sp>
      <p:sp>
        <p:nvSpPr>
          <p:cNvPr id="6" name="">
            <a:extLst xmlns:a="http://schemas.openxmlformats.org/drawingml/2006/main">
              <a:ext uri="{FF2B5EF4-FFF2-40B4-BE49-F238E27FC236}">
                <a16:creationId xmlns:a16="http://schemas.microsoft.com/office/drawing/2014/main" id="{C4CD5CFE-7624-4DA5-BBF4-ADB826EEC7AB}"/>
              </a:ext>
            </a:extLst>
          </p:cNvPr>
          <p:cNvSpPr>
            <a:spLocks xmlns:a="http://schemas.openxmlformats.org/drawingml/2006/main" noGrp="1"/>
          </p:cNvSpPr>
          <p:nvPr/>
        </p:nvSpPr>
        <p:spPr>
          <a:xfrm xmlns:a="http://schemas.openxmlformats.org/drawingml/2006/main">
            <a:off x="514350"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90DE6B02-F9AF-4BEF-8753-1AA28A5E5856}"/>
              </a:ext>
            </a:extLst>
          </p:cNvPr>
          <p:cNvSpPr>
            <a:spLocks xmlns:a="http://schemas.openxmlformats.org/drawingml/2006/main" noGrp="1"/>
          </p:cNvSpPr>
          <p:nvPr/>
        </p:nvSpPr>
        <p:spPr>
          <a:xfrm xmlns:a="http://schemas.openxmlformats.org/drawingml/2006/main">
            <a:off x="666750" y="23431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Document de iesire</a:t>
            </a:r>
          </a:p>
        </p:txBody>
      </p:sp>
      <p:sp>
        <p:nvSpPr>
          <p:cNvPr id="8" name="">
            <a:extLst xmlns:a="http://schemas.openxmlformats.org/drawingml/2006/main">
              <a:ext uri="{FF2B5EF4-FFF2-40B4-BE49-F238E27FC236}">
                <a16:creationId xmlns:a16="http://schemas.microsoft.com/office/drawing/2014/main" id="{EB17F99B-584B-4217-A503-505FDAC15782}"/>
              </a:ext>
            </a:extLst>
          </p:cNvPr>
          <p:cNvSpPr>
            <a:spLocks xmlns:a="http://schemas.openxmlformats.org/drawingml/2006/main" noGrp="1"/>
          </p:cNvSpPr>
          <p:nvPr/>
        </p:nvSpPr>
        <p:spPr>
          <a:xfrm xmlns:a="http://schemas.openxmlformats.org/drawingml/2006/main">
            <a:off x="666750"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Selectezi `Iesire`, introduci subiectul, destinatarul si starea, apoi salvezi.</a:t>
            </a:r>
          </a:p>
        </p:txBody>
      </p:sp>
      <p:sp>
        <p:nvSpPr>
          <p:cNvPr id="9" name="">
            <a:extLst xmlns:a="http://schemas.openxmlformats.org/drawingml/2006/main">
              <a:ext uri="{FF2B5EF4-FFF2-40B4-BE49-F238E27FC236}">
                <a16:creationId xmlns:a16="http://schemas.microsoft.com/office/drawing/2014/main" id="{15201B86-54DE-4AC8-9100-A0A97AABCBD6}"/>
              </a:ext>
            </a:extLst>
          </p:cNvPr>
          <p:cNvSpPr>
            <a:spLocks xmlns:a="http://schemas.openxmlformats.org/drawingml/2006/main" noGrp="1"/>
          </p:cNvSpPr>
          <p:nvPr/>
        </p:nvSpPr>
        <p:spPr>
          <a:xfrm xmlns:a="http://schemas.openxmlformats.org/drawingml/2006/main">
            <a:off x="6086475"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354D161E-3BC1-44F5-9346-242A85AC4D29}"/>
              </a:ext>
            </a:extLst>
          </p:cNvPr>
          <p:cNvSpPr>
            <a:spLocks xmlns:a="http://schemas.openxmlformats.org/drawingml/2006/main" noGrp="1"/>
          </p:cNvSpPr>
          <p:nvPr/>
        </p:nvSpPr>
        <p:spPr>
          <a:xfrm xmlns:a="http://schemas.openxmlformats.org/drawingml/2006/main">
            <a:off x="6238875" y="234315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Inregistrare multipla</a:t>
            </a:r>
          </a:p>
        </p:txBody>
      </p:sp>
      <p:sp>
        <p:nvSpPr>
          <p:cNvPr id="11" name="">
            <a:extLst xmlns:a="http://schemas.openxmlformats.org/drawingml/2006/main">
              <a:ext uri="{FF2B5EF4-FFF2-40B4-BE49-F238E27FC236}">
                <a16:creationId xmlns:a16="http://schemas.microsoft.com/office/drawing/2014/main" id="{915E3523-8C3F-492D-8077-82F819A30D79}"/>
              </a:ext>
            </a:extLst>
          </p:cNvPr>
          <p:cNvSpPr>
            <a:spLocks xmlns:a="http://schemas.openxmlformats.org/drawingml/2006/main" noGrp="1"/>
          </p:cNvSpPr>
          <p:nvPr/>
        </p:nvSpPr>
        <p:spPr>
          <a:xfrm xmlns:a="http://schemas.openxmlformats.org/drawingml/2006/main">
            <a:off x="6238875"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Selectezi `Multiplu`, stabilesti datele comune si numarul de documente ce trebuie create.</a:t>
            </a:r>
          </a:p>
        </p:txBody>
      </p:sp>
      <p:sp>
        <p:nvSpPr>
          <p:cNvPr id="12" name="">
            <a:extLst xmlns:a="http://schemas.openxmlformats.org/drawingml/2006/main">
              <a:ext uri="{FF2B5EF4-FFF2-40B4-BE49-F238E27FC236}">
                <a16:creationId xmlns:a16="http://schemas.microsoft.com/office/drawing/2014/main" id="{541EF1CA-7ADD-4680-A554-FF4DEDE61099}"/>
              </a:ext>
            </a:extLst>
          </p:cNvPr>
          <p:cNvSpPr>
            <a:spLocks xmlns:a="http://schemas.openxmlformats.org/drawingml/2006/main" noGrp="1"/>
          </p:cNvSpPr>
          <p:nvPr/>
        </p:nvSpPr>
        <p:spPr>
          <a:xfrm xmlns:a="http://schemas.openxmlformats.org/drawingml/2006/main">
            <a:off x="514350" y="401955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22C778D1-BFAB-4F74-8A9E-DFC1CF425CB9}"/>
              </a:ext>
            </a:extLst>
          </p:cNvPr>
          <p:cNvSpPr>
            <a:spLocks xmlns:a="http://schemas.openxmlformats.org/drawingml/2006/main" noGrp="1"/>
          </p:cNvSpPr>
          <p:nvPr/>
        </p:nvSpPr>
        <p:spPr>
          <a:xfrm xmlns:a="http://schemas.openxmlformats.org/drawingml/2006/main">
            <a:off x="666750" y="415290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Control ulterior</a:t>
            </a:r>
          </a:p>
        </p:txBody>
      </p:sp>
      <p:sp>
        <p:nvSpPr>
          <p:cNvPr id="14" name="">
            <a:extLst xmlns:a="http://schemas.openxmlformats.org/drawingml/2006/main">
              <a:ext uri="{FF2B5EF4-FFF2-40B4-BE49-F238E27FC236}">
                <a16:creationId xmlns:a16="http://schemas.microsoft.com/office/drawing/2014/main" id="{8B9FF43E-9044-4FAE-BA6C-6D0544E268EE}"/>
              </a:ext>
            </a:extLst>
          </p:cNvPr>
          <p:cNvSpPr>
            <a:spLocks xmlns:a="http://schemas.openxmlformats.org/drawingml/2006/main" noGrp="1"/>
          </p:cNvSpPr>
          <p:nvPr/>
        </p:nvSpPr>
        <p:spPr>
          <a:xfrm xmlns:a="http://schemas.openxmlformats.org/drawingml/2006/main">
            <a:off x="666750" y="451485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Dupa creare, fiecare document ramane editabil si poate primi legaturi, workflow sau arhivare.</a:t>
            </a:r>
          </a:p>
        </p:txBody>
      </p:sp>
      <p:sp>
        <p:nvSpPr>
          <p:cNvPr id="15" name="">
            <a:extLst xmlns:a="http://schemas.openxmlformats.org/drawingml/2006/main">
              <a:ext uri="{FF2B5EF4-FFF2-40B4-BE49-F238E27FC236}">
                <a16:creationId xmlns:a16="http://schemas.microsoft.com/office/drawing/2014/main" id="{E329E033-EF72-4435-811B-94653CC42D1E}"/>
              </a:ext>
            </a:extLst>
          </p:cNvPr>
          <p:cNvSpPr>
            <a:spLocks xmlns:a="http://schemas.openxmlformats.org/drawingml/2006/main" noGrp="1"/>
          </p:cNvSpPr>
          <p:nvPr/>
        </p:nvSpPr>
        <p:spPr>
          <a:xfrm xmlns:a="http://schemas.openxmlformats.org/drawingml/2006/main">
            <a:off x="514350" y="5676900"/>
            <a:ext cx="1085850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D6093E1C-9567-4EB5-9DCB-A8B10D2BB0A9}"/>
              </a:ext>
            </a:extLst>
          </p:cNvPr>
          <p:cNvSpPr>
            <a:spLocks xmlns:a="http://schemas.openxmlformats.org/drawingml/2006/main" noGrp="1"/>
          </p:cNvSpPr>
          <p:nvPr/>
        </p:nvSpPr>
        <p:spPr>
          <a:xfrm xmlns:a="http://schemas.openxmlformats.org/drawingml/2006/main">
            <a:off x="666750" y="5810250"/>
            <a:ext cx="1055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se foloseste in practica: Pentru documentele de iesire logica este aceeasi, dar destinatarul devine principal. Pentru loturi repetitive, butonul `Multiplu` accelereaza inregistrarea mai multor documente similare. Document de iesire: Selectezi `Iesire`, introduci subiectul, destinatarul si starea, apoi salvezi. Inregistrare multipla: Selectezi `Multiplu`, stabilesti datele comune si numarul de documente ce trebuie create. Control ulterior: Dupa creare, fiecare document ramane editabil si poate primi legaturi, workflow sau arhivare.</a:t>
            </a:r>
          </a:p>
        </p:txBody>
      </p:sp>
      <p:sp>
        <p:nvSpPr>
          <p:cNvPr id="17" name="">
            <a:extLst xmlns:a="http://schemas.openxmlformats.org/drawingml/2006/main">
              <a:ext uri="{FF2B5EF4-FFF2-40B4-BE49-F238E27FC236}">
                <a16:creationId xmlns:a16="http://schemas.microsoft.com/office/drawing/2014/main" id="{6568E32C-9A72-4C9E-8EE5-1A555361E189}"/>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8" name="">
            <a:extLst xmlns:a="http://schemas.openxmlformats.org/drawingml/2006/main">
              <a:ext uri="{FF2B5EF4-FFF2-40B4-BE49-F238E27FC236}">
                <a16:creationId xmlns:a16="http://schemas.microsoft.com/office/drawing/2014/main" id="{C2B9E16B-5EED-4B97-8A92-BE5E302FD44A}"/>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Registratura - iesire si loturi multiple</a:t>
            </a:r>
          </a:p>
        </p:txBody>
      </p:sp>
    </p:spTree>
    <p:extLst>
      <p:ext uri="{BB962C8B-B14F-4D97-AF65-F5344CB8AC3E}">
        <p14:creationId xmlns:p14="http://schemas.microsoft.com/office/powerpoint/2010/main" val="57453697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EFD9014-F566-44B9-B026-3D20C08E53D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28061520-C1A5-45D7-9EF9-26DCD4BE1D55}"/>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Registratura - formular</a:t>
            </a:r>
          </a:p>
        </p:txBody>
      </p:sp>
      <p:sp>
        <p:nvSpPr>
          <p:cNvPr id="3" name="">
            <a:extLst xmlns:a="http://schemas.openxmlformats.org/drawingml/2006/main">
              <a:ext uri="{FF2B5EF4-FFF2-40B4-BE49-F238E27FC236}">
                <a16:creationId xmlns:a16="http://schemas.microsoft.com/office/drawing/2014/main" id="{4E99E89D-8DBC-48B9-A672-861D5054BED4}"/>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Formularul de document nou</a:t>
            </a:r>
          </a:p>
        </p:txBody>
      </p:sp>
      <p:sp>
        <p:nvSpPr>
          <p:cNvPr id="4" name="">
            <a:extLst xmlns:a="http://schemas.openxmlformats.org/drawingml/2006/main">
              <a:ext uri="{FF2B5EF4-FFF2-40B4-BE49-F238E27FC236}">
                <a16:creationId xmlns:a16="http://schemas.microsoft.com/office/drawing/2014/main" id="{05CEA74E-3D63-4B87-A4F0-963557F9439A}"/>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10</a:t>
            </a:r>
          </a:p>
        </p:txBody>
      </p:sp>
      <p:sp>
        <p:nvSpPr>
          <p:cNvPr id="5" name="">
            <a:extLst xmlns:a="http://schemas.openxmlformats.org/drawingml/2006/main">
              <a:ext uri="{FF2B5EF4-FFF2-40B4-BE49-F238E27FC236}">
                <a16:creationId xmlns:a16="http://schemas.microsoft.com/office/drawing/2014/main" id="{26E66A8E-53AE-40AE-AF31-A33A65F75371}"/>
              </a:ext>
            </a:extLst>
          </p:cNvPr>
          <p:cNvSpPr>
            <a:spLocks xmlns:a="http://schemas.openxmlformats.org/drawingml/2006/main" noGrp="1"/>
          </p:cNvSpPr>
          <p:nvPr/>
        </p:nvSpPr>
        <p:spPr>
          <a:xfrm xmlns:a="http://schemas.openxmlformats.org/drawingml/2006/main">
            <a:off x="514350" y="114300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Formularul pentru document nou este simplu si direct. Toate campurile esentiale sunt intr-un singur ecran, fara pasi ascunsi.</a:t>
            </a:r>
          </a:p>
        </p:txBody>
      </p:sp>
      <p:sp>
        <p:nvSpPr>
          <p:cNvPr id="6" name="">
            <a:extLst xmlns:a="http://schemas.openxmlformats.org/drawingml/2006/main">
              <a:ext uri="{FF2B5EF4-FFF2-40B4-BE49-F238E27FC236}">
                <a16:creationId xmlns:a16="http://schemas.microsoft.com/office/drawing/2014/main" id="{E3B8A056-FB9F-4D33-919F-2EE99945D77C}"/>
              </a:ext>
            </a:extLst>
          </p:cNvPr>
          <p:cNvSpPr>
            <a:spLocks xmlns:a="http://schemas.openxmlformats.org/drawingml/2006/main" noGrp="1"/>
          </p:cNvSpPr>
          <p:nvPr/>
        </p:nvSpPr>
        <p:spPr>
          <a:xfrm xmlns:a="http://schemas.openxmlformats.org/drawingml/2006/main">
            <a:off x="514350" y="1981200"/>
            <a:ext cx="4095750" cy="224790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6CA7CE84-5933-49A9-9A89-EA1EA229B966}"/>
              </a:ext>
            </a:extLst>
          </p:cNvPr>
          <p:cNvSpPr>
            <a:spLocks xmlns:a="http://schemas.openxmlformats.org/drawingml/2006/main" noGrp="1"/>
          </p:cNvSpPr>
          <p:nvPr/>
        </p:nvSpPr>
        <p:spPr>
          <a:xfrm xmlns:a="http://schemas.openxmlformats.org/drawingml/2006/main">
            <a:off x="666750" y="21145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Ce face utilizatorul</a:t>
            </a:r>
          </a:p>
        </p:txBody>
      </p:sp>
      <p:sp>
        <p:nvSpPr>
          <p:cNvPr id="8" name="">
            <a:extLst xmlns:a="http://schemas.openxmlformats.org/drawingml/2006/main">
              <a:ext uri="{FF2B5EF4-FFF2-40B4-BE49-F238E27FC236}">
                <a16:creationId xmlns:a16="http://schemas.microsoft.com/office/drawing/2014/main" id="{E30B8971-84A8-41C9-A69B-645C9A03AD0B}"/>
              </a:ext>
            </a:extLst>
          </p:cNvPr>
          <p:cNvSpPr>
            <a:spLocks xmlns:a="http://schemas.openxmlformats.org/drawingml/2006/main" noGrp="1"/>
          </p:cNvSpPr>
          <p:nvPr/>
        </p:nvSpPr>
        <p:spPr>
          <a:xfrm xmlns:a="http://schemas.openxmlformats.org/drawingml/2006/main">
            <a:off x="666750" y="2476500"/>
            <a:ext cx="37909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Alegi registrul si tipul documentului.</a:t>
            </a:r>
          </a:p>
          <a:p xmlns:a="http://schemas.openxmlformats.org/drawingml/2006/main">
            <a:pPr>
              <a:defRPr sz="1125">
                <a:solidFill>
                  <a:srgbClr val="314158"/>
                </a:solidFill>
              </a:defRPr>
            </a:pPr>
            <a:r>
              <a:rPr sz="1125">
                <a:solidFill>
                  <a:srgbClr val="314158"/>
                </a:solidFill>
              </a:rPr>
              <a:t>• Completezi subiectul, directia si statusul initial.</a:t>
            </a:r>
          </a:p>
          <a:p xmlns:a="http://schemas.openxmlformats.org/drawingml/2006/main">
            <a:pPr>
              <a:defRPr sz="1125">
                <a:solidFill>
                  <a:srgbClr val="314158"/>
                </a:solidFill>
              </a:defRPr>
            </a:pPr>
            <a:r>
              <a:rPr sz="1125">
                <a:solidFill>
                  <a:srgbClr val="314158"/>
                </a:solidFill>
              </a:rPr>
              <a:t>• Adaugi emitentul, destinatarul, termenul si rezumatul.</a:t>
            </a:r>
          </a:p>
          <a:p xmlns:a="http://schemas.openxmlformats.org/drawingml/2006/main">
            <a:pPr>
              <a:defRPr sz="1125">
                <a:solidFill>
                  <a:srgbClr val="314158"/>
                </a:solidFill>
              </a:defRPr>
            </a:pPr>
            <a:r>
              <a:rPr sz="1125">
                <a:solidFill>
                  <a:srgbClr val="314158"/>
                </a:solidFill>
              </a:rPr>
              <a:t>• Salvezi pentru a genera documentul in registratura.</a:t>
            </a:r>
          </a:p>
        </p:txBody>
      </p:sp>
      <p:sp>
        <p:nvSpPr>
          <p:cNvPr id="9" name="">
            <a:extLst xmlns:a="http://schemas.openxmlformats.org/drawingml/2006/main">
              <a:ext uri="{FF2B5EF4-FFF2-40B4-BE49-F238E27FC236}">
                <a16:creationId xmlns:a16="http://schemas.microsoft.com/office/drawing/2014/main" id="{75983296-594E-4119-985B-4ECEF21773F0}"/>
              </a:ext>
            </a:extLst>
          </p:cNvPr>
          <p:cNvSpPr>
            <a:spLocks xmlns:a="http://schemas.openxmlformats.org/drawingml/2006/main" noGrp="1"/>
          </p:cNvSpPr>
          <p:nvPr/>
        </p:nvSpPr>
        <p:spPr>
          <a:xfrm xmlns:a="http://schemas.openxmlformats.org/drawingml/2006/main">
            <a:off x="514350" y="4381500"/>
            <a:ext cx="4095750" cy="11430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2B1C2FF5-1485-4C88-BFD0-53C16845A123}"/>
              </a:ext>
            </a:extLst>
          </p:cNvPr>
          <p:cNvSpPr>
            <a:spLocks xmlns:a="http://schemas.openxmlformats.org/drawingml/2006/main" noGrp="1"/>
          </p:cNvSpPr>
          <p:nvPr/>
        </p:nvSpPr>
        <p:spPr>
          <a:xfrm xmlns:a="http://schemas.openxmlformats.org/drawingml/2006/main">
            <a:off x="666750" y="451485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Cum se foloseste ecranul</a:t>
            </a:r>
          </a:p>
        </p:txBody>
      </p:sp>
      <p:sp>
        <p:nvSpPr>
          <p:cNvPr id="11" name="">
            <a:extLst xmlns:a="http://schemas.openxmlformats.org/drawingml/2006/main">
              <a:ext uri="{FF2B5EF4-FFF2-40B4-BE49-F238E27FC236}">
                <a16:creationId xmlns:a16="http://schemas.microsoft.com/office/drawing/2014/main" id="{07D3A0F0-17EB-4ECF-B779-FC7FD60DEA4A}"/>
              </a:ext>
            </a:extLst>
          </p:cNvPr>
          <p:cNvSpPr>
            <a:spLocks xmlns:a="http://schemas.openxmlformats.org/drawingml/2006/main" noGrp="1"/>
          </p:cNvSpPr>
          <p:nvPr/>
        </p:nvSpPr>
        <p:spPr>
          <a:xfrm xmlns:a="http://schemas.openxmlformats.org/drawingml/2006/main">
            <a:off x="666750" y="4876800"/>
            <a:ext cx="3790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Utilizatorul porneste din acest ecran, completeaza informatiile necesare si verifica sumarul inainte de a salva sau de a trimite fluxul mai departe. La final, rezultatul este un document inregistrat, pregatit pentru lucru, traseu si raportare.</a:t>
            </a:r>
          </a:p>
        </p:txBody>
      </p:sp>
      <p:sp>
        <p:nvSpPr>
          <p:cNvPr id="12" name="">
            <a:extLst xmlns:a="http://schemas.openxmlformats.org/drawingml/2006/main">
              <a:ext uri="{FF2B5EF4-FFF2-40B4-BE49-F238E27FC236}">
                <a16:creationId xmlns:a16="http://schemas.microsoft.com/office/drawing/2014/main" id="{6F0F5AAB-7A1E-42FC-8C56-58C6477B1879}"/>
              </a:ext>
            </a:extLst>
          </p:cNvPr>
          <p:cNvSpPr>
            <a:spLocks xmlns:a="http://schemas.openxmlformats.org/drawingml/2006/main" noGrp="1"/>
          </p:cNvSpPr>
          <p:nvPr/>
        </p:nvSpPr>
        <p:spPr>
          <a:xfrm xmlns:a="http://schemas.openxmlformats.org/drawingml/2006/main">
            <a:off x="514350" y="5657850"/>
            <a:ext cx="409575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7EA8B33F-239C-42C7-B687-5C732304C5C0}"/>
              </a:ext>
            </a:extLst>
          </p:cNvPr>
          <p:cNvSpPr>
            <a:spLocks xmlns:a="http://schemas.openxmlformats.org/drawingml/2006/main" noGrp="1"/>
          </p:cNvSpPr>
          <p:nvPr/>
        </p:nvSpPr>
        <p:spPr>
          <a:xfrm xmlns:a="http://schemas.openxmlformats.org/drawingml/2006/main">
            <a:off x="666750" y="5791200"/>
            <a:ext cx="3790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Rezultat final: Rezultatul este un document inregistrat, pregatit pentru lucru, traseu si raportare.</a:t>
            </a:r>
          </a:p>
        </p:txBody>
      </p:sp>
      <p:sp>
        <p:nvSpPr>
          <p:cNvPr id="14" name="">
            <a:extLst xmlns:a="http://schemas.openxmlformats.org/drawingml/2006/main">
              <a:ext uri="{FF2B5EF4-FFF2-40B4-BE49-F238E27FC236}">
                <a16:creationId xmlns:a16="http://schemas.microsoft.com/office/drawing/2014/main" id="{3922AB00-4090-4EAC-A56A-89C2AD2D0C27}"/>
              </a:ext>
            </a:extLst>
          </p:cNvPr>
          <p:cNvSpPr>
            <a:spLocks xmlns:a="http://schemas.openxmlformats.org/drawingml/2006/main" noGrp="1"/>
          </p:cNvSpPr>
          <p:nvPr/>
        </p:nvSpPr>
        <p:spPr>
          <a:xfrm xmlns:a="http://schemas.openxmlformats.org/drawingml/2006/main">
            <a:off x="4895850" y="1981200"/>
            <a:ext cx="6610350" cy="37338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88b1a2d325334a5a"/>
          <a:stretch xmlns:a="http://schemas.openxmlformats.org/drawingml/2006/main"/>
        </p:blipFill>
        <p:spPr>
          <a:xfrm xmlns:a="http://schemas.openxmlformats.org/drawingml/2006/main">
            <a:off x="5085292" y="2095500"/>
            <a:ext cx="6231467" cy="3505200"/>
          </a:xfrm>
          <a:prstGeom xmlns:a="http://schemas.openxmlformats.org/drawingml/2006/main" prst="roundRect">
            <a:avLst>
              <a:gd name="adj" fmla="val 3261"/>
            </a:avLst>
          </a:prstGeom>
        </p:spPr>
      </p:pic>
      <p:sp>
        <p:nvSpPr>
          <p:cNvPr id="16" name="">
            <a:extLst xmlns:a="http://schemas.openxmlformats.org/drawingml/2006/main">
              <a:ext uri="{FF2B5EF4-FFF2-40B4-BE49-F238E27FC236}">
                <a16:creationId xmlns:a16="http://schemas.microsoft.com/office/drawing/2014/main" id="{5A3CBDC5-22F1-4DAB-B06E-999B8580B19C}"/>
              </a:ext>
            </a:extLst>
          </p:cNvPr>
          <p:cNvSpPr>
            <a:spLocks xmlns:a="http://schemas.openxmlformats.org/drawingml/2006/main" noGrp="1"/>
          </p:cNvSpPr>
          <p:nvPr/>
        </p:nvSpPr>
        <p:spPr>
          <a:xfrm xmlns:a="http://schemas.openxmlformats.org/drawingml/2006/main">
            <a:off x="4895850" y="5772150"/>
            <a:ext cx="6610350" cy="476250"/>
          </a:xfrm>
          <a:prstGeom xmlns:a="http://schemas.openxmlformats.org/drawingml/2006/main" prst="roundRect">
            <a:avLst>
              <a:gd name="adj" fmla="val 32000"/>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1B372667-E205-4F72-BEB2-8E69A4B67093}"/>
              </a:ext>
            </a:extLst>
          </p:cNvPr>
          <p:cNvSpPr>
            <a:spLocks xmlns:a="http://schemas.openxmlformats.org/drawingml/2006/main" noGrp="1"/>
          </p:cNvSpPr>
          <p:nvPr/>
        </p:nvSpPr>
        <p:spPr>
          <a:xfrm xmlns:a="http://schemas.openxmlformats.org/drawingml/2006/main">
            <a:off x="5048250" y="5905500"/>
            <a:ext cx="6305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Ce observi in captura: Captura prezinta ecranul real folosit de utilizator in formularul de document nou, cu zonele de lista, filtrare, completare si actiune vizibile exact asa cum apar in aplicatie.</a:t>
            </a:r>
          </a:p>
        </p:txBody>
      </p:sp>
      <p:sp>
        <p:nvSpPr>
          <p:cNvPr id="18" name="">
            <a:extLst xmlns:a="http://schemas.openxmlformats.org/drawingml/2006/main">
              <a:ext uri="{FF2B5EF4-FFF2-40B4-BE49-F238E27FC236}">
                <a16:creationId xmlns:a16="http://schemas.microsoft.com/office/drawing/2014/main" id="{124A9A3C-D2A2-4F1F-ADEB-5293D51FD5D3}"/>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9" name="">
            <a:extLst xmlns:a="http://schemas.openxmlformats.org/drawingml/2006/main">
              <a:ext uri="{FF2B5EF4-FFF2-40B4-BE49-F238E27FC236}">
                <a16:creationId xmlns:a16="http://schemas.microsoft.com/office/drawing/2014/main" id="{95DA6705-D7BE-4BD8-8704-3D3301D1D6F0}"/>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Registratura - formular document</a:t>
            </a:r>
          </a:p>
        </p:txBody>
      </p:sp>
    </p:spTree>
    <p:extLst>
      <p:ext uri="{BB962C8B-B14F-4D97-AF65-F5344CB8AC3E}">
        <p14:creationId xmlns:p14="http://schemas.microsoft.com/office/powerpoint/2010/main" val="40952434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BF24A9F-F5BD-42D3-B1DE-0974E08E4D3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22B7615A-1345-46DB-B503-588EAFB949C3}"/>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Registratura - consultare</a:t>
            </a:r>
          </a:p>
        </p:txBody>
      </p:sp>
      <p:sp>
        <p:nvSpPr>
          <p:cNvPr id="3" name="">
            <a:extLst xmlns:a="http://schemas.openxmlformats.org/drawingml/2006/main">
              <a:ext uri="{FF2B5EF4-FFF2-40B4-BE49-F238E27FC236}">
                <a16:creationId xmlns:a16="http://schemas.microsoft.com/office/drawing/2014/main" id="{137C06D6-26EB-474C-9A55-8C357618F41B}"/>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Detaliul unui document</a:t>
            </a:r>
          </a:p>
        </p:txBody>
      </p:sp>
      <p:sp>
        <p:nvSpPr>
          <p:cNvPr id="4" name="">
            <a:extLst xmlns:a="http://schemas.openxmlformats.org/drawingml/2006/main">
              <a:ext uri="{FF2B5EF4-FFF2-40B4-BE49-F238E27FC236}">
                <a16:creationId xmlns:a16="http://schemas.microsoft.com/office/drawing/2014/main" id="{CE00954C-78A1-4A76-A24B-3C1D6F50B0F2}"/>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11</a:t>
            </a:r>
          </a:p>
        </p:txBody>
      </p:sp>
      <p:sp>
        <p:nvSpPr>
          <p:cNvPr id="5" name="">
            <a:extLst xmlns:a="http://schemas.openxmlformats.org/drawingml/2006/main">
              <a:ext uri="{FF2B5EF4-FFF2-40B4-BE49-F238E27FC236}">
                <a16:creationId xmlns:a16="http://schemas.microsoft.com/office/drawing/2014/main" id="{A2BBA0F3-40A2-49CA-833F-D8B6EA0C5109}"/>
              </a:ext>
            </a:extLst>
          </p:cNvPr>
          <p:cNvSpPr>
            <a:spLocks xmlns:a="http://schemas.openxmlformats.org/drawingml/2006/main" noGrp="1"/>
          </p:cNvSpPr>
          <p:nvPr/>
        </p:nvSpPr>
        <p:spPr>
          <a:xfrm xmlns:a="http://schemas.openxmlformats.org/drawingml/2006/main">
            <a:off x="514350" y="114300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Pagina de detaliu aduna intr-un singur loc toate informatiile utile: datele documentului, versiuni, atasamente si legaturi catre alte documente.</a:t>
            </a:r>
          </a:p>
        </p:txBody>
      </p:sp>
      <p:sp>
        <p:nvSpPr>
          <p:cNvPr id="6" name="">
            <a:extLst xmlns:a="http://schemas.openxmlformats.org/drawingml/2006/main">
              <a:ext uri="{FF2B5EF4-FFF2-40B4-BE49-F238E27FC236}">
                <a16:creationId xmlns:a16="http://schemas.microsoft.com/office/drawing/2014/main" id="{5DC13285-A6B0-4CA5-8544-AE4DEB112723}"/>
              </a:ext>
            </a:extLst>
          </p:cNvPr>
          <p:cNvSpPr>
            <a:spLocks xmlns:a="http://schemas.openxmlformats.org/drawingml/2006/main" noGrp="1"/>
          </p:cNvSpPr>
          <p:nvPr/>
        </p:nvSpPr>
        <p:spPr>
          <a:xfrm xmlns:a="http://schemas.openxmlformats.org/drawingml/2006/main">
            <a:off x="514350" y="1981200"/>
            <a:ext cx="4095750" cy="224790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3A04E088-BCB8-471B-A8A4-5A4988C62162}"/>
              </a:ext>
            </a:extLst>
          </p:cNvPr>
          <p:cNvSpPr>
            <a:spLocks xmlns:a="http://schemas.openxmlformats.org/drawingml/2006/main" noGrp="1"/>
          </p:cNvSpPr>
          <p:nvPr/>
        </p:nvSpPr>
        <p:spPr>
          <a:xfrm xmlns:a="http://schemas.openxmlformats.org/drawingml/2006/main">
            <a:off x="666750" y="21145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Ce face utilizatorul</a:t>
            </a:r>
          </a:p>
        </p:txBody>
      </p:sp>
      <p:sp>
        <p:nvSpPr>
          <p:cNvPr id="8" name="">
            <a:extLst xmlns:a="http://schemas.openxmlformats.org/drawingml/2006/main">
              <a:ext uri="{FF2B5EF4-FFF2-40B4-BE49-F238E27FC236}">
                <a16:creationId xmlns:a16="http://schemas.microsoft.com/office/drawing/2014/main" id="{A2242FCF-B381-48A2-B2A3-C6DA47E19144}"/>
              </a:ext>
            </a:extLst>
          </p:cNvPr>
          <p:cNvSpPr>
            <a:spLocks xmlns:a="http://schemas.openxmlformats.org/drawingml/2006/main" noGrp="1"/>
          </p:cNvSpPr>
          <p:nvPr/>
        </p:nvSpPr>
        <p:spPr>
          <a:xfrm xmlns:a="http://schemas.openxmlformats.org/drawingml/2006/main">
            <a:off x="666750" y="2476500"/>
            <a:ext cx="37909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Verifici numarul, registrul, tipul si starea documentului.</a:t>
            </a:r>
          </a:p>
          <a:p xmlns:a="http://schemas.openxmlformats.org/drawingml/2006/main">
            <a:pPr>
              <a:defRPr sz="1125">
                <a:solidFill>
                  <a:srgbClr val="314158"/>
                </a:solidFill>
              </a:defRPr>
            </a:pPr>
            <a:r>
              <a:rPr sz="1125">
                <a:solidFill>
                  <a:srgbClr val="314158"/>
                </a:solidFill>
              </a:rPr>
              <a:t>• Consulti rezumatul si termenul de raspuns.</a:t>
            </a:r>
          </a:p>
          <a:p xmlns:a="http://schemas.openxmlformats.org/drawingml/2006/main">
            <a:pPr>
              <a:defRPr sz="1125">
                <a:solidFill>
                  <a:srgbClr val="314158"/>
                </a:solidFill>
              </a:defRPr>
            </a:pPr>
            <a:r>
              <a:rPr sz="1125">
                <a:solidFill>
                  <a:srgbClr val="314158"/>
                </a:solidFill>
              </a:rPr>
              <a:t>• Deschizi istoricul de versiuni, atasamentele si legaturile existente.</a:t>
            </a:r>
          </a:p>
          <a:p xmlns:a="http://schemas.openxmlformats.org/drawingml/2006/main">
            <a:pPr>
              <a:defRPr sz="1125">
                <a:solidFill>
                  <a:srgbClr val="314158"/>
                </a:solidFill>
              </a:defRPr>
            </a:pPr>
            <a:r>
              <a:rPr sz="1125">
                <a:solidFill>
                  <a:srgbClr val="314158"/>
                </a:solidFill>
              </a:rPr>
              <a:t>• Pornesti actiuni precum Editare, Task workflow sau Arhiveaza.</a:t>
            </a:r>
          </a:p>
        </p:txBody>
      </p:sp>
      <p:sp>
        <p:nvSpPr>
          <p:cNvPr id="9" name="">
            <a:extLst xmlns:a="http://schemas.openxmlformats.org/drawingml/2006/main">
              <a:ext uri="{FF2B5EF4-FFF2-40B4-BE49-F238E27FC236}">
                <a16:creationId xmlns:a16="http://schemas.microsoft.com/office/drawing/2014/main" id="{912D728F-9834-4430-9712-668F0A6CE996}"/>
              </a:ext>
            </a:extLst>
          </p:cNvPr>
          <p:cNvSpPr>
            <a:spLocks xmlns:a="http://schemas.openxmlformats.org/drawingml/2006/main" noGrp="1"/>
          </p:cNvSpPr>
          <p:nvPr/>
        </p:nvSpPr>
        <p:spPr>
          <a:xfrm xmlns:a="http://schemas.openxmlformats.org/drawingml/2006/main">
            <a:off x="514350" y="4381500"/>
            <a:ext cx="4095750" cy="11430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D0EF5709-7E12-49CD-A868-A88766C247AE}"/>
              </a:ext>
            </a:extLst>
          </p:cNvPr>
          <p:cNvSpPr>
            <a:spLocks xmlns:a="http://schemas.openxmlformats.org/drawingml/2006/main" noGrp="1"/>
          </p:cNvSpPr>
          <p:nvPr/>
        </p:nvSpPr>
        <p:spPr>
          <a:xfrm xmlns:a="http://schemas.openxmlformats.org/drawingml/2006/main">
            <a:off x="666750" y="451485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Cum se foloseste ecranul</a:t>
            </a:r>
          </a:p>
        </p:txBody>
      </p:sp>
      <p:sp>
        <p:nvSpPr>
          <p:cNvPr id="11" name="">
            <a:extLst xmlns:a="http://schemas.openxmlformats.org/drawingml/2006/main">
              <a:ext uri="{FF2B5EF4-FFF2-40B4-BE49-F238E27FC236}">
                <a16:creationId xmlns:a16="http://schemas.microsoft.com/office/drawing/2014/main" id="{007BB633-F5C0-47E0-A726-7F04E857137B}"/>
              </a:ext>
            </a:extLst>
          </p:cNvPr>
          <p:cNvSpPr>
            <a:spLocks xmlns:a="http://schemas.openxmlformats.org/drawingml/2006/main" noGrp="1"/>
          </p:cNvSpPr>
          <p:nvPr/>
        </p:nvSpPr>
        <p:spPr>
          <a:xfrm xmlns:a="http://schemas.openxmlformats.org/drawingml/2006/main">
            <a:off x="666750" y="4876800"/>
            <a:ext cx="3790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Utilizatorul porneste din acest ecran, completeaza informatiile necesare si verifica sumarul inainte de a salva sau de a trimite fluxul mai departe. La final, ai control complet asupra documentului si poti continua fluxul fara sa cauti informatia in alte ecrane.</a:t>
            </a:r>
          </a:p>
        </p:txBody>
      </p:sp>
      <p:sp>
        <p:nvSpPr>
          <p:cNvPr id="12" name="">
            <a:extLst xmlns:a="http://schemas.openxmlformats.org/drawingml/2006/main">
              <a:ext uri="{FF2B5EF4-FFF2-40B4-BE49-F238E27FC236}">
                <a16:creationId xmlns:a16="http://schemas.microsoft.com/office/drawing/2014/main" id="{7B4D70BF-993A-4F06-96DF-95E084BBB761}"/>
              </a:ext>
            </a:extLst>
          </p:cNvPr>
          <p:cNvSpPr>
            <a:spLocks xmlns:a="http://schemas.openxmlformats.org/drawingml/2006/main" noGrp="1"/>
          </p:cNvSpPr>
          <p:nvPr/>
        </p:nvSpPr>
        <p:spPr>
          <a:xfrm xmlns:a="http://schemas.openxmlformats.org/drawingml/2006/main">
            <a:off x="514350" y="5657850"/>
            <a:ext cx="409575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3F95AF62-BDBF-49F3-BD1A-904F0BE803EE}"/>
              </a:ext>
            </a:extLst>
          </p:cNvPr>
          <p:cNvSpPr>
            <a:spLocks xmlns:a="http://schemas.openxmlformats.org/drawingml/2006/main" noGrp="1"/>
          </p:cNvSpPr>
          <p:nvPr/>
        </p:nvSpPr>
        <p:spPr>
          <a:xfrm xmlns:a="http://schemas.openxmlformats.org/drawingml/2006/main">
            <a:off x="666750" y="5791200"/>
            <a:ext cx="3790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Rezultat final: Ai control complet asupra documentului si poti continua fluxul fara sa cauti informatia in alte ecrane.</a:t>
            </a:r>
          </a:p>
        </p:txBody>
      </p:sp>
      <p:sp>
        <p:nvSpPr>
          <p:cNvPr id="14" name="">
            <a:extLst xmlns:a="http://schemas.openxmlformats.org/drawingml/2006/main">
              <a:ext uri="{FF2B5EF4-FFF2-40B4-BE49-F238E27FC236}">
                <a16:creationId xmlns:a16="http://schemas.microsoft.com/office/drawing/2014/main" id="{CEB1A9DE-BC39-44CD-B6C0-DC4BBE171E24}"/>
              </a:ext>
            </a:extLst>
          </p:cNvPr>
          <p:cNvSpPr>
            <a:spLocks xmlns:a="http://schemas.openxmlformats.org/drawingml/2006/main" noGrp="1"/>
          </p:cNvSpPr>
          <p:nvPr/>
        </p:nvSpPr>
        <p:spPr>
          <a:xfrm xmlns:a="http://schemas.openxmlformats.org/drawingml/2006/main">
            <a:off x="4895850" y="1981200"/>
            <a:ext cx="6610350" cy="37338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0f0606120d534a8d"/>
          <a:stretch xmlns:a="http://schemas.openxmlformats.org/drawingml/2006/main"/>
        </p:blipFill>
        <p:spPr>
          <a:xfrm xmlns:a="http://schemas.openxmlformats.org/drawingml/2006/main">
            <a:off x="5085292" y="2095500"/>
            <a:ext cx="6231467" cy="3505200"/>
          </a:xfrm>
          <a:prstGeom xmlns:a="http://schemas.openxmlformats.org/drawingml/2006/main" prst="roundRect">
            <a:avLst>
              <a:gd name="adj" fmla="val 3261"/>
            </a:avLst>
          </a:prstGeom>
        </p:spPr>
      </p:pic>
      <p:sp>
        <p:nvSpPr>
          <p:cNvPr id="16" name="">
            <a:extLst xmlns:a="http://schemas.openxmlformats.org/drawingml/2006/main">
              <a:ext uri="{FF2B5EF4-FFF2-40B4-BE49-F238E27FC236}">
                <a16:creationId xmlns:a16="http://schemas.microsoft.com/office/drawing/2014/main" id="{C62CC29F-00C2-40E8-9D9C-ED9D5EB619BA}"/>
              </a:ext>
            </a:extLst>
          </p:cNvPr>
          <p:cNvSpPr>
            <a:spLocks xmlns:a="http://schemas.openxmlformats.org/drawingml/2006/main" noGrp="1"/>
          </p:cNvSpPr>
          <p:nvPr/>
        </p:nvSpPr>
        <p:spPr>
          <a:xfrm xmlns:a="http://schemas.openxmlformats.org/drawingml/2006/main">
            <a:off x="4895850" y="5772150"/>
            <a:ext cx="6610350" cy="476250"/>
          </a:xfrm>
          <a:prstGeom xmlns:a="http://schemas.openxmlformats.org/drawingml/2006/main" prst="roundRect">
            <a:avLst>
              <a:gd name="adj" fmla="val 32000"/>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6CBBA421-9724-4687-A2ED-E756FE4870D0}"/>
              </a:ext>
            </a:extLst>
          </p:cNvPr>
          <p:cNvSpPr>
            <a:spLocks xmlns:a="http://schemas.openxmlformats.org/drawingml/2006/main" noGrp="1"/>
          </p:cNvSpPr>
          <p:nvPr/>
        </p:nvSpPr>
        <p:spPr>
          <a:xfrm xmlns:a="http://schemas.openxmlformats.org/drawingml/2006/main">
            <a:off x="5048250" y="5905500"/>
            <a:ext cx="6305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Ce observi in captura: Captura prezinta ecranul real folosit de utilizator in detaliul unui document, cu zonele de lista, filtrare, completare si actiune vizibile exact asa cum apar in aplicatie.</a:t>
            </a:r>
          </a:p>
        </p:txBody>
      </p:sp>
      <p:sp>
        <p:nvSpPr>
          <p:cNvPr id="18" name="">
            <a:extLst xmlns:a="http://schemas.openxmlformats.org/drawingml/2006/main">
              <a:ext uri="{FF2B5EF4-FFF2-40B4-BE49-F238E27FC236}">
                <a16:creationId xmlns:a16="http://schemas.microsoft.com/office/drawing/2014/main" id="{DD35977A-CD1D-44D0-9CCE-F38540422442}"/>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9" name="">
            <a:extLst xmlns:a="http://schemas.openxmlformats.org/drawingml/2006/main">
              <a:ext uri="{FF2B5EF4-FFF2-40B4-BE49-F238E27FC236}">
                <a16:creationId xmlns:a16="http://schemas.microsoft.com/office/drawing/2014/main" id="{7EB00BEA-B1A0-4FE4-99E9-955BDA8607DF}"/>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Registratura - detaliu document</a:t>
            </a:r>
          </a:p>
        </p:txBody>
      </p:sp>
    </p:spTree>
    <p:extLst>
      <p:ext uri="{BB962C8B-B14F-4D97-AF65-F5344CB8AC3E}">
        <p14:creationId xmlns:p14="http://schemas.microsoft.com/office/powerpoint/2010/main" val="91943170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F4DF55A-6C22-4B8A-AED1-F655CD68C3A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43000E3F-D9A9-42F7-A8B8-82CC270753FB}"/>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Registratura si flux</a:t>
            </a:r>
          </a:p>
        </p:txBody>
      </p:sp>
      <p:sp>
        <p:nvSpPr>
          <p:cNvPr id="3" name="">
            <a:extLst xmlns:a="http://schemas.openxmlformats.org/drawingml/2006/main">
              <a:ext uri="{FF2B5EF4-FFF2-40B4-BE49-F238E27FC236}">
                <a16:creationId xmlns:a16="http://schemas.microsoft.com/office/drawing/2014/main" id="{8A96756D-3F11-46C7-ABA9-E817740CBADE}"/>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Cum trimiti un document in workflow</a:t>
            </a:r>
          </a:p>
        </p:txBody>
      </p:sp>
      <p:sp>
        <p:nvSpPr>
          <p:cNvPr id="4" name="">
            <a:extLst xmlns:a="http://schemas.openxmlformats.org/drawingml/2006/main">
              <a:ext uri="{FF2B5EF4-FFF2-40B4-BE49-F238E27FC236}">
                <a16:creationId xmlns:a16="http://schemas.microsoft.com/office/drawing/2014/main" id="{68315A00-CDC3-4C09-81BB-B0E5AB393871}"/>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12</a:t>
            </a:r>
          </a:p>
        </p:txBody>
      </p:sp>
      <p:sp>
        <p:nvSpPr>
          <p:cNvPr id="5" name="">
            <a:extLst xmlns:a="http://schemas.openxmlformats.org/drawingml/2006/main">
              <a:ext uri="{FF2B5EF4-FFF2-40B4-BE49-F238E27FC236}">
                <a16:creationId xmlns:a16="http://schemas.microsoft.com/office/drawing/2014/main" id="{605A2420-184E-4741-97AD-3B80CE5E3F0E}"/>
              </a:ext>
            </a:extLst>
          </p:cNvPr>
          <p:cNvSpPr>
            <a:spLocks xmlns:a="http://schemas.openxmlformats.org/drawingml/2006/main" noGrp="1"/>
          </p:cNvSpPr>
          <p:nvPr/>
        </p:nvSpPr>
        <p:spPr>
          <a:xfrm xmlns:a="http://schemas.openxmlformats.org/drawingml/2006/main">
            <a:off x="514350" y="1181100"/>
            <a:ext cx="10858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314158"/>
                </a:solidFill>
              </a:defRPr>
            </a:pPr>
            <a:r>
              <a:rPr sz="1275">
                <a:solidFill>
                  <a:srgbClr val="314158"/>
                </a:solidFill>
              </a:rPr>
              <a:t>Taskurile de workflow pornesc direct din detaliul documentului. Astfel, documentul ramane sursa unica de adevar, iar procesul de lucru este legat clar de inregistrarea oficiala.</a:t>
            </a:r>
          </a:p>
        </p:txBody>
      </p:sp>
      <p:sp>
        <p:nvSpPr>
          <p:cNvPr id="6" name="">
            <a:extLst xmlns:a="http://schemas.openxmlformats.org/drawingml/2006/main">
              <a:ext uri="{FF2B5EF4-FFF2-40B4-BE49-F238E27FC236}">
                <a16:creationId xmlns:a16="http://schemas.microsoft.com/office/drawing/2014/main" id="{CFF432A9-098E-409A-A22E-95E78AA34081}"/>
              </a:ext>
            </a:extLst>
          </p:cNvPr>
          <p:cNvSpPr>
            <a:spLocks xmlns:a="http://schemas.openxmlformats.org/drawingml/2006/main" noGrp="1"/>
          </p:cNvSpPr>
          <p:nvPr/>
        </p:nvSpPr>
        <p:spPr>
          <a:xfrm xmlns:a="http://schemas.openxmlformats.org/drawingml/2006/main">
            <a:off x="514350"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00805247-32D5-4E5E-B5AE-A4441E5A3026}"/>
              </a:ext>
            </a:extLst>
          </p:cNvPr>
          <p:cNvSpPr>
            <a:spLocks xmlns:a="http://schemas.openxmlformats.org/drawingml/2006/main" noGrp="1"/>
          </p:cNvSpPr>
          <p:nvPr/>
        </p:nvSpPr>
        <p:spPr>
          <a:xfrm xmlns:a="http://schemas.openxmlformats.org/drawingml/2006/main">
            <a:off x="666750" y="23431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Deschidere</a:t>
            </a:r>
          </a:p>
        </p:txBody>
      </p:sp>
      <p:sp>
        <p:nvSpPr>
          <p:cNvPr id="8" name="">
            <a:extLst xmlns:a="http://schemas.openxmlformats.org/drawingml/2006/main">
              <a:ext uri="{FF2B5EF4-FFF2-40B4-BE49-F238E27FC236}">
                <a16:creationId xmlns:a16="http://schemas.microsoft.com/office/drawing/2014/main" id="{BE5821EA-9E55-446D-A6E3-04FD800A8E13}"/>
              </a:ext>
            </a:extLst>
          </p:cNvPr>
          <p:cNvSpPr>
            <a:spLocks xmlns:a="http://schemas.openxmlformats.org/drawingml/2006/main" noGrp="1"/>
          </p:cNvSpPr>
          <p:nvPr/>
        </p:nvSpPr>
        <p:spPr>
          <a:xfrm xmlns:a="http://schemas.openxmlformats.org/drawingml/2006/main">
            <a:off x="666750"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Din pagina documentului alegi `Task workflow`.</a:t>
            </a:r>
          </a:p>
        </p:txBody>
      </p:sp>
      <p:sp>
        <p:nvSpPr>
          <p:cNvPr id="9" name="">
            <a:extLst xmlns:a="http://schemas.openxmlformats.org/drawingml/2006/main">
              <a:ext uri="{FF2B5EF4-FFF2-40B4-BE49-F238E27FC236}">
                <a16:creationId xmlns:a16="http://schemas.microsoft.com/office/drawing/2014/main" id="{32EABF75-3E77-47C0-B437-C736DADA8AB0}"/>
              </a:ext>
            </a:extLst>
          </p:cNvPr>
          <p:cNvSpPr>
            <a:spLocks xmlns:a="http://schemas.openxmlformats.org/drawingml/2006/main" noGrp="1"/>
          </p:cNvSpPr>
          <p:nvPr/>
        </p:nvSpPr>
        <p:spPr>
          <a:xfrm xmlns:a="http://schemas.openxmlformats.org/drawingml/2006/main">
            <a:off x="6086475"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22427254-6484-4A01-A4AB-10B8A079935B}"/>
              </a:ext>
            </a:extLst>
          </p:cNvPr>
          <p:cNvSpPr>
            <a:spLocks xmlns:a="http://schemas.openxmlformats.org/drawingml/2006/main" noGrp="1"/>
          </p:cNvSpPr>
          <p:nvPr/>
        </p:nvSpPr>
        <p:spPr>
          <a:xfrm xmlns:a="http://schemas.openxmlformats.org/drawingml/2006/main">
            <a:off x="6238875" y="234315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Definitie</a:t>
            </a:r>
          </a:p>
        </p:txBody>
      </p:sp>
      <p:sp>
        <p:nvSpPr>
          <p:cNvPr id="11" name="">
            <a:extLst xmlns:a="http://schemas.openxmlformats.org/drawingml/2006/main">
              <a:ext uri="{FF2B5EF4-FFF2-40B4-BE49-F238E27FC236}">
                <a16:creationId xmlns:a16="http://schemas.microsoft.com/office/drawing/2014/main" id="{D43D6CB8-3681-4847-8621-582314FE0AE0}"/>
              </a:ext>
            </a:extLst>
          </p:cNvPr>
          <p:cNvSpPr>
            <a:spLocks xmlns:a="http://schemas.openxmlformats.org/drawingml/2006/main" noGrp="1"/>
          </p:cNvSpPr>
          <p:nvPr/>
        </p:nvSpPr>
        <p:spPr>
          <a:xfrm xmlns:a="http://schemas.openxmlformats.org/drawingml/2006/main">
            <a:off x="6238875"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Selectezi tipul fluxului, de exemplu aprobare document sau transfer spre arhiva.</a:t>
            </a:r>
          </a:p>
        </p:txBody>
      </p:sp>
      <p:sp>
        <p:nvSpPr>
          <p:cNvPr id="12" name="">
            <a:extLst xmlns:a="http://schemas.openxmlformats.org/drawingml/2006/main">
              <a:ext uri="{FF2B5EF4-FFF2-40B4-BE49-F238E27FC236}">
                <a16:creationId xmlns:a16="http://schemas.microsoft.com/office/drawing/2014/main" id="{99EA1A10-6B3D-4922-BAD7-5AE374A68776}"/>
              </a:ext>
            </a:extLst>
          </p:cNvPr>
          <p:cNvSpPr>
            <a:spLocks xmlns:a="http://schemas.openxmlformats.org/drawingml/2006/main" noGrp="1"/>
          </p:cNvSpPr>
          <p:nvPr/>
        </p:nvSpPr>
        <p:spPr>
          <a:xfrm xmlns:a="http://schemas.openxmlformats.org/drawingml/2006/main">
            <a:off x="514350" y="401955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7374C7CB-32F0-4C34-88AB-75B216D6AD1C}"/>
              </a:ext>
            </a:extLst>
          </p:cNvPr>
          <p:cNvSpPr>
            <a:spLocks xmlns:a="http://schemas.openxmlformats.org/drawingml/2006/main" noGrp="1"/>
          </p:cNvSpPr>
          <p:nvPr/>
        </p:nvSpPr>
        <p:spPr>
          <a:xfrm xmlns:a="http://schemas.openxmlformats.org/drawingml/2006/main">
            <a:off x="666750" y="415290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Prioritate</a:t>
            </a:r>
          </a:p>
        </p:txBody>
      </p:sp>
      <p:sp>
        <p:nvSpPr>
          <p:cNvPr id="14" name="">
            <a:extLst xmlns:a="http://schemas.openxmlformats.org/drawingml/2006/main">
              <a:ext uri="{FF2B5EF4-FFF2-40B4-BE49-F238E27FC236}">
                <a16:creationId xmlns:a16="http://schemas.microsoft.com/office/drawing/2014/main" id="{0BE36DFE-12E9-4AD5-AA3A-5E67FE09DBED}"/>
              </a:ext>
            </a:extLst>
          </p:cNvPr>
          <p:cNvSpPr>
            <a:spLocks xmlns:a="http://schemas.openxmlformats.org/drawingml/2006/main" noGrp="1"/>
          </p:cNvSpPr>
          <p:nvPr/>
        </p:nvSpPr>
        <p:spPr>
          <a:xfrm xmlns:a="http://schemas.openxmlformats.org/drawingml/2006/main">
            <a:off x="666750" y="451485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Stabilesti urgenta si rezumatul actiunii.</a:t>
            </a:r>
          </a:p>
        </p:txBody>
      </p:sp>
      <p:sp>
        <p:nvSpPr>
          <p:cNvPr id="15" name="">
            <a:extLst xmlns:a="http://schemas.openxmlformats.org/drawingml/2006/main">
              <a:ext uri="{FF2B5EF4-FFF2-40B4-BE49-F238E27FC236}">
                <a16:creationId xmlns:a16="http://schemas.microsoft.com/office/drawing/2014/main" id="{716CF2F2-256B-44E6-A50E-6F6A22CFB150}"/>
              </a:ext>
            </a:extLst>
          </p:cNvPr>
          <p:cNvSpPr>
            <a:spLocks xmlns:a="http://schemas.openxmlformats.org/drawingml/2006/main" noGrp="1"/>
          </p:cNvSpPr>
          <p:nvPr/>
        </p:nvSpPr>
        <p:spPr>
          <a:xfrm xmlns:a="http://schemas.openxmlformats.org/drawingml/2006/main">
            <a:off x="6086475" y="401955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1C68EB0A-79CD-4015-B844-EA1DFAE7431F}"/>
              </a:ext>
            </a:extLst>
          </p:cNvPr>
          <p:cNvSpPr>
            <a:spLocks xmlns:a="http://schemas.openxmlformats.org/drawingml/2006/main" noGrp="1"/>
          </p:cNvSpPr>
          <p:nvPr/>
        </p:nvSpPr>
        <p:spPr>
          <a:xfrm xmlns:a="http://schemas.openxmlformats.org/drawingml/2006/main">
            <a:off x="6238875" y="415290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Rezultat</a:t>
            </a:r>
          </a:p>
        </p:txBody>
      </p:sp>
      <p:sp>
        <p:nvSpPr>
          <p:cNvPr id="17" name="">
            <a:extLst xmlns:a="http://schemas.openxmlformats.org/drawingml/2006/main">
              <a:ext uri="{FF2B5EF4-FFF2-40B4-BE49-F238E27FC236}">
                <a16:creationId xmlns:a16="http://schemas.microsoft.com/office/drawing/2014/main" id="{72A80BD4-059C-4BE0-908C-6784C1FDFCF0}"/>
              </a:ext>
            </a:extLst>
          </p:cNvPr>
          <p:cNvSpPr>
            <a:spLocks xmlns:a="http://schemas.openxmlformats.org/drawingml/2006/main" noGrp="1"/>
          </p:cNvSpPr>
          <p:nvPr/>
        </p:nvSpPr>
        <p:spPr>
          <a:xfrm xmlns:a="http://schemas.openxmlformats.org/drawingml/2006/main">
            <a:off x="6238875" y="451485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Taskul apare in modulul Flux documente si poate fi urmarit pana la inchidere.</a:t>
            </a:r>
          </a:p>
        </p:txBody>
      </p:sp>
      <p:sp>
        <p:nvSpPr>
          <p:cNvPr id="18" name="">
            <a:extLst xmlns:a="http://schemas.openxmlformats.org/drawingml/2006/main">
              <a:ext uri="{FF2B5EF4-FFF2-40B4-BE49-F238E27FC236}">
                <a16:creationId xmlns:a16="http://schemas.microsoft.com/office/drawing/2014/main" id="{82ABCBE9-141E-4BD5-AD25-B9D2DE5AA013}"/>
              </a:ext>
            </a:extLst>
          </p:cNvPr>
          <p:cNvSpPr>
            <a:spLocks xmlns:a="http://schemas.openxmlformats.org/drawingml/2006/main" noGrp="1"/>
          </p:cNvSpPr>
          <p:nvPr/>
        </p:nvSpPr>
        <p:spPr>
          <a:xfrm xmlns:a="http://schemas.openxmlformats.org/drawingml/2006/main">
            <a:off x="514350" y="5676900"/>
            <a:ext cx="1085850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9" name="">
            <a:extLst xmlns:a="http://schemas.openxmlformats.org/drawingml/2006/main">
              <a:ext uri="{FF2B5EF4-FFF2-40B4-BE49-F238E27FC236}">
                <a16:creationId xmlns:a16="http://schemas.microsoft.com/office/drawing/2014/main" id="{9DD4EA6D-CCB0-4F83-A354-D338C50C1903}"/>
              </a:ext>
            </a:extLst>
          </p:cNvPr>
          <p:cNvSpPr>
            <a:spLocks xmlns:a="http://schemas.openxmlformats.org/drawingml/2006/main" noGrp="1"/>
          </p:cNvSpPr>
          <p:nvPr/>
        </p:nvSpPr>
        <p:spPr>
          <a:xfrm xmlns:a="http://schemas.openxmlformats.org/drawingml/2006/main">
            <a:off x="666750" y="5810250"/>
            <a:ext cx="1055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se foloseste in practica: Taskurile de workflow pornesc direct din detaliul documentului. Astfel, documentul ramane sursa unica de adevar, iar procesul de lucru este legat clar de inregistrarea oficiala. Deschidere: Din pagina documentului alegi `Task workflow`. Definitie: Selectezi tipul fluxului, de exemplu aprobare document sau transfer spre arhiva. Prioritate: Stabilesti urgenta si rezumatul actiunii. Rezultat: Taskul apare in modulul Flux documente si poate fi urmarit pana la inchidere.</a:t>
            </a:r>
          </a:p>
        </p:txBody>
      </p:sp>
      <p:sp>
        <p:nvSpPr>
          <p:cNvPr id="20" name="">
            <a:extLst xmlns:a="http://schemas.openxmlformats.org/drawingml/2006/main">
              <a:ext uri="{FF2B5EF4-FFF2-40B4-BE49-F238E27FC236}">
                <a16:creationId xmlns:a16="http://schemas.microsoft.com/office/drawing/2014/main" id="{3317BB3F-2D31-4412-8F63-EC5FA270E47F}"/>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21" name="">
            <a:extLst xmlns:a="http://schemas.openxmlformats.org/drawingml/2006/main">
              <a:ext uri="{FF2B5EF4-FFF2-40B4-BE49-F238E27FC236}">
                <a16:creationId xmlns:a16="http://schemas.microsoft.com/office/drawing/2014/main" id="{898431D2-19DE-4478-B374-9061AE99FFB3}"/>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Legatura dintre document si workflow</a:t>
            </a:r>
          </a:p>
        </p:txBody>
      </p:sp>
    </p:spTree>
    <p:extLst>
      <p:ext uri="{BB962C8B-B14F-4D97-AF65-F5344CB8AC3E}">
        <p14:creationId xmlns:p14="http://schemas.microsoft.com/office/powerpoint/2010/main" val="35767871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9AE7C84-0A80-4EB4-8911-6C57ACEFC24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9B7C23D5-56C4-46B7-A613-A3A5A05E0211}"/>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Workflow</a:t>
            </a:r>
          </a:p>
        </p:txBody>
      </p:sp>
      <p:sp>
        <p:nvSpPr>
          <p:cNvPr id="3" name="">
            <a:extLst xmlns:a="http://schemas.openxmlformats.org/drawingml/2006/main">
              <a:ext uri="{FF2B5EF4-FFF2-40B4-BE49-F238E27FC236}">
                <a16:creationId xmlns:a16="http://schemas.microsoft.com/office/drawing/2014/main" id="{48509EB3-AF64-46AE-85BA-729B60202D2A}"/>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Flux documente</a:t>
            </a:r>
          </a:p>
        </p:txBody>
      </p:sp>
      <p:sp>
        <p:nvSpPr>
          <p:cNvPr id="4" name="">
            <a:extLst xmlns:a="http://schemas.openxmlformats.org/drawingml/2006/main">
              <a:ext uri="{FF2B5EF4-FFF2-40B4-BE49-F238E27FC236}">
                <a16:creationId xmlns:a16="http://schemas.microsoft.com/office/drawing/2014/main" id="{C5E4C1AE-C507-483A-9403-FF9CA0A69A95}"/>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13</a:t>
            </a:r>
          </a:p>
        </p:txBody>
      </p:sp>
      <p:sp>
        <p:nvSpPr>
          <p:cNvPr id="5" name="">
            <a:extLst xmlns:a="http://schemas.openxmlformats.org/drawingml/2006/main">
              <a:ext uri="{FF2B5EF4-FFF2-40B4-BE49-F238E27FC236}">
                <a16:creationId xmlns:a16="http://schemas.microsoft.com/office/drawing/2014/main" id="{07CDDDC9-2710-4B8A-99C6-C34202D07DE0}"/>
              </a:ext>
            </a:extLst>
          </p:cNvPr>
          <p:cNvSpPr>
            <a:spLocks xmlns:a="http://schemas.openxmlformats.org/drawingml/2006/main" noGrp="1"/>
          </p:cNvSpPr>
          <p:nvPr/>
        </p:nvSpPr>
        <p:spPr>
          <a:xfrm xmlns:a="http://schemas.openxmlformats.org/drawingml/2006/main">
            <a:off x="514350" y="112395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Modulul de workflow arata toate taskurile active, restante sau in asteptare. Este locul in care utilizatorul urmareste si aplica tranzitii.</a:t>
            </a:r>
          </a:p>
        </p:txBody>
      </p:sp>
      <p:sp>
        <p:nvSpPr>
          <p:cNvPr id="6" name="">
            <a:extLst xmlns:a="http://schemas.openxmlformats.org/drawingml/2006/main">
              <a:ext uri="{FF2B5EF4-FFF2-40B4-BE49-F238E27FC236}">
                <a16:creationId xmlns:a16="http://schemas.microsoft.com/office/drawing/2014/main" id="{C6B8CDB2-E869-47EE-A761-8B3CF6B9AF45}"/>
              </a:ext>
            </a:extLst>
          </p:cNvPr>
          <p:cNvSpPr>
            <a:spLocks xmlns:a="http://schemas.openxmlformats.org/drawingml/2006/main" noGrp="1"/>
          </p:cNvSpPr>
          <p:nvPr/>
        </p:nvSpPr>
        <p:spPr>
          <a:xfrm xmlns:a="http://schemas.openxmlformats.org/drawingml/2006/main">
            <a:off x="514350" y="1809750"/>
            <a:ext cx="11163300" cy="2990850"/>
          </a:xfrm>
          <a:prstGeom xmlns:a="http://schemas.openxmlformats.org/drawingml/2006/main" prst="roundRect">
            <a:avLst>
              <a:gd name="adj" fmla="val 5096"/>
            </a:avLst>
          </a:prstGeom>
          <a:solidFill xmlns:a="http://schemas.openxmlformats.org/drawingml/2006/main">
            <a:srgbClr val="F8FAFC"/>
          </a:solidFill>
          <a:ln xmlns:a="http://schemas.openxmlformats.org/drawingml/2006/main" w="9525">
            <a:solidFill>
              <a:srgbClr val="E2E8F0"/>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1511016d6679474d"/>
          <a:stretch xmlns:a="http://schemas.openxmlformats.org/drawingml/2006/main"/>
        </p:blipFill>
        <p:spPr>
          <a:xfrm xmlns:a="http://schemas.openxmlformats.org/drawingml/2006/main">
            <a:off x="3640667" y="1924050"/>
            <a:ext cx="4910667" cy="2762250"/>
          </a:xfrm>
          <a:prstGeom xmlns:a="http://schemas.openxmlformats.org/drawingml/2006/main" prst="roundRect">
            <a:avLst>
              <a:gd name="adj" fmla="val 4138"/>
            </a:avLst>
          </a:prstGeom>
        </p:spPr>
      </p:pic>
      <p:sp>
        <p:nvSpPr>
          <p:cNvPr id="8" name="">
            <a:extLst xmlns:a="http://schemas.openxmlformats.org/drawingml/2006/main">
              <a:ext uri="{FF2B5EF4-FFF2-40B4-BE49-F238E27FC236}">
                <a16:creationId xmlns:a16="http://schemas.microsoft.com/office/drawing/2014/main" id="{D0B171EF-0E96-4B78-895F-8A982347CA93}"/>
              </a:ext>
            </a:extLst>
          </p:cNvPr>
          <p:cNvSpPr>
            <a:spLocks xmlns:a="http://schemas.openxmlformats.org/drawingml/2006/main" noGrp="1"/>
          </p:cNvSpPr>
          <p:nvPr/>
        </p:nvSpPr>
        <p:spPr>
          <a:xfrm xmlns:a="http://schemas.openxmlformats.org/drawingml/2006/main">
            <a:off x="514350" y="4972050"/>
            <a:ext cx="5334000" cy="12954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E2E8F0"/>
            </a:solidFill>
            <a:prstDash val="solid"/>
          </a:ln>
        </p:spPr>
      </p:sp>
      <p:sp>
        <p:nvSpPr>
          <p:cNvPr id="9" name="">
            <a:extLst xmlns:a="http://schemas.openxmlformats.org/drawingml/2006/main">
              <a:ext uri="{FF2B5EF4-FFF2-40B4-BE49-F238E27FC236}">
                <a16:creationId xmlns:a16="http://schemas.microsoft.com/office/drawing/2014/main" id="{4F352D78-DA0E-4D59-9515-46654F84A3DB}"/>
              </a:ext>
            </a:extLst>
          </p:cNvPr>
          <p:cNvSpPr>
            <a:spLocks xmlns:a="http://schemas.openxmlformats.org/drawingml/2006/main" noGrp="1"/>
          </p:cNvSpPr>
          <p:nvPr/>
        </p:nvSpPr>
        <p:spPr>
          <a:xfrm xmlns:a="http://schemas.openxmlformats.org/drawingml/2006/main">
            <a:off x="666750" y="510540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Cum lucrezi</a:t>
            </a:r>
          </a:p>
        </p:txBody>
      </p:sp>
      <p:sp>
        <p:nvSpPr>
          <p:cNvPr id="10" name="">
            <a:extLst xmlns:a="http://schemas.openxmlformats.org/drawingml/2006/main">
              <a:ext uri="{FF2B5EF4-FFF2-40B4-BE49-F238E27FC236}">
                <a16:creationId xmlns:a16="http://schemas.microsoft.com/office/drawing/2014/main" id="{EF45CB99-19C6-49C5-9FFC-5B93E34F36F8}"/>
              </a:ext>
            </a:extLst>
          </p:cNvPr>
          <p:cNvSpPr>
            <a:spLocks xmlns:a="http://schemas.openxmlformats.org/drawingml/2006/main" noGrp="1"/>
          </p:cNvSpPr>
          <p:nvPr/>
        </p:nvSpPr>
        <p:spPr>
          <a:xfrm xmlns:a="http://schemas.openxmlformats.org/drawingml/2006/main">
            <a:off x="666750" y="5467350"/>
            <a:ext cx="5029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Verifici sumarul cu taskuri active, restante si asteptari de aprobare.</a:t>
            </a:r>
          </a:p>
          <a:p xmlns:a="http://schemas.openxmlformats.org/drawingml/2006/main">
            <a:pPr>
              <a:defRPr sz="1125">
                <a:solidFill>
                  <a:srgbClr val="314158"/>
                </a:solidFill>
              </a:defRPr>
            </a:pPr>
            <a:r>
              <a:rPr sz="1125">
                <a:solidFill>
                  <a:srgbClr val="314158"/>
                </a:solidFill>
              </a:rPr>
              <a:t>• Filtrezi taskurile dupa definitie sau status.</a:t>
            </a:r>
          </a:p>
          <a:p xmlns:a="http://schemas.openxmlformats.org/drawingml/2006/main">
            <a:pPr>
              <a:defRPr sz="1125">
                <a:solidFill>
                  <a:srgbClr val="314158"/>
                </a:solidFill>
              </a:defRPr>
            </a:pPr>
            <a:r>
              <a:rPr sz="1125">
                <a:solidFill>
                  <a:srgbClr val="314158"/>
                </a:solidFill>
              </a:rPr>
              <a:t>• Deschizi o tranzitie atunci cand documentul trece la etapa urmatoare.</a:t>
            </a:r>
          </a:p>
        </p:txBody>
      </p:sp>
      <p:sp>
        <p:nvSpPr>
          <p:cNvPr id="11" name="">
            <a:extLst xmlns:a="http://schemas.openxmlformats.org/drawingml/2006/main">
              <a:ext uri="{FF2B5EF4-FFF2-40B4-BE49-F238E27FC236}">
                <a16:creationId xmlns:a16="http://schemas.microsoft.com/office/drawing/2014/main" id="{B8AA8DF4-697F-4617-A840-32725E1FAB7B}"/>
              </a:ext>
            </a:extLst>
          </p:cNvPr>
          <p:cNvSpPr>
            <a:spLocks xmlns:a="http://schemas.openxmlformats.org/drawingml/2006/main" noGrp="1"/>
          </p:cNvSpPr>
          <p:nvPr/>
        </p:nvSpPr>
        <p:spPr>
          <a:xfrm xmlns:a="http://schemas.openxmlformats.org/drawingml/2006/main">
            <a:off x="6343650" y="4972050"/>
            <a:ext cx="533400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E2E8F0"/>
            </a:solidFill>
            <a:prstDash val="solid"/>
          </a:ln>
        </p:spPr>
      </p:sp>
      <p:sp>
        <p:nvSpPr>
          <p:cNvPr id="12" name="">
            <a:extLst xmlns:a="http://schemas.openxmlformats.org/drawingml/2006/main">
              <a:ext uri="{FF2B5EF4-FFF2-40B4-BE49-F238E27FC236}">
                <a16:creationId xmlns:a16="http://schemas.microsoft.com/office/drawing/2014/main" id="{90C0DAF9-B66D-4915-9436-27C8A74C496E}"/>
              </a:ext>
            </a:extLst>
          </p:cNvPr>
          <p:cNvSpPr>
            <a:spLocks xmlns:a="http://schemas.openxmlformats.org/drawingml/2006/main" noGrp="1"/>
          </p:cNvSpPr>
          <p:nvPr/>
        </p:nvSpPr>
        <p:spPr>
          <a:xfrm xmlns:a="http://schemas.openxmlformats.org/drawingml/2006/main">
            <a:off x="6496050" y="5105400"/>
            <a:ext cx="5029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Ce obtii: Fluxurile administrative devin vizibile, masurabile si usor de urmarit de la o etapa la alta.</a:t>
            </a:r>
          </a:p>
        </p:txBody>
      </p:sp>
      <p:sp>
        <p:nvSpPr>
          <p:cNvPr id="13" name="">
            <a:extLst xmlns:a="http://schemas.openxmlformats.org/drawingml/2006/main">
              <a:ext uri="{FF2B5EF4-FFF2-40B4-BE49-F238E27FC236}">
                <a16:creationId xmlns:a16="http://schemas.microsoft.com/office/drawing/2014/main" id="{110FF55E-BBA1-4E31-B046-067BB0C9C222}"/>
              </a:ext>
            </a:extLst>
          </p:cNvPr>
          <p:cNvSpPr>
            <a:spLocks xmlns:a="http://schemas.openxmlformats.org/drawingml/2006/main" noGrp="1"/>
          </p:cNvSpPr>
          <p:nvPr/>
        </p:nvSpPr>
        <p:spPr>
          <a:xfrm xmlns:a="http://schemas.openxmlformats.org/drawingml/2006/main">
            <a:off x="6343650" y="5734050"/>
            <a:ext cx="5334000" cy="5334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D3DACBF0-EEA3-4D98-A049-A55510A44148}"/>
              </a:ext>
            </a:extLst>
          </p:cNvPr>
          <p:cNvSpPr>
            <a:spLocks xmlns:a="http://schemas.openxmlformats.org/drawingml/2006/main" noGrp="1"/>
          </p:cNvSpPr>
          <p:nvPr/>
        </p:nvSpPr>
        <p:spPr>
          <a:xfrm xmlns:a="http://schemas.openxmlformats.org/drawingml/2006/main">
            <a:off x="6496050" y="5867400"/>
            <a:ext cx="502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citesti captura: Captura prezinta ecranul real folosit de utilizator in flux documente, cu zonele de lista, filtrare, completare si actiune vizibile exact asa cum apar in aplicatie.</a:t>
            </a:r>
          </a:p>
        </p:txBody>
      </p:sp>
      <p:sp>
        <p:nvSpPr>
          <p:cNvPr id="15" name="">
            <a:extLst xmlns:a="http://schemas.openxmlformats.org/drawingml/2006/main">
              <a:ext uri="{FF2B5EF4-FFF2-40B4-BE49-F238E27FC236}">
                <a16:creationId xmlns:a16="http://schemas.microsoft.com/office/drawing/2014/main" id="{9CCBFE98-D953-41E7-9F9C-A9EE6FE5DD4F}"/>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6" name="">
            <a:extLst xmlns:a="http://schemas.openxmlformats.org/drawingml/2006/main">
              <a:ext uri="{FF2B5EF4-FFF2-40B4-BE49-F238E27FC236}">
                <a16:creationId xmlns:a16="http://schemas.microsoft.com/office/drawing/2014/main" id="{CC8B5D69-4B81-4EC4-A99A-3C81CB3EF194}"/>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Modulul Flux documente</a:t>
            </a:r>
          </a:p>
        </p:txBody>
      </p:sp>
    </p:spTree>
    <p:extLst>
      <p:ext uri="{BB962C8B-B14F-4D97-AF65-F5344CB8AC3E}">
        <p14:creationId xmlns:p14="http://schemas.microsoft.com/office/powerpoint/2010/main" val="80287797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EB6A9DC-2ED9-4586-B311-52A48488041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D809A45D-6975-4921-85CA-0FAA2F8DD562}"/>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Registratura - nomenclatoare</a:t>
            </a:r>
          </a:p>
        </p:txBody>
      </p:sp>
      <p:sp>
        <p:nvSpPr>
          <p:cNvPr id="3" name="">
            <a:extLst xmlns:a="http://schemas.openxmlformats.org/drawingml/2006/main">
              <a:ext uri="{FF2B5EF4-FFF2-40B4-BE49-F238E27FC236}">
                <a16:creationId xmlns:a16="http://schemas.microsoft.com/office/drawing/2014/main" id="{247E2874-59B1-4648-A0AF-05732B1CF1A7}"/>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Registrele de lucru</a:t>
            </a:r>
          </a:p>
        </p:txBody>
      </p:sp>
      <p:sp>
        <p:nvSpPr>
          <p:cNvPr id="4" name="">
            <a:extLst xmlns:a="http://schemas.openxmlformats.org/drawingml/2006/main">
              <a:ext uri="{FF2B5EF4-FFF2-40B4-BE49-F238E27FC236}">
                <a16:creationId xmlns:a16="http://schemas.microsoft.com/office/drawing/2014/main" id="{91FDFD15-D455-417B-AE6F-114C2023416B}"/>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14</a:t>
            </a:r>
          </a:p>
        </p:txBody>
      </p:sp>
      <p:sp>
        <p:nvSpPr>
          <p:cNvPr id="5" name="">
            <a:extLst xmlns:a="http://schemas.openxmlformats.org/drawingml/2006/main">
              <a:ext uri="{FF2B5EF4-FFF2-40B4-BE49-F238E27FC236}">
                <a16:creationId xmlns:a16="http://schemas.microsoft.com/office/drawing/2014/main" id="{61387D33-E799-433B-9BC1-EA64D7DE7AC9}"/>
              </a:ext>
            </a:extLst>
          </p:cNvPr>
          <p:cNvSpPr>
            <a:spLocks xmlns:a="http://schemas.openxmlformats.org/drawingml/2006/main" noGrp="1"/>
          </p:cNvSpPr>
          <p:nvPr/>
        </p:nvSpPr>
        <p:spPr>
          <a:xfrm xmlns:a="http://schemas.openxmlformats.org/drawingml/2006/main">
            <a:off x="514350" y="114300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Pagina de registre este folosita pentru administrarea registrelor active: nume, prefix, numerotare si registru implicit.</a:t>
            </a:r>
          </a:p>
        </p:txBody>
      </p:sp>
      <p:sp>
        <p:nvSpPr>
          <p:cNvPr id="6" name="">
            <a:extLst xmlns:a="http://schemas.openxmlformats.org/drawingml/2006/main">
              <a:ext uri="{FF2B5EF4-FFF2-40B4-BE49-F238E27FC236}">
                <a16:creationId xmlns:a16="http://schemas.microsoft.com/office/drawing/2014/main" id="{F4A7BF36-891F-49F9-BDCA-18BF83B23A3B}"/>
              </a:ext>
            </a:extLst>
          </p:cNvPr>
          <p:cNvSpPr>
            <a:spLocks xmlns:a="http://schemas.openxmlformats.org/drawingml/2006/main" noGrp="1"/>
          </p:cNvSpPr>
          <p:nvPr/>
        </p:nvSpPr>
        <p:spPr>
          <a:xfrm xmlns:a="http://schemas.openxmlformats.org/drawingml/2006/main">
            <a:off x="514350" y="1981200"/>
            <a:ext cx="4095750" cy="224790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466B3DBD-0CB1-4F36-90CC-ADCDAB954DB3}"/>
              </a:ext>
            </a:extLst>
          </p:cNvPr>
          <p:cNvSpPr>
            <a:spLocks xmlns:a="http://schemas.openxmlformats.org/drawingml/2006/main" noGrp="1"/>
          </p:cNvSpPr>
          <p:nvPr/>
        </p:nvSpPr>
        <p:spPr>
          <a:xfrm xmlns:a="http://schemas.openxmlformats.org/drawingml/2006/main">
            <a:off x="666750" y="21145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Ce face utilizatorul</a:t>
            </a:r>
          </a:p>
        </p:txBody>
      </p:sp>
      <p:sp>
        <p:nvSpPr>
          <p:cNvPr id="8" name="">
            <a:extLst xmlns:a="http://schemas.openxmlformats.org/drawingml/2006/main">
              <a:ext uri="{FF2B5EF4-FFF2-40B4-BE49-F238E27FC236}">
                <a16:creationId xmlns:a16="http://schemas.microsoft.com/office/drawing/2014/main" id="{8C7958C0-8F0C-442B-9ED3-05F382870C93}"/>
              </a:ext>
            </a:extLst>
          </p:cNvPr>
          <p:cNvSpPr>
            <a:spLocks xmlns:a="http://schemas.openxmlformats.org/drawingml/2006/main" noGrp="1"/>
          </p:cNvSpPr>
          <p:nvPr/>
        </p:nvSpPr>
        <p:spPr>
          <a:xfrm xmlns:a="http://schemas.openxmlformats.org/drawingml/2006/main">
            <a:off x="666750" y="2476500"/>
            <a:ext cx="37909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Deschizi lista de registre din meniul principal.</a:t>
            </a:r>
          </a:p>
          <a:p xmlns:a="http://schemas.openxmlformats.org/drawingml/2006/main">
            <a:pPr>
              <a:defRPr sz="1125">
                <a:solidFill>
                  <a:srgbClr val="314158"/>
                </a:solidFill>
              </a:defRPr>
            </a:pPr>
            <a:r>
              <a:rPr sz="1125">
                <a:solidFill>
                  <a:srgbClr val="314158"/>
                </a:solidFill>
              </a:rPr>
              <a:t>• Adaugi un registru nou sau actualizezi unul existent.</a:t>
            </a:r>
          </a:p>
          <a:p xmlns:a="http://schemas.openxmlformats.org/drawingml/2006/main">
            <a:pPr>
              <a:defRPr sz="1125">
                <a:solidFill>
                  <a:srgbClr val="314158"/>
                </a:solidFill>
              </a:defRPr>
            </a:pPr>
            <a:r>
              <a:rPr sz="1125">
                <a:solidFill>
                  <a:srgbClr val="314158"/>
                </a:solidFill>
              </a:rPr>
              <a:t>• Stabilesti prefixul, numarul curent si registrul implicit.</a:t>
            </a:r>
          </a:p>
        </p:txBody>
      </p:sp>
      <p:sp>
        <p:nvSpPr>
          <p:cNvPr id="9" name="">
            <a:extLst xmlns:a="http://schemas.openxmlformats.org/drawingml/2006/main">
              <a:ext uri="{FF2B5EF4-FFF2-40B4-BE49-F238E27FC236}">
                <a16:creationId xmlns:a16="http://schemas.microsoft.com/office/drawing/2014/main" id="{9326828A-4F51-4F79-B366-F2D31219B67B}"/>
              </a:ext>
            </a:extLst>
          </p:cNvPr>
          <p:cNvSpPr>
            <a:spLocks xmlns:a="http://schemas.openxmlformats.org/drawingml/2006/main" noGrp="1"/>
          </p:cNvSpPr>
          <p:nvPr/>
        </p:nvSpPr>
        <p:spPr>
          <a:xfrm xmlns:a="http://schemas.openxmlformats.org/drawingml/2006/main">
            <a:off x="514350" y="4381500"/>
            <a:ext cx="4095750" cy="11430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AAADF497-1E86-46B6-A3C8-F945A5BC8E20}"/>
              </a:ext>
            </a:extLst>
          </p:cNvPr>
          <p:cNvSpPr>
            <a:spLocks xmlns:a="http://schemas.openxmlformats.org/drawingml/2006/main" noGrp="1"/>
          </p:cNvSpPr>
          <p:nvPr/>
        </p:nvSpPr>
        <p:spPr>
          <a:xfrm xmlns:a="http://schemas.openxmlformats.org/drawingml/2006/main">
            <a:off x="666750" y="451485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Cum se foloseste ecranul</a:t>
            </a:r>
          </a:p>
        </p:txBody>
      </p:sp>
      <p:sp>
        <p:nvSpPr>
          <p:cNvPr id="11" name="">
            <a:extLst xmlns:a="http://schemas.openxmlformats.org/drawingml/2006/main">
              <a:ext uri="{FF2B5EF4-FFF2-40B4-BE49-F238E27FC236}">
                <a16:creationId xmlns:a16="http://schemas.microsoft.com/office/drawing/2014/main" id="{4BF1BD4C-A8C5-4C5B-A4DC-F36BBA399CE1}"/>
              </a:ext>
            </a:extLst>
          </p:cNvPr>
          <p:cNvSpPr>
            <a:spLocks xmlns:a="http://schemas.openxmlformats.org/drawingml/2006/main" noGrp="1"/>
          </p:cNvSpPr>
          <p:nvPr/>
        </p:nvSpPr>
        <p:spPr>
          <a:xfrm xmlns:a="http://schemas.openxmlformats.org/drawingml/2006/main">
            <a:off x="666750" y="4876800"/>
            <a:ext cx="3790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Utilizatorul porneste din acest ecran, completeaza informatiile necesare si verifica sumarul inainte de a salva sau de a trimite fluxul mai departe. La final, numerotarea documentelor ramane coerenta si controlata institutional.</a:t>
            </a:r>
          </a:p>
        </p:txBody>
      </p:sp>
      <p:sp>
        <p:nvSpPr>
          <p:cNvPr id="12" name="">
            <a:extLst xmlns:a="http://schemas.openxmlformats.org/drawingml/2006/main">
              <a:ext uri="{FF2B5EF4-FFF2-40B4-BE49-F238E27FC236}">
                <a16:creationId xmlns:a16="http://schemas.microsoft.com/office/drawing/2014/main" id="{2D2B564B-F58B-453D-9EB6-D9D5362A7CB6}"/>
              </a:ext>
            </a:extLst>
          </p:cNvPr>
          <p:cNvSpPr>
            <a:spLocks xmlns:a="http://schemas.openxmlformats.org/drawingml/2006/main" noGrp="1"/>
          </p:cNvSpPr>
          <p:nvPr/>
        </p:nvSpPr>
        <p:spPr>
          <a:xfrm xmlns:a="http://schemas.openxmlformats.org/drawingml/2006/main">
            <a:off x="514350" y="5657850"/>
            <a:ext cx="409575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968DF959-BDA6-44F2-9066-4C5E06AF5B3A}"/>
              </a:ext>
            </a:extLst>
          </p:cNvPr>
          <p:cNvSpPr>
            <a:spLocks xmlns:a="http://schemas.openxmlformats.org/drawingml/2006/main" noGrp="1"/>
          </p:cNvSpPr>
          <p:nvPr/>
        </p:nvSpPr>
        <p:spPr>
          <a:xfrm xmlns:a="http://schemas.openxmlformats.org/drawingml/2006/main">
            <a:off x="666750" y="5791200"/>
            <a:ext cx="3790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Rezultat final: Numerotarea documentelor ramane coerenta si controlata institutional.</a:t>
            </a:r>
          </a:p>
        </p:txBody>
      </p:sp>
      <p:sp>
        <p:nvSpPr>
          <p:cNvPr id="14" name="">
            <a:extLst xmlns:a="http://schemas.openxmlformats.org/drawingml/2006/main">
              <a:ext uri="{FF2B5EF4-FFF2-40B4-BE49-F238E27FC236}">
                <a16:creationId xmlns:a16="http://schemas.microsoft.com/office/drawing/2014/main" id="{0030D742-1F17-42F2-AF61-929122EFD84E}"/>
              </a:ext>
            </a:extLst>
          </p:cNvPr>
          <p:cNvSpPr>
            <a:spLocks xmlns:a="http://schemas.openxmlformats.org/drawingml/2006/main" noGrp="1"/>
          </p:cNvSpPr>
          <p:nvPr/>
        </p:nvSpPr>
        <p:spPr>
          <a:xfrm xmlns:a="http://schemas.openxmlformats.org/drawingml/2006/main">
            <a:off x="4895850" y="1981200"/>
            <a:ext cx="6610350" cy="37338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ec66342da81f42ef"/>
          <a:stretch xmlns:a="http://schemas.openxmlformats.org/drawingml/2006/main"/>
        </p:blipFill>
        <p:spPr>
          <a:xfrm xmlns:a="http://schemas.openxmlformats.org/drawingml/2006/main">
            <a:off x="5085292" y="2095500"/>
            <a:ext cx="6231467" cy="3505200"/>
          </a:xfrm>
          <a:prstGeom xmlns:a="http://schemas.openxmlformats.org/drawingml/2006/main" prst="roundRect">
            <a:avLst>
              <a:gd name="adj" fmla="val 3261"/>
            </a:avLst>
          </a:prstGeom>
        </p:spPr>
      </p:pic>
      <p:sp>
        <p:nvSpPr>
          <p:cNvPr id="16" name="">
            <a:extLst xmlns:a="http://schemas.openxmlformats.org/drawingml/2006/main">
              <a:ext uri="{FF2B5EF4-FFF2-40B4-BE49-F238E27FC236}">
                <a16:creationId xmlns:a16="http://schemas.microsoft.com/office/drawing/2014/main" id="{4A44A710-0950-40D1-8F8A-FB91624A3527}"/>
              </a:ext>
            </a:extLst>
          </p:cNvPr>
          <p:cNvSpPr>
            <a:spLocks xmlns:a="http://schemas.openxmlformats.org/drawingml/2006/main" noGrp="1"/>
          </p:cNvSpPr>
          <p:nvPr/>
        </p:nvSpPr>
        <p:spPr>
          <a:xfrm xmlns:a="http://schemas.openxmlformats.org/drawingml/2006/main">
            <a:off x="4895850" y="5772150"/>
            <a:ext cx="6610350" cy="476250"/>
          </a:xfrm>
          <a:prstGeom xmlns:a="http://schemas.openxmlformats.org/drawingml/2006/main" prst="roundRect">
            <a:avLst>
              <a:gd name="adj" fmla="val 32000"/>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ADEB6923-E74B-4D09-A5EA-61B8D232DB7C}"/>
              </a:ext>
            </a:extLst>
          </p:cNvPr>
          <p:cNvSpPr>
            <a:spLocks xmlns:a="http://schemas.openxmlformats.org/drawingml/2006/main" noGrp="1"/>
          </p:cNvSpPr>
          <p:nvPr/>
        </p:nvSpPr>
        <p:spPr>
          <a:xfrm xmlns:a="http://schemas.openxmlformats.org/drawingml/2006/main">
            <a:off x="5048250" y="5905500"/>
            <a:ext cx="6305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Ce observi in captura: Captura prezinta ecranul real folosit de utilizator in registrele de lucru, cu zonele de lista, filtrare, completare si actiune vizibile exact asa cum apar in aplicatie.</a:t>
            </a:r>
          </a:p>
        </p:txBody>
      </p:sp>
      <p:sp>
        <p:nvSpPr>
          <p:cNvPr id="18" name="">
            <a:extLst xmlns:a="http://schemas.openxmlformats.org/drawingml/2006/main">
              <a:ext uri="{FF2B5EF4-FFF2-40B4-BE49-F238E27FC236}">
                <a16:creationId xmlns:a16="http://schemas.microsoft.com/office/drawing/2014/main" id="{74543D76-392E-4FF0-9837-11AD39FAC056}"/>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9" name="">
            <a:extLst xmlns:a="http://schemas.openxmlformats.org/drawingml/2006/main">
              <a:ext uri="{FF2B5EF4-FFF2-40B4-BE49-F238E27FC236}">
                <a16:creationId xmlns:a16="http://schemas.microsoft.com/office/drawing/2014/main" id="{D43A0629-2318-4006-84F9-EE6EFDF5FE73}"/>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Administrarea registrelor</a:t>
            </a:r>
          </a:p>
        </p:txBody>
      </p:sp>
    </p:spTree>
    <p:extLst>
      <p:ext uri="{BB962C8B-B14F-4D97-AF65-F5344CB8AC3E}">
        <p14:creationId xmlns:p14="http://schemas.microsoft.com/office/powerpoint/2010/main" val="141119791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6A434F2-8A1F-495F-BDD2-D6900AE238A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4D7350CE-C896-4E8D-ABDC-3CF778D4114A}"/>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eArhiva</a:t>
            </a:r>
          </a:p>
        </p:txBody>
      </p:sp>
      <p:sp>
        <p:nvSpPr>
          <p:cNvPr id="3" name="">
            <a:extLst xmlns:a="http://schemas.openxmlformats.org/drawingml/2006/main">
              <a:ext uri="{FF2B5EF4-FFF2-40B4-BE49-F238E27FC236}">
                <a16:creationId xmlns:a16="http://schemas.microsoft.com/office/drawing/2014/main" id="{7C513D0B-25ED-4BE0-91CA-67F087111181}"/>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Arhiva electronica</a:t>
            </a:r>
          </a:p>
        </p:txBody>
      </p:sp>
      <p:sp>
        <p:nvSpPr>
          <p:cNvPr id="4" name="">
            <a:extLst xmlns:a="http://schemas.openxmlformats.org/drawingml/2006/main">
              <a:ext uri="{FF2B5EF4-FFF2-40B4-BE49-F238E27FC236}">
                <a16:creationId xmlns:a16="http://schemas.microsoft.com/office/drawing/2014/main" id="{A7093816-C359-434B-91C1-762C5BF5FA55}"/>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15</a:t>
            </a:r>
          </a:p>
        </p:txBody>
      </p:sp>
      <p:sp>
        <p:nvSpPr>
          <p:cNvPr id="5" name="">
            <a:extLst xmlns:a="http://schemas.openxmlformats.org/drawingml/2006/main">
              <a:ext uri="{FF2B5EF4-FFF2-40B4-BE49-F238E27FC236}">
                <a16:creationId xmlns:a16="http://schemas.microsoft.com/office/drawing/2014/main" id="{8BDB6027-A223-4D47-B39E-2B88EF0E00D6}"/>
              </a:ext>
            </a:extLst>
          </p:cNvPr>
          <p:cNvSpPr>
            <a:spLocks xmlns:a="http://schemas.openxmlformats.org/drawingml/2006/main" noGrp="1"/>
          </p:cNvSpPr>
          <p:nvPr/>
        </p:nvSpPr>
        <p:spPr>
          <a:xfrm xmlns:a="http://schemas.openxmlformats.org/drawingml/2006/main">
            <a:off x="514350" y="114300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eArhiva este spatiul in care documentele finalizate sunt pastrate ca inregistrari arhivistice, cu fond, serie, referinta, locatie si responsabil.</a:t>
            </a:r>
          </a:p>
        </p:txBody>
      </p:sp>
      <p:sp>
        <p:nvSpPr>
          <p:cNvPr id="6" name="">
            <a:extLst xmlns:a="http://schemas.openxmlformats.org/drawingml/2006/main">
              <a:ext uri="{FF2B5EF4-FFF2-40B4-BE49-F238E27FC236}">
                <a16:creationId xmlns:a16="http://schemas.microsoft.com/office/drawing/2014/main" id="{82817827-9C4D-4501-859D-3F8F7D1A8C68}"/>
              </a:ext>
            </a:extLst>
          </p:cNvPr>
          <p:cNvSpPr>
            <a:spLocks xmlns:a="http://schemas.openxmlformats.org/drawingml/2006/main" noGrp="1"/>
          </p:cNvSpPr>
          <p:nvPr/>
        </p:nvSpPr>
        <p:spPr>
          <a:xfrm xmlns:a="http://schemas.openxmlformats.org/drawingml/2006/main">
            <a:off x="514350" y="1981200"/>
            <a:ext cx="4095750" cy="224790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4860E1FA-4C11-44AE-80C2-A8D445A4CBF7}"/>
              </a:ext>
            </a:extLst>
          </p:cNvPr>
          <p:cNvSpPr>
            <a:spLocks xmlns:a="http://schemas.openxmlformats.org/drawingml/2006/main" noGrp="1"/>
          </p:cNvSpPr>
          <p:nvPr/>
        </p:nvSpPr>
        <p:spPr>
          <a:xfrm xmlns:a="http://schemas.openxmlformats.org/drawingml/2006/main">
            <a:off x="666750" y="21145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Ce face utilizatorul</a:t>
            </a:r>
          </a:p>
        </p:txBody>
      </p:sp>
      <p:sp>
        <p:nvSpPr>
          <p:cNvPr id="8" name="">
            <a:extLst xmlns:a="http://schemas.openxmlformats.org/drawingml/2006/main">
              <a:ext uri="{FF2B5EF4-FFF2-40B4-BE49-F238E27FC236}">
                <a16:creationId xmlns:a16="http://schemas.microsoft.com/office/drawing/2014/main" id="{18647FE6-5DB3-4A9C-A8A9-B2A2DBB2EB6F}"/>
              </a:ext>
            </a:extLst>
          </p:cNvPr>
          <p:cNvSpPr>
            <a:spLocks xmlns:a="http://schemas.openxmlformats.org/drawingml/2006/main" noGrp="1"/>
          </p:cNvSpPr>
          <p:nvPr/>
        </p:nvSpPr>
        <p:spPr>
          <a:xfrm xmlns:a="http://schemas.openxmlformats.org/drawingml/2006/main">
            <a:off x="666750" y="2476500"/>
            <a:ext cx="37909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Consulti sumarul inregistrarilor totale, validate si in lucru.</a:t>
            </a:r>
          </a:p>
          <a:p xmlns:a="http://schemas.openxmlformats.org/drawingml/2006/main">
            <a:pPr>
              <a:defRPr sz="1125">
                <a:solidFill>
                  <a:srgbClr val="314158"/>
                </a:solidFill>
              </a:defRPr>
            </a:pPr>
            <a:r>
              <a:rPr sz="1125">
                <a:solidFill>
                  <a:srgbClr val="314158"/>
                </a:solidFill>
              </a:rPr>
              <a:t>• Filtrezi dupa fond, serie, arhivar sau status.</a:t>
            </a:r>
          </a:p>
          <a:p xmlns:a="http://schemas.openxmlformats.org/drawingml/2006/main">
            <a:pPr>
              <a:defRPr sz="1125">
                <a:solidFill>
                  <a:srgbClr val="314158"/>
                </a:solidFill>
              </a:defRPr>
            </a:pPr>
            <a:r>
              <a:rPr sz="1125">
                <a:solidFill>
                  <a:srgbClr val="314158"/>
                </a:solidFill>
              </a:rPr>
              <a:t>• Adaugi o inregistrare noua sau verifici una existenta.</a:t>
            </a:r>
          </a:p>
        </p:txBody>
      </p:sp>
      <p:sp>
        <p:nvSpPr>
          <p:cNvPr id="9" name="">
            <a:extLst xmlns:a="http://schemas.openxmlformats.org/drawingml/2006/main">
              <a:ext uri="{FF2B5EF4-FFF2-40B4-BE49-F238E27FC236}">
                <a16:creationId xmlns:a16="http://schemas.microsoft.com/office/drawing/2014/main" id="{20433F8B-B2EB-406E-BCA6-95B52AD4C087}"/>
              </a:ext>
            </a:extLst>
          </p:cNvPr>
          <p:cNvSpPr>
            <a:spLocks xmlns:a="http://schemas.openxmlformats.org/drawingml/2006/main" noGrp="1"/>
          </p:cNvSpPr>
          <p:nvPr/>
        </p:nvSpPr>
        <p:spPr>
          <a:xfrm xmlns:a="http://schemas.openxmlformats.org/drawingml/2006/main">
            <a:off x="514350" y="4381500"/>
            <a:ext cx="4095750" cy="11430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0C41626C-98F2-49D7-B3BA-28C8DF6C8515}"/>
              </a:ext>
            </a:extLst>
          </p:cNvPr>
          <p:cNvSpPr>
            <a:spLocks xmlns:a="http://schemas.openxmlformats.org/drawingml/2006/main" noGrp="1"/>
          </p:cNvSpPr>
          <p:nvPr/>
        </p:nvSpPr>
        <p:spPr>
          <a:xfrm xmlns:a="http://schemas.openxmlformats.org/drawingml/2006/main">
            <a:off x="666750" y="451485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Cum se foloseste ecranul</a:t>
            </a:r>
          </a:p>
        </p:txBody>
      </p:sp>
      <p:sp>
        <p:nvSpPr>
          <p:cNvPr id="11" name="">
            <a:extLst xmlns:a="http://schemas.openxmlformats.org/drawingml/2006/main">
              <a:ext uri="{FF2B5EF4-FFF2-40B4-BE49-F238E27FC236}">
                <a16:creationId xmlns:a16="http://schemas.microsoft.com/office/drawing/2014/main" id="{DA5CA54E-554B-4B0E-B881-CC3E54BF234D}"/>
              </a:ext>
            </a:extLst>
          </p:cNvPr>
          <p:cNvSpPr>
            <a:spLocks xmlns:a="http://schemas.openxmlformats.org/drawingml/2006/main" noGrp="1"/>
          </p:cNvSpPr>
          <p:nvPr/>
        </p:nvSpPr>
        <p:spPr>
          <a:xfrm xmlns:a="http://schemas.openxmlformats.org/drawingml/2006/main">
            <a:off x="666750" y="4876800"/>
            <a:ext cx="3790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Utilizatorul porneste din acest ecran, completeaza informatiile necesare si verifica sumarul inainte de a salva sau de a trimite fluxul mai departe. La final, documentele finalizate devin usor de gasit si de probat in timp.</a:t>
            </a:r>
          </a:p>
        </p:txBody>
      </p:sp>
      <p:sp>
        <p:nvSpPr>
          <p:cNvPr id="12" name="">
            <a:extLst xmlns:a="http://schemas.openxmlformats.org/drawingml/2006/main">
              <a:ext uri="{FF2B5EF4-FFF2-40B4-BE49-F238E27FC236}">
                <a16:creationId xmlns:a16="http://schemas.microsoft.com/office/drawing/2014/main" id="{0347A6B3-E4E0-4D87-B848-A3AA559D9DE4}"/>
              </a:ext>
            </a:extLst>
          </p:cNvPr>
          <p:cNvSpPr>
            <a:spLocks xmlns:a="http://schemas.openxmlformats.org/drawingml/2006/main" noGrp="1"/>
          </p:cNvSpPr>
          <p:nvPr/>
        </p:nvSpPr>
        <p:spPr>
          <a:xfrm xmlns:a="http://schemas.openxmlformats.org/drawingml/2006/main">
            <a:off x="514350" y="5657850"/>
            <a:ext cx="409575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64E56FAF-04BE-4FD7-BBF7-A94F6FC0E91F}"/>
              </a:ext>
            </a:extLst>
          </p:cNvPr>
          <p:cNvSpPr>
            <a:spLocks xmlns:a="http://schemas.openxmlformats.org/drawingml/2006/main" noGrp="1"/>
          </p:cNvSpPr>
          <p:nvPr/>
        </p:nvSpPr>
        <p:spPr>
          <a:xfrm xmlns:a="http://schemas.openxmlformats.org/drawingml/2006/main">
            <a:off x="666750" y="5791200"/>
            <a:ext cx="3790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Rezultat final: Documentele finalizate devin usor de gasit si de probat in timp.</a:t>
            </a:r>
          </a:p>
        </p:txBody>
      </p:sp>
      <p:sp>
        <p:nvSpPr>
          <p:cNvPr id="14" name="">
            <a:extLst xmlns:a="http://schemas.openxmlformats.org/drawingml/2006/main">
              <a:ext uri="{FF2B5EF4-FFF2-40B4-BE49-F238E27FC236}">
                <a16:creationId xmlns:a16="http://schemas.microsoft.com/office/drawing/2014/main" id="{A82A83A0-ED8C-4C28-90BE-BC81BF634974}"/>
              </a:ext>
            </a:extLst>
          </p:cNvPr>
          <p:cNvSpPr>
            <a:spLocks xmlns:a="http://schemas.openxmlformats.org/drawingml/2006/main" noGrp="1"/>
          </p:cNvSpPr>
          <p:nvPr/>
        </p:nvSpPr>
        <p:spPr>
          <a:xfrm xmlns:a="http://schemas.openxmlformats.org/drawingml/2006/main">
            <a:off x="4895850" y="1981200"/>
            <a:ext cx="6610350" cy="37338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153e8064b1fb4757"/>
          <a:stretch xmlns:a="http://schemas.openxmlformats.org/drawingml/2006/main"/>
        </p:blipFill>
        <p:spPr>
          <a:xfrm xmlns:a="http://schemas.openxmlformats.org/drawingml/2006/main">
            <a:off x="5085292" y="2095500"/>
            <a:ext cx="6231467" cy="3505200"/>
          </a:xfrm>
          <a:prstGeom xmlns:a="http://schemas.openxmlformats.org/drawingml/2006/main" prst="roundRect">
            <a:avLst>
              <a:gd name="adj" fmla="val 3261"/>
            </a:avLst>
          </a:prstGeom>
        </p:spPr>
      </p:pic>
      <p:sp>
        <p:nvSpPr>
          <p:cNvPr id="16" name="">
            <a:extLst xmlns:a="http://schemas.openxmlformats.org/drawingml/2006/main">
              <a:ext uri="{FF2B5EF4-FFF2-40B4-BE49-F238E27FC236}">
                <a16:creationId xmlns:a16="http://schemas.microsoft.com/office/drawing/2014/main" id="{048C5BF3-201F-4965-AED8-5EC7E9114BAC}"/>
              </a:ext>
            </a:extLst>
          </p:cNvPr>
          <p:cNvSpPr>
            <a:spLocks xmlns:a="http://schemas.openxmlformats.org/drawingml/2006/main" noGrp="1"/>
          </p:cNvSpPr>
          <p:nvPr/>
        </p:nvSpPr>
        <p:spPr>
          <a:xfrm xmlns:a="http://schemas.openxmlformats.org/drawingml/2006/main">
            <a:off x="4895850" y="5772150"/>
            <a:ext cx="6610350" cy="476250"/>
          </a:xfrm>
          <a:prstGeom xmlns:a="http://schemas.openxmlformats.org/drawingml/2006/main" prst="roundRect">
            <a:avLst>
              <a:gd name="adj" fmla="val 32000"/>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17060EAC-37D5-474C-9290-04B404BB820E}"/>
              </a:ext>
            </a:extLst>
          </p:cNvPr>
          <p:cNvSpPr>
            <a:spLocks xmlns:a="http://schemas.openxmlformats.org/drawingml/2006/main" noGrp="1"/>
          </p:cNvSpPr>
          <p:nvPr/>
        </p:nvSpPr>
        <p:spPr>
          <a:xfrm xmlns:a="http://schemas.openxmlformats.org/drawingml/2006/main">
            <a:off x="5048250" y="5905500"/>
            <a:ext cx="6305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Ce observi in captura: Captura prezinta ecranul real folosit de utilizator in arhiva electronica, cu zonele de lista, filtrare, completare si actiune vizibile exact asa cum apar in aplicatie.</a:t>
            </a:r>
          </a:p>
        </p:txBody>
      </p:sp>
      <p:sp>
        <p:nvSpPr>
          <p:cNvPr id="18" name="">
            <a:extLst xmlns:a="http://schemas.openxmlformats.org/drawingml/2006/main">
              <a:ext uri="{FF2B5EF4-FFF2-40B4-BE49-F238E27FC236}">
                <a16:creationId xmlns:a16="http://schemas.microsoft.com/office/drawing/2014/main" id="{F088C17A-A0B2-406C-BD09-D96ECFA7A93E}"/>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9" name="">
            <a:extLst xmlns:a="http://schemas.openxmlformats.org/drawingml/2006/main">
              <a:ext uri="{FF2B5EF4-FFF2-40B4-BE49-F238E27FC236}">
                <a16:creationId xmlns:a16="http://schemas.microsoft.com/office/drawing/2014/main" id="{43D91682-638D-426A-A131-41F59F9A9A3D}"/>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Modulul eArhiva</a:t>
            </a:r>
          </a:p>
        </p:txBody>
      </p:sp>
    </p:spTree>
    <p:extLst>
      <p:ext uri="{BB962C8B-B14F-4D97-AF65-F5344CB8AC3E}">
        <p14:creationId xmlns:p14="http://schemas.microsoft.com/office/powerpoint/2010/main" val="36488828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D3A8C08-45E4-4646-9E40-9BB36BAD682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E4C3C225-3A0F-41E0-B912-E884728890AE}"/>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Scenariu document</a:t>
            </a:r>
          </a:p>
        </p:txBody>
      </p:sp>
      <p:sp>
        <p:nvSpPr>
          <p:cNvPr id="3" name="">
            <a:extLst xmlns:a="http://schemas.openxmlformats.org/drawingml/2006/main">
              <a:ext uri="{FF2B5EF4-FFF2-40B4-BE49-F238E27FC236}">
                <a16:creationId xmlns:a16="http://schemas.microsoft.com/office/drawing/2014/main" id="{E15C4501-0DB9-48B3-924D-ECA925BAADDB}"/>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Flux complet de la registratura la arhiva</a:t>
            </a:r>
          </a:p>
        </p:txBody>
      </p:sp>
      <p:sp>
        <p:nvSpPr>
          <p:cNvPr id="4" name="">
            <a:extLst xmlns:a="http://schemas.openxmlformats.org/drawingml/2006/main">
              <a:ext uri="{FF2B5EF4-FFF2-40B4-BE49-F238E27FC236}">
                <a16:creationId xmlns:a16="http://schemas.microsoft.com/office/drawing/2014/main" id="{0D47B0F2-7C84-4F90-905E-CA6B0FE3D30B}"/>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16</a:t>
            </a:r>
          </a:p>
        </p:txBody>
      </p:sp>
      <p:sp>
        <p:nvSpPr>
          <p:cNvPr id="5" name="">
            <a:extLst xmlns:a="http://schemas.openxmlformats.org/drawingml/2006/main">
              <a:ext uri="{FF2B5EF4-FFF2-40B4-BE49-F238E27FC236}">
                <a16:creationId xmlns:a16="http://schemas.microsoft.com/office/drawing/2014/main" id="{F58419C1-6114-485D-87F8-C74A8B5E55EE}"/>
              </a:ext>
            </a:extLst>
          </p:cNvPr>
          <p:cNvSpPr>
            <a:spLocks xmlns:a="http://schemas.openxmlformats.org/drawingml/2006/main" noGrp="1"/>
          </p:cNvSpPr>
          <p:nvPr/>
        </p:nvSpPr>
        <p:spPr>
          <a:xfrm xmlns:a="http://schemas.openxmlformats.org/drawingml/2006/main">
            <a:off x="514350" y="1123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Pentru utilizator, aplicatia acopera intreg traseul documentului, de la inregistrare pana la pastrarea lui in arhiva electronica.</a:t>
            </a:r>
          </a:p>
        </p:txBody>
      </p:sp>
      <p:sp>
        <p:nvSpPr>
          <p:cNvPr id="6" name="">
            <a:extLst xmlns:a="http://schemas.openxmlformats.org/drawingml/2006/main">
              <a:ext uri="{FF2B5EF4-FFF2-40B4-BE49-F238E27FC236}">
                <a16:creationId xmlns:a16="http://schemas.microsoft.com/office/drawing/2014/main" id="{741A66B8-FC77-4D71-8194-E2FB7CDF143D}"/>
              </a:ext>
            </a:extLst>
          </p:cNvPr>
          <p:cNvSpPr>
            <a:spLocks xmlns:a="http://schemas.openxmlformats.org/drawingml/2006/main" noGrp="1"/>
          </p:cNvSpPr>
          <p:nvPr/>
        </p:nvSpPr>
        <p:spPr>
          <a:xfrm xmlns:a="http://schemas.openxmlformats.org/drawingml/2006/main">
            <a:off x="514350" y="2286000"/>
            <a:ext cx="2381250" cy="2381250"/>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B449E324-9CD4-4ECC-B89E-3729634DEC5F}"/>
              </a:ext>
            </a:extLst>
          </p:cNvPr>
          <p:cNvSpPr>
            <a:spLocks xmlns:a="http://schemas.openxmlformats.org/drawingml/2006/main" noGrp="1"/>
          </p:cNvSpPr>
          <p:nvPr/>
        </p:nvSpPr>
        <p:spPr>
          <a:xfrm xmlns:a="http://schemas.openxmlformats.org/drawingml/2006/main">
            <a:off x="666750" y="2438400"/>
            <a:ext cx="400050" cy="247650"/>
          </a:xfrm>
          <a:prstGeom xmlns:a="http://schemas.openxmlformats.org/drawingml/2006/main" prst="roundRect">
            <a:avLst>
              <a:gd name="adj" fmla="val 50000"/>
            </a:avLst>
          </a:prstGeom>
          <a:solidFill xmlns:a="http://schemas.openxmlformats.org/drawingml/2006/main">
            <a:srgbClr val="0F172B"/>
          </a:solidFill>
          <a:ln xmlns:a="http://schemas.openxmlformats.org/drawingml/2006/main" w="0">
            <a:solidFill>
              <a:srgbClr val="0F172B"/>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1</a:t>
            </a:r>
          </a:p>
        </p:txBody>
      </p:sp>
      <p:sp>
        <p:nvSpPr>
          <p:cNvPr id="8" name="">
            <a:extLst xmlns:a="http://schemas.openxmlformats.org/drawingml/2006/main">
              <a:ext uri="{FF2B5EF4-FFF2-40B4-BE49-F238E27FC236}">
                <a16:creationId xmlns:a16="http://schemas.microsoft.com/office/drawing/2014/main" id="{889AFAAC-732B-477D-8B6E-8D98B45F21D9}"/>
              </a:ext>
            </a:extLst>
          </p:cNvPr>
          <p:cNvSpPr>
            <a:spLocks xmlns:a="http://schemas.openxmlformats.org/drawingml/2006/main" noGrp="1"/>
          </p:cNvSpPr>
          <p:nvPr/>
        </p:nvSpPr>
        <p:spPr>
          <a:xfrm xmlns:a="http://schemas.openxmlformats.org/drawingml/2006/main">
            <a:off x="666750" y="283845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20618"/>
                </a:solidFill>
              </a:defRPr>
            </a:pPr>
            <a:r>
              <a:rPr sz="1425" b="1">
                <a:solidFill>
                  <a:srgbClr val="020618"/>
                </a:solidFill>
              </a:rPr>
              <a:t>Inregistrare</a:t>
            </a:r>
          </a:p>
        </p:txBody>
      </p:sp>
      <p:sp>
        <p:nvSpPr>
          <p:cNvPr id="9" name="">
            <a:extLst xmlns:a="http://schemas.openxmlformats.org/drawingml/2006/main">
              <a:ext uri="{FF2B5EF4-FFF2-40B4-BE49-F238E27FC236}">
                <a16:creationId xmlns:a16="http://schemas.microsoft.com/office/drawing/2014/main" id="{3D7BE0AA-9C84-4760-B2F4-FB8FED93BB01}"/>
              </a:ext>
            </a:extLst>
          </p:cNvPr>
          <p:cNvSpPr>
            <a:spLocks xmlns:a="http://schemas.openxmlformats.org/drawingml/2006/main" noGrp="1"/>
          </p:cNvSpPr>
          <p:nvPr/>
        </p:nvSpPr>
        <p:spPr>
          <a:xfrm xmlns:a="http://schemas.openxmlformats.org/drawingml/2006/main">
            <a:off x="666750" y="3333750"/>
            <a:ext cx="20764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Documentul este introdus in registratura si primeste numar oficial.</a:t>
            </a:r>
          </a:p>
        </p:txBody>
      </p:sp>
      <p:sp>
        <p:nvSpPr>
          <p:cNvPr id="10" name="">
            <a:extLst xmlns:a="http://schemas.openxmlformats.org/drawingml/2006/main">
              <a:ext uri="{FF2B5EF4-FFF2-40B4-BE49-F238E27FC236}">
                <a16:creationId xmlns:a16="http://schemas.microsoft.com/office/drawing/2014/main" id="{8A5BAA08-DECA-4546-B15D-C5CB91A3E7A4}"/>
              </a:ext>
            </a:extLst>
          </p:cNvPr>
          <p:cNvSpPr>
            <a:spLocks xmlns:a="http://schemas.openxmlformats.org/drawingml/2006/main" noGrp="1"/>
          </p:cNvSpPr>
          <p:nvPr/>
        </p:nvSpPr>
        <p:spPr>
          <a:xfrm xmlns:a="http://schemas.openxmlformats.org/drawingml/2006/main">
            <a:off x="3295650" y="2286000"/>
            <a:ext cx="2381250" cy="2381250"/>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E2E8F0"/>
            </a:solidFill>
            <a:prstDash val="solid"/>
          </a:ln>
        </p:spPr>
      </p:sp>
      <p:sp>
        <p:nvSpPr>
          <p:cNvPr id="11" name="">
            <a:extLst xmlns:a="http://schemas.openxmlformats.org/drawingml/2006/main">
              <a:ext uri="{FF2B5EF4-FFF2-40B4-BE49-F238E27FC236}">
                <a16:creationId xmlns:a16="http://schemas.microsoft.com/office/drawing/2014/main" id="{4389926E-AB58-4264-9114-2CAF2500CE24}"/>
              </a:ext>
            </a:extLst>
          </p:cNvPr>
          <p:cNvSpPr>
            <a:spLocks xmlns:a="http://schemas.openxmlformats.org/drawingml/2006/main" noGrp="1"/>
          </p:cNvSpPr>
          <p:nvPr/>
        </p:nvSpPr>
        <p:spPr>
          <a:xfrm xmlns:a="http://schemas.openxmlformats.org/drawingml/2006/main">
            <a:off x="3448050" y="2438400"/>
            <a:ext cx="400050" cy="247650"/>
          </a:xfrm>
          <a:prstGeom xmlns:a="http://schemas.openxmlformats.org/drawingml/2006/main" prst="roundRect">
            <a:avLst>
              <a:gd name="adj" fmla="val 50000"/>
            </a:avLst>
          </a:prstGeom>
          <a:solidFill xmlns:a="http://schemas.openxmlformats.org/drawingml/2006/main">
            <a:srgbClr val="0F172B"/>
          </a:solidFill>
          <a:ln xmlns:a="http://schemas.openxmlformats.org/drawingml/2006/main" w="0">
            <a:solidFill>
              <a:srgbClr val="0F172B"/>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2</a:t>
            </a:r>
          </a:p>
        </p:txBody>
      </p:sp>
      <p:sp>
        <p:nvSpPr>
          <p:cNvPr id="12" name="">
            <a:extLst xmlns:a="http://schemas.openxmlformats.org/drawingml/2006/main">
              <a:ext uri="{FF2B5EF4-FFF2-40B4-BE49-F238E27FC236}">
                <a16:creationId xmlns:a16="http://schemas.microsoft.com/office/drawing/2014/main" id="{0E7654DC-A5A0-4797-912E-04EA2B46DB13}"/>
              </a:ext>
            </a:extLst>
          </p:cNvPr>
          <p:cNvSpPr>
            <a:spLocks xmlns:a="http://schemas.openxmlformats.org/drawingml/2006/main" noGrp="1"/>
          </p:cNvSpPr>
          <p:nvPr/>
        </p:nvSpPr>
        <p:spPr>
          <a:xfrm xmlns:a="http://schemas.openxmlformats.org/drawingml/2006/main">
            <a:off x="3448050" y="283845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20618"/>
                </a:solidFill>
              </a:defRPr>
            </a:pPr>
            <a:r>
              <a:rPr sz="1425" b="1">
                <a:solidFill>
                  <a:srgbClr val="020618"/>
                </a:solidFill>
              </a:rPr>
              <a:t>Lucru</a:t>
            </a:r>
          </a:p>
        </p:txBody>
      </p:sp>
      <p:sp>
        <p:nvSpPr>
          <p:cNvPr id="13" name="">
            <a:extLst xmlns:a="http://schemas.openxmlformats.org/drawingml/2006/main">
              <a:ext uri="{FF2B5EF4-FFF2-40B4-BE49-F238E27FC236}">
                <a16:creationId xmlns:a16="http://schemas.microsoft.com/office/drawing/2014/main" id="{6F88F50A-EBDA-4017-86E7-FE67CB24EC36}"/>
              </a:ext>
            </a:extLst>
          </p:cNvPr>
          <p:cNvSpPr>
            <a:spLocks xmlns:a="http://schemas.openxmlformats.org/drawingml/2006/main" noGrp="1"/>
          </p:cNvSpPr>
          <p:nvPr/>
        </p:nvSpPr>
        <p:spPr>
          <a:xfrm xmlns:a="http://schemas.openxmlformats.org/drawingml/2006/main">
            <a:off x="3448050" y="3333750"/>
            <a:ext cx="20764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Se lanseaza taskuri, aprobari si tranzitii in workflow.</a:t>
            </a:r>
          </a:p>
        </p:txBody>
      </p:sp>
      <p:sp>
        <p:nvSpPr>
          <p:cNvPr id="14" name="">
            <a:extLst xmlns:a="http://schemas.openxmlformats.org/drawingml/2006/main">
              <a:ext uri="{FF2B5EF4-FFF2-40B4-BE49-F238E27FC236}">
                <a16:creationId xmlns:a16="http://schemas.microsoft.com/office/drawing/2014/main" id="{F752FC8C-BBA4-4203-8817-059311446EC2}"/>
              </a:ext>
            </a:extLst>
          </p:cNvPr>
          <p:cNvSpPr>
            <a:spLocks xmlns:a="http://schemas.openxmlformats.org/drawingml/2006/main" noGrp="1"/>
          </p:cNvSpPr>
          <p:nvPr/>
        </p:nvSpPr>
        <p:spPr>
          <a:xfrm xmlns:a="http://schemas.openxmlformats.org/drawingml/2006/main">
            <a:off x="6076950" y="2286000"/>
            <a:ext cx="2381250" cy="2381250"/>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E2E8F0"/>
            </a:solidFill>
            <a:prstDash val="solid"/>
          </a:ln>
        </p:spPr>
      </p:sp>
      <p:sp>
        <p:nvSpPr>
          <p:cNvPr id="15" name="">
            <a:extLst xmlns:a="http://schemas.openxmlformats.org/drawingml/2006/main">
              <a:ext uri="{FF2B5EF4-FFF2-40B4-BE49-F238E27FC236}">
                <a16:creationId xmlns:a16="http://schemas.microsoft.com/office/drawing/2014/main" id="{BA92252E-A2A4-4626-A09E-50E982D0C9C5}"/>
              </a:ext>
            </a:extLst>
          </p:cNvPr>
          <p:cNvSpPr>
            <a:spLocks xmlns:a="http://schemas.openxmlformats.org/drawingml/2006/main" noGrp="1"/>
          </p:cNvSpPr>
          <p:nvPr/>
        </p:nvSpPr>
        <p:spPr>
          <a:xfrm xmlns:a="http://schemas.openxmlformats.org/drawingml/2006/main">
            <a:off x="6229350" y="2438400"/>
            <a:ext cx="400050" cy="247650"/>
          </a:xfrm>
          <a:prstGeom xmlns:a="http://schemas.openxmlformats.org/drawingml/2006/main" prst="roundRect">
            <a:avLst>
              <a:gd name="adj" fmla="val 50000"/>
            </a:avLst>
          </a:prstGeom>
          <a:solidFill xmlns:a="http://schemas.openxmlformats.org/drawingml/2006/main">
            <a:srgbClr val="0F172B"/>
          </a:solidFill>
          <a:ln xmlns:a="http://schemas.openxmlformats.org/drawingml/2006/main" w="0">
            <a:solidFill>
              <a:srgbClr val="0F172B"/>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3</a:t>
            </a:r>
          </a:p>
        </p:txBody>
      </p:sp>
      <p:sp>
        <p:nvSpPr>
          <p:cNvPr id="16" name="">
            <a:extLst xmlns:a="http://schemas.openxmlformats.org/drawingml/2006/main">
              <a:ext uri="{FF2B5EF4-FFF2-40B4-BE49-F238E27FC236}">
                <a16:creationId xmlns:a16="http://schemas.microsoft.com/office/drawing/2014/main" id="{958218E8-B4FB-409D-B2CA-9A74EFD6E598}"/>
              </a:ext>
            </a:extLst>
          </p:cNvPr>
          <p:cNvSpPr>
            <a:spLocks xmlns:a="http://schemas.openxmlformats.org/drawingml/2006/main" noGrp="1"/>
          </p:cNvSpPr>
          <p:nvPr/>
        </p:nvSpPr>
        <p:spPr>
          <a:xfrm xmlns:a="http://schemas.openxmlformats.org/drawingml/2006/main">
            <a:off x="6229350" y="283845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20618"/>
                </a:solidFill>
              </a:defRPr>
            </a:pPr>
            <a:r>
              <a:rPr sz="1425" b="1">
                <a:solidFill>
                  <a:srgbClr val="020618"/>
                </a:solidFill>
              </a:rPr>
              <a:t>Finalizare</a:t>
            </a:r>
          </a:p>
        </p:txBody>
      </p:sp>
      <p:sp>
        <p:nvSpPr>
          <p:cNvPr id="17" name="">
            <a:extLst xmlns:a="http://schemas.openxmlformats.org/drawingml/2006/main">
              <a:ext uri="{FF2B5EF4-FFF2-40B4-BE49-F238E27FC236}">
                <a16:creationId xmlns:a16="http://schemas.microsoft.com/office/drawing/2014/main" id="{CB256B4E-D62A-42F3-8C3F-C92F0BCA3D83}"/>
              </a:ext>
            </a:extLst>
          </p:cNvPr>
          <p:cNvSpPr>
            <a:spLocks xmlns:a="http://schemas.openxmlformats.org/drawingml/2006/main" noGrp="1"/>
          </p:cNvSpPr>
          <p:nvPr/>
        </p:nvSpPr>
        <p:spPr>
          <a:xfrm xmlns:a="http://schemas.openxmlformats.org/drawingml/2006/main">
            <a:off x="6229350" y="3333750"/>
            <a:ext cx="20764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Documentul este inchis dupa raspuns, aprobare sau executie.</a:t>
            </a:r>
          </a:p>
        </p:txBody>
      </p:sp>
      <p:sp>
        <p:nvSpPr>
          <p:cNvPr id="18" name="">
            <a:extLst xmlns:a="http://schemas.openxmlformats.org/drawingml/2006/main">
              <a:ext uri="{FF2B5EF4-FFF2-40B4-BE49-F238E27FC236}">
                <a16:creationId xmlns:a16="http://schemas.microsoft.com/office/drawing/2014/main" id="{DACBFA60-1A39-4E05-A3B3-52E507AF7383}"/>
              </a:ext>
            </a:extLst>
          </p:cNvPr>
          <p:cNvSpPr>
            <a:spLocks xmlns:a="http://schemas.openxmlformats.org/drawingml/2006/main" noGrp="1"/>
          </p:cNvSpPr>
          <p:nvPr/>
        </p:nvSpPr>
        <p:spPr>
          <a:xfrm xmlns:a="http://schemas.openxmlformats.org/drawingml/2006/main">
            <a:off x="8858250" y="2286000"/>
            <a:ext cx="2381250" cy="2381250"/>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E2E8F0"/>
            </a:solidFill>
            <a:prstDash val="solid"/>
          </a:ln>
        </p:spPr>
      </p:sp>
      <p:sp>
        <p:nvSpPr>
          <p:cNvPr id="19" name="">
            <a:extLst xmlns:a="http://schemas.openxmlformats.org/drawingml/2006/main">
              <a:ext uri="{FF2B5EF4-FFF2-40B4-BE49-F238E27FC236}">
                <a16:creationId xmlns:a16="http://schemas.microsoft.com/office/drawing/2014/main" id="{A4DB0FAE-56CC-4BB1-ABE4-4287462DF0CF}"/>
              </a:ext>
            </a:extLst>
          </p:cNvPr>
          <p:cNvSpPr>
            <a:spLocks xmlns:a="http://schemas.openxmlformats.org/drawingml/2006/main" noGrp="1"/>
          </p:cNvSpPr>
          <p:nvPr/>
        </p:nvSpPr>
        <p:spPr>
          <a:xfrm xmlns:a="http://schemas.openxmlformats.org/drawingml/2006/main">
            <a:off x="9010650" y="2438400"/>
            <a:ext cx="400050" cy="247650"/>
          </a:xfrm>
          <a:prstGeom xmlns:a="http://schemas.openxmlformats.org/drawingml/2006/main" prst="roundRect">
            <a:avLst>
              <a:gd name="adj" fmla="val 50000"/>
            </a:avLst>
          </a:prstGeom>
          <a:solidFill xmlns:a="http://schemas.openxmlformats.org/drawingml/2006/main">
            <a:srgbClr val="0F172B"/>
          </a:solidFill>
          <a:ln xmlns:a="http://schemas.openxmlformats.org/drawingml/2006/main" w="0">
            <a:solidFill>
              <a:srgbClr val="0F172B"/>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4</a:t>
            </a:r>
          </a:p>
        </p:txBody>
      </p:sp>
      <p:sp>
        <p:nvSpPr>
          <p:cNvPr id="20" name="">
            <a:extLst xmlns:a="http://schemas.openxmlformats.org/drawingml/2006/main">
              <a:ext uri="{FF2B5EF4-FFF2-40B4-BE49-F238E27FC236}">
                <a16:creationId xmlns:a16="http://schemas.microsoft.com/office/drawing/2014/main" id="{E978CE3E-1232-4163-8881-1DF10343515C}"/>
              </a:ext>
            </a:extLst>
          </p:cNvPr>
          <p:cNvSpPr>
            <a:spLocks xmlns:a="http://schemas.openxmlformats.org/drawingml/2006/main" noGrp="1"/>
          </p:cNvSpPr>
          <p:nvPr/>
        </p:nvSpPr>
        <p:spPr>
          <a:xfrm xmlns:a="http://schemas.openxmlformats.org/drawingml/2006/main">
            <a:off x="9010650" y="283845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20618"/>
                </a:solidFill>
              </a:defRPr>
            </a:pPr>
            <a:r>
              <a:rPr sz="1425" b="1">
                <a:solidFill>
                  <a:srgbClr val="020618"/>
                </a:solidFill>
              </a:rPr>
              <a:t>Arhivare</a:t>
            </a:r>
          </a:p>
        </p:txBody>
      </p:sp>
      <p:sp>
        <p:nvSpPr>
          <p:cNvPr id="21" name="">
            <a:extLst xmlns:a="http://schemas.openxmlformats.org/drawingml/2006/main">
              <a:ext uri="{FF2B5EF4-FFF2-40B4-BE49-F238E27FC236}">
                <a16:creationId xmlns:a16="http://schemas.microsoft.com/office/drawing/2014/main" id="{DE712030-DCC2-4A43-9661-7B01D8CE9D8F}"/>
              </a:ext>
            </a:extLst>
          </p:cNvPr>
          <p:cNvSpPr>
            <a:spLocks xmlns:a="http://schemas.openxmlformats.org/drawingml/2006/main" noGrp="1"/>
          </p:cNvSpPr>
          <p:nvPr/>
        </p:nvSpPr>
        <p:spPr>
          <a:xfrm xmlns:a="http://schemas.openxmlformats.org/drawingml/2006/main">
            <a:off x="9010650" y="3333750"/>
            <a:ext cx="20764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Documentul finalizat este transferat in eArhiva cu toate referintele necesare.</a:t>
            </a:r>
          </a:p>
        </p:txBody>
      </p:sp>
      <p:sp>
        <p:nvSpPr>
          <p:cNvPr id="22" name="">
            <a:extLst xmlns:a="http://schemas.openxmlformats.org/drawingml/2006/main">
              <a:ext uri="{FF2B5EF4-FFF2-40B4-BE49-F238E27FC236}">
                <a16:creationId xmlns:a16="http://schemas.microsoft.com/office/drawing/2014/main" id="{764FE3C6-CEB4-401D-B5A8-29CC725EA727}"/>
              </a:ext>
            </a:extLst>
          </p:cNvPr>
          <p:cNvSpPr>
            <a:spLocks xmlns:a="http://schemas.openxmlformats.org/drawingml/2006/main" noGrp="1"/>
          </p:cNvSpPr>
          <p:nvPr/>
        </p:nvSpPr>
        <p:spPr>
          <a:xfrm xmlns:a="http://schemas.openxmlformats.org/drawingml/2006/main">
            <a:off x="514350" y="5048250"/>
            <a:ext cx="11163300" cy="104775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E2E8F0"/>
            </a:solidFill>
            <a:prstDash val="solid"/>
          </a:ln>
        </p:spPr>
      </p:sp>
      <p:sp>
        <p:nvSpPr>
          <p:cNvPr id="23" name="">
            <a:extLst xmlns:a="http://schemas.openxmlformats.org/drawingml/2006/main">
              <a:ext uri="{FF2B5EF4-FFF2-40B4-BE49-F238E27FC236}">
                <a16:creationId xmlns:a16="http://schemas.microsoft.com/office/drawing/2014/main" id="{AA24C281-A1BE-4F3B-976B-03AB6B5BEB3D}"/>
              </a:ext>
            </a:extLst>
          </p:cNvPr>
          <p:cNvSpPr>
            <a:spLocks xmlns:a="http://schemas.openxmlformats.org/drawingml/2006/main" noGrp="1"/>
          </p:cNvSpPr>
          <p:nvPr/>
        </p:nvSpPr>
        <p:spPr>
          <a:xfrm xmlns:a="http://schemas.openxmlformats.org/drawingml/2006/main">
            <a:off x="666750" y="518160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Rezultatul final pentru utilizator</a:t>
            </a:r>
          </a:p>
        </p:txBody>
      </p:sp>
      <p:sp>
        <p:nvSpPr>
          <p:cNvPr id="24" name="">
            <a:extLst xmlns:a="http://schemas.openxmlformats.org/drawingml/2006/main">
              <a:ext uri="{FF2B5EF4-FFF2-40B4-BE49-F238E27FC236}">
                <a16:creationId xmlns:a16="http://schemas.microsoft.com/office/drawing/2014/main" id="{A04010D5-8EC2-401F-AF2F-DA453A9BFC62}"/>
              </a:ext>
            </a:extLst>
          </p:cNvPr>
          <p:cNvSpPr>
            <a:spLocks xmlns:a="http://schemas.openxmlformats.org/drawingml/2006/main" noGrp="1"/>
          </p:cNvSpPr>
          <p:nvPr/>
        </p:nvSpPr>
        <p:spPr>
          <a:xfrm xmlns:a="http://schemas.openxmlformats.org/drawingml/2006/main">
            <a:off x="666750" y="5543550"/>
            <a:ext cx="1085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Utilizatorul nu mai rupe fluxul intre sisteme. Tot traseul este urmarit in aceeasi aplicatie. Acest parcurs arata ordinea fireasca in care utilizatorul poate lucra, fara sa piarda contextul intre module si fara sa dubleze informatia in afara aplicatiei.</a:t>
            </a:r>
          </a:p>
        </p:txBody>
      </p:sp>
      <p:sp>
        <p:nvSpPr>
          <p:cNvPr id="25" name="">
            <a:extLst xmlns:a="http://schemas.openxmlformats.org/drawingml/2006/main">
              <a:ext uri="{FF2B5EF4-FFF2-40B4-BE49-F238E27FC236}">
                <a16:creationId xmlns:a16="http://schemas.microsoft.com/office/drawing/2014/main" id="{12579839-1141-4FE0-B71B-66A665097C21}"/>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26" name="">
            <a:extLst xmlns:a="http://schemas.openxmlformats.org/drawingml/2006/main">
              <a:ext uri="{FF2B5EF4-FFF2-40B4-BE49-F238E27FC236}">
                <a16:creationId xmlns:a16="http://schemas.microsoft.com/office/drawing/2014/main" id="{4A2C1E8F-F20D-4401-91B7-8BD95F7DE0BF}"/>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Scenariu cap-coada pentru documente</a:t>
            </a:r>
          </a:p>
        </p:txBody>
      </p:sp>
    </p:spTree>
    <p:extLst>
      <p:ext uri="{BB962C8B-B14F-4D97-AF65-F5344CB8AC3E}">
        <p14:creationId xmlns:p14="http://schemas.microsoft.com/office/powerpoint/2010/main" val="124454748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D57B845-3A8D-4382-972D-0C02AEED1A4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24BDC9E6-0438-49E0-A0F9-6EE16A10B98E}"/>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Roluri educationale</a:t>
            </a:r>
          </a:p>
        </p:txBody>
      </p:sp>
      <p:sp>
        <p:nvSpPr>
          <p:cNvPr id="3" name="">
            <a:extLst xmlns:a="http://schemas.openxmlformats.org/drawingml/2006/main">
              <a:ext uri="{FF2B5EF4-FFF2-40B4-BE49-F238E27FC236}">
                <a16:creationId xmlns:a16="http://schemas.microsoft.com/office/drawing/2014/main" id="{76E7475C-3F6A-41C6-B0E5-1335B5DC53CA}"/>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Cockpit director</a:t>
            </a:r>
          </a:p>
        </p:txBody>
      </p:sp>
      <p:sp>
        <p:nvSpPr>
          <p:cNvPr id="4" name="">
            <a:extLst xmlns:a="http://schemas.openxmlformats.org/drawingml/2006/main">
              <a:ext uri="{FF2B5EF4-FFF2-40B4-BE49-F238E27FC236}">
                <a16:creationId xmlns:a16="http://schemas.microsoft.com/office/drawing/2014/main" id="{166429AD-2EF2-4F24-9155-66DBD125F15D}"/>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17</a:t>
            </a:r>
          </a:p>
        </p:txBody>
      </p:sp>
      <p:sp>
        <p:nvSpPr>
          <p:cNvPr id="5" name="">
            <a:extLst xmlns:a="http://schemas.openxmlformats.org/drawingml/2006/main">
              <a:ext uri="{FF2B5EF4-FFF2-40B4-BE49-F238E27FC236}">
                <a16:creationId xmlns:a16="http://schemas.microsoft.com/office/drawing/2014/main" id="{0D90021E-2A60-4DE9-A8E1-3812DB7DA648}"/>
              </a:ext>
            </a:extLst>
          </p:cNvPr>
          <p:cNvSpPr>
            <a:spLocks xmlns:a="http://schemas.openxmlformats.org/drawingml/2006/main" noGrp="1"/>
          </p:cNvSpPr>
          <p:nvPr/>
        </p:nvSpPr>
        <p:spPr>
          <a:xfrm xmlns:a="http://schemas.openxmlformats.org/drawingml/2006/main">
            <a:off x="514350" y="114300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Cockpitul directorului concentreaza guvernanta, portofolii, evaluari, dosare manageriale si alerte. Este ecranul de decizie rapida.</a:t>
            </a:r>
          </a:p>
        </p:txBody>
      </p:sp>
      <p:sp>
        <p:nvSpPr>
          <p:cNvPr id="6" name="">
            <a:extLst xmlns:a="http://schemas.openxmlformats.org/drawingml/2006/main">
              <a:ext uri="{FF2B5EF4-FFF2-40B4-BE49-F238E27FC236}">
                <a16:creationId xmlns:a16="http://schemas.microsoft.com/office/drawing/2014/main" id="{EB63E5C2-D256-42A2-8B29-883386DDF13C}"/>
              </a:ext>
            </a:extLst>
          </p:cNvPr>
          <p:cNvSpPr>
            <a:spLocks xmlns:a="http://schemas.openxmlformats.org/drawingml/2006/main" noGrp="1"/>
          </p:cNvSpPr>
          <p:nvPr/>
        </p:nvSpPr>
        <p:spPr>
          <a:xfrm xmlns:a="http://schemas.openxmlformats.org/drawingml/2006/main">
            <a:off x="514350" y="1981200"/>
            <a:ext cx="4095750" cy="224790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9D2D7212-69DA-481D-97F2-25E1FEE83AAD}"/>
              </a:ext>
            </a:extLst>
          </p:cNvPr>
          <p:cNvSpPr>
            <a:spLocks xmlns:a="http://schemas.openxmlformats.org/drawingml/2006/main" noGrp="1"/>
          </p:cNvSpPr>
          <p:nvPr/>
        </p:nvSpPr>
        <p:spPr>
          <a:xfrm xmlns:a="http://schemas.openxmlformats.org/drawingml/2006/main">
            <a:off x="666750" y="21145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Ce face utilizatorul</a:t>
            </a:r>
          </a:p>
        </p:txBody>
      </p:sp>
      <p:sp>
        <p:nvSpPr>
          <p:cNvPr id="8" name="">
            <a:extLst xmlns:a="http://schemas.openxmlformats.org/drawingml/2006/main">
              <a:ext uri="{FF2B5EF4-FFF2-40B4-BE49-F238E27FC236}">
                <a16:creationId xmlns:a16="http://schemas.microsoft.com/office/drawing/2014/main" id="{3DC1B3FD-C1EC-4B10-B2B0-F2DE10F80964}"/>
              </a:ext>
            </a:extLst>
          </p:cNvPr>
          <p:cNvSpPr>
            <a:spLocks xmlns:a="http://schemas.openxmlformats.org/drawingml/2006/main" noGrp="1"/>
          </p:cNvSpPr>
          <p:nvPr/>
        </p:nvSpPr>
        <p:spPr>
          <a:xfrm xmlns:a="http://schemas.openxmlformats.org/drawingml/2006/main">
            <a:off x="666750" y="2476500"/>
            <a:ext cx="37909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Verifici indicatorii principali si alertele active.</a:t>
            </a:r>
          </a:p>
          <a:p xmlns:a="http://schemas.openxmlformats.org/drawingml/2006/main">
            <a:pPr>
              <a:defRPr sz="1125">
                <a:solidFill>
                  <a:srgbClr val="314158"/>
                </a:solidFill>
              </a:defRPr>
            </a:pPr>
            <a:r>
              <a:rPr sz="1125">
                <a:solidFill>
                  <a:srgbClr val="314158"/>
                </a:solidFill>
              </a:rPr>
              <a:t>• Intri rapid in sedinte, portofolii, evaluari sau documente manageriale.</a:t>
            </a:r>
          </a:p>
          <a:p xmlns:a="http://schemas.openxmlformats.org/drawingml/2006/main">
            <a:pPr>
              <a:defRPr sz="1125">
                <a:solidFill>
                  <a:srgbClr val="314158"/>
                </a:solidFill>
              </a:defRPr>
            </a:pPr>
            <a:r>
              <a:rPr sz="1125">
                <a:solidFill>
                  <a:srgbClr val="314158"/>
                </a:solidFill>
              </a:rPr>
              <a:t>• Deschizi rapoartele standard atunci cand ai nevoie de situatii centralizate.</a:t>
            </a:r>
          </a:p>
        </p:txBody>
      </p:sp>
      <p:sp>
        <p:nvSpPr>
          <p:cNvPr id="9" name="">
            <a:extLst xmlns:a="http://schemas.openxmlformats.org/drawingml/2006/main">
              <a:ext uri="{FF2B5EF4-FFF2-40B4-BE49-F238E27FC236}">
                <a16:creationId xmlns:a16="http://schemas.microsoft.com/office/drawing/2014/main" id="{DD69D9F7-7C44-449A-9F1F-61A6E7370DB8}"/>
              </a:ext>
            </a:extLst>
          </p:cNvPr>
          <p:cNvSpPr>
            <a:spLocks xmlns:a="http://schemas.openxmlformats.org/drawingml/2006/main" noGrp="1"/>
          </p:cNvSpPr>
          <p:nvPr/>
        </p:nvSpPr>
        <p:spPr>
          <a:xfrm xmlns:a="http://schemas.openxmlformats.org/drawingml/2006/main">
            <a:off x="514350" y="4381500"/>
            <a:ext cx="4095750" cy="11430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1F7B9D98-85A9-4FC6-8A4B-2D7CF54D4DEB}"/>
              </a:ext>
            </a:extLst>
          </p:cNvPr>
          <p:cNvSpPr>
            <a:spLocks xmlns:a="http://schemas.openxmlformats.org/drawingml/2006/main" noGrp="1"/>
          </p:cNvSpPr>
          <p:nvPr/>
        </p:nvSpPr>
        <p:spPr>
          <a:xfrm xmlns:a="http://schemas.openxmlformats.org/drawingml/2006/main">
            <a:off x="666750" y="451485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Cum se foloseste ecranul</a:t>
            </a:r>
          </a:p>
        </p:txBody>
      </p:sp>
      <p:sp>
        <p:nvSpPr>
          <p:cNvPr id="11" name="">
            <a:extLst xmlns:a="http://schemas.openxmlformats.org/drawingml/2006/main">
              <a:ext uri="{FF2B5EF4-FFF2-40B4-BE49-F238E27FC236}">
                <a16:creationId xmlns:a16="http://schemas.microsoft.com/office/drawing/2014/main" id="{DF2903AF-F1D9-48DF-B993-39CEAF9E7AE6}"/>
              </a:ext>
            </a:extLst>
          </p:cNvPr>
          <p:cNvSpPr>
            <a:spLocks xmlns:a="http://schemas.openxmlformats.org/drawingml/2006/main" noGrp="1"/>
          </p:cNvSpPr>
          <p:nvPr/>
        </p:nvSpPr>
        <p:spPr>
          <a:xfrm xmlns:a="http://schemas.openxmlformats.org/drawingml/2006/main">
            <a:off x="666750" y="4876800"/>
            <a:ext cx="3790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Utilizatorul porneste din acest ecran, completeaza informatiile necesare si verifica sumarul inainte de a salva sau de a trimite fluxul mai departe. La final, directorul vede intr-un singur loc ce trebuie revizuit, aprobat sau urmarit.</a:t>
            </a:r>
          </a:p>
        </p:txBody>
      </p:sp>
      <p:sp>
        <p:nvSpPr>
          <p:cNvPr id="12" name="">
            <a:extLst xmlns:a="http://schemas.openxmlformats.org/drawingml/2006/main">
              <a:ext uri="{FF2B5EF4-FFF2-40B4-BE49-F238E27FC236}">
                <a16:creationId xmlns:a16="http://schemas.microsoft.com/office/drawing/2014/main" id="{13CB427C-2661-451A-85B6-FF9CBC41001C}"/>
              </a:ext>
            </a:extLst>
          </p:cNvPr>
          <p:cNvSpPr>
            <a:spLocks xmlns:a="http://schemas.openxmlformats.org/drawingml/2006/main" noGrp="1"/>
          </p:cNvSpPr>
          <p:nvPr/>
        </p:nvSpPr>
        <p:spPr>
          <a:xfrm xmlns:a="http://schemas.openxmlformats.org/drawingml/2006/main">
            <a:off x="514350" y="5657850"/>
            <a:ext cx="409575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EC0ADC46-EE11-4AC4-92CD-EA1C11C7E18F}"/>
              </a:ext>
            </a:extLst>
          </p:cNvPr>
          <p:cNvSpPr>
            <a:spLocks xmlns:a="http://schemas.openxmlformats.org/drawingml/2006/main" noGrp="1"/>
          </p:cNvSpPr>
          <p:nvPr/>
        </p:nvSpPr>
        <p:spPr>
          <a:xfrm xmlns:a="http://schemas.openxmlformats.org/drawingml/2006/main">
            <a:off x="666750" y="5791200"/>
            <a:ext cx="3790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Rezultat final: Directorul vede intr-un singur loc ce trebuie revizuit, aprobat sau urmarit.</a:t>
            </a:r>
          </a:p>
        </p:txBody>
      </p:sp>
      <p:sp>
        <p:nvSpPr>
          <p:cNvPr id="14" name="">
            <a:extLst xmlns:a="http://schemas.openxmlformats.org/drawingml/2006/main">
              <a:ext uri="{FF2B5EF4-FFF2-40B4-BE49-F238E27FC236}">
                <a16:creationId xmlns:a16="http://schemas.microsoft.com/office/drawing/2014/main" id="{2B276D67-D837-4244-A7A7-3AE468ED145E}"/>
              </a:ext>
            </a:extLst>
          </p:cNvPr>
          <p:cNvSpPr>
            <a:spLocks xmlns:a="http://schemas.openxmlformats.org/drawingml/2006/main" noGrp="1"/>
          </p:cNvSpPr>
          <p:nvPr/>
        </p:nvSpPr>
        <p:spPr>
          <a:xfrm xmlns:a="http://schemas.openxmlformats.org/drawingml/2006/main">
            <a:off x="4895850" y="1981200"/>
            <a:ext cx="6610350" cy="37338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3fcfc2e653374867"/>
          <a:stretch xmlns:a="http://schemas.openxmlformats.org/drawingml/2006/main"/>
        </p:blipFill>
        <p:spPr>
          <a:xfrm xmlns:a="http://schemas.openxmlformats.org/drawingml/2006/main">
            <a:off x="5085292" y="2095500"/>
            <a:ext cx="6231467" cy="3505200"/>
          </a:xfrm>
          <a:prstGeom xmlns:a="http://schemas.openxmlformats.org/drawingml/2006/main" prst="roundRect">
            <a:avLst>
              <a:gd name="adj" fmla="val 3261"/>
            </a:avLst>
          </a:prstGeom>
        </p:spPr>
      </p:pic>
      <p:sp>
        <p:nvSpPr>
          <p:cNvPr id="16" name="">
            <a:extLst xmlns:a="http://schemas.openxmlformats.org/drawingml/2006/main">
              <a:ext uri="{FF2B5EF4-FFF2-40B4-BE49-F238E27FC236}">
                <a16:creationId xmlns:a16="http://schemas.microsoft.com/office/drawing/2014/main" id="{FB0221D0-D014-4E9D-A7CE-9D3FA8D8D2DA}"/>
              </a:ext>
            </a:extLst>
          </p:cNvPr>
          <p:cNvSpPr>
            <a:spLocks xmlns:a="http://schemas.openxmlformats.org/drawingml/2006/main" noGrp="1"/>
          </p:cNvSpPr>
          <p:nvPr/>
        </p:nvSpPr>
        <p:spPr>
          <a:xfrm xmlns:a="http://schemas.openxmlformats.org/drawingml/2006/main">
            <a:off x="4895850" y="5772150"/>
            <a:ext cx="6610350" cy="476250"/>
          </a:xfrm>
          <a:prstGeom xmlns:a="http://schemas.openxmlformats.org/drawingml/2006/main" prst="roundRect">
            <a:avLst>
              <a:gd name="adj" fmla="val 32000"/>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786391C8-6723-40C3-996D-CF3F33C501BA}"/>
              </a:ext>
            </a:extLst>
          </p:cNvPr>
          <p:cNvSpPr>
            <a:spLocks xmlns:a="http://schemas.openxmlformats.org/drawingml/2006/main" noGrp="1"/>
          </p:cNvSpPr>
          <p:nvPr/>
        </p:nvSpPr>
        <p:spPr>
          <a:xfrm xmlns:a="http://schemas.openxmlformats.org/drawingml/2006/main">
            <a:off x="5048250" y="5905500"/>
            <a:ext cx="6305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Ce observi in captura: Captura prezinta ecranul real folosit de utilizator in cockpit director, cu zonele de lista, filtrare, completare si actiune vizibile exact asa cum apar in aplicatie.</a:t>
            </a:r>
          </a:p>
        </p:txBody>
      </p:sp>
      <p:sp>
        <p:nvSpPr>
          <p:cNvPr id="18" name="">
            <a:extLst xmlns:a="http://schemas.openxmlformats.org/drawingml/2006/main">
              <a:ext uri="{FF2B5EF4-FFF2-40B4-BE49-F238E27FC236}">
                <a16:creationId xmlns:a16="http://schemas.microsoft.com/office/drawing/2014/main" id="{3EFB7479-B049-41A6-BE60-876CB0F9DC61}"/>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9" name="">
            <a:extLst xmlns:a="http://schemas.openxmlformats.org/drawingml/2006/main">
              <a:ext uri="{FF2B5EF4-FFF2-40B4-BE49-F238E27FC236}">
                <a16:creationId xmlns:a16="http://schemas.microsoft.com/office/drawing/2014/main" id="{8D405397-30D9-4D5B-90B7-9EB6A54C6274}"/>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Cockpit director</a:t>
            </a:r>
          </a:p>
        </p:txBody>
      </p:sp>
    </p:spTree>
    <p:extLst>
      <p:ext uri="{BB962C8B-B14F-4D97-AF65-F5344CB8AC3E}">
        <p14:creationId xmlns:p14="http://schemas.microsoft.com/office/powerpoint/2010/main" val="89023371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849091A-267C-4E96-BC19-6260E36C688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1E2B96B7-56A6-4BAD-ACFD-861D6738BB9D}"/>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Management educational</a:t>
            </a:r>
          </a:p>
        </p:txBody>
      </p:sp>
      <p:sp>
        <p:nvSpPr>
          <p:cNvPr id="3" name="">
            <a:extLst xmlns:a="http://schemas.openxmlformats.org/drawingml/2006/main">
              <a:ext uri="{FF2B5EF4-FFF2-40B4-BE49-F238E27FC236}">
                <a16:creationId xmlns:a16="http://schemas.microsoft.com/office/drawing/2014/main" id="{0F999E3B-1098-433E-B6B9-07A58D181CDA}"/>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Rapoarte standard</a:t>
            </a:r>
          </a:p>
        </p:txBody>
      </p:sp>
      <p:sp>
        <p:nvSpPr>
          <p:cNvPr id="4" name="">
            <a:extLst xmlns:a="http://schemas.openxmlformats.org/drawingml/2006/main">
              <a:ext uri="{FF2B5EF4-FFF2-40B4-BE49-F238E27FC236}">
                <a16:creationId xmlns:a16="http://schemas.microsoft.com/office/drawing/2014/main" id="{57492636-5C68-4127-863A-BA687DDFDE29}"/>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18</a:t>
            </a:r>
          </a:p>
        </p:txBody>
      </p:sp>
      <p:sp>
        <p:nvSpPr>
          <p:cNvPr id="5" name="">
            <a:extLst xmlns:a="http://schemas.openxmlformats.org/drawingml/2006/main">
              <a:ext uri="{FF2B5EF4-FFF2-40B4-BE49-F238E27FC236}">
                <a16:creationId xmlns:a16="http://schemas.microsoft.com/office/drawing/2014/main" id="{267388EC-028C-44DF-9A80-FA89411CC30A}"/>
              </a:ext>
            </a:extLst>
          </p:cNvPr>
          <p:cNvSpPr>
            <a:spLocks xmlns:a="http://schemas.openxmlformats.org/drawingml/2006/main" noGrp="1"/>
          </p:cNvSpPr>
          <p:nvPr/>
        </p:nvSpPr>
        <p:spPr>
          <a:xfrm xmlns:a="http://schemas.openxmlformats.org/drawingml/2006/main">
            <a:off x="514350" y="114300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Zona de rapoarte standard ofera situatii pregatite pentru analiza si decizie: sedinte, hotarari, portofolii, evaluari si conformitate.</a:t>
            </a:r>
          </a:p>
        </p:txBody>
      </p:sp>
      <p:sp>
        <p:nvSpPr>
          <p:cNvPr id="6" name="">
            <a:extLst xmlns:a="http://schemas.openxmlformats.org/drawingml/2006/main">
              <a:ext uri="{FF2B5EF4-FFF2-40B4-BE49-F238E27FC236}">
                <a16:creationId xmlns:a16="http://schemas.microsoft.com/office/drawing/2014/main" id="{6C00CA9E-70F1-487A-A080-99BBE8BC9931}"/>
              </a:ext>
            </a:extLst>
          </p:cNvPr>
          <p:cNvSpPr>
            <a:spLocks xmlns:a="http://schemas.openxmlformats.org/drawingml/2006/main" noGrp="1"/>
          </p:cNvSpPr>
          <p:nvPr/>
        </p:nvSpPr>
        <p:spPr>
          <a:xfrm xmlns:a="http://schemas.openxmlformats.org/drawingml/2006/main">
            <a:off x="514350" y="1981200"/>
            <a:ext cx="4095750" cy="224790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A0D62895-1665-4216-9652-6EE6FEB9F9DA}"/>
              </a:ext>
            </a:extLst>
          </p:cNvPr>
          <p:cNvSpPr>
            <a:spLocks xmlns:a="http://schemas.openxmlformats.org/drawingml/2006/main" noGrp="1"/>
          </p:cNvSpPr>
          <p:nvPr/>
        </p:nvSpPr>
        <p:spPr>
          <a:xfrm xmlns:a="http://schemas.openxmlformats.org/drawingml/2006/main">
            <a:off x="666750" y="21145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Ce face utilizatorul</a:t>
            </a:r>
          </a:p>
        </p:txBody>
      </p:sp>
      <p:sp>
        <p:nvSpPr>
          <p:cNvPr id="8" name="">
            <a:extLst xmlns:a="http://schemas.openxmlformats.org/drawingml/2006/main">
              <a:ext uri="{FF2B5EF4-FFF2-40B4-BE49-F238E27FC236}">
                <a16:creationId xmlns:a16="http://schemas.microsoft.com/office/drawing/2014/main" id="{C92822A5-C203-4448-AB86-93D29A199B08}"/>
              </a:ext>
            </a:extLst>
          </p:cNvPr>
          <p:cNvSpPr>
            <a:spLocks xmlns:a="http://schemas.openxmlformats.org/drawingml/2006/main" noGrp="1"/>
          </p:cNvSpPr>
          <p:nvPr/>
        </p:nvSpPr>
        <p:spPr>
          <a:xfrm xmlns:a="http://schemas.openxmlformats.org/drawingml/2006/main">
            <a:off x="666750" y="2476500"/>
            <a:ext cx="37909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Alegi raportul relevant din cockpitul directorului.</a:t>
            </a:r>
          </a:p>
          <a:p xmlns:a="http://schemas.openxmlformats.org/drawingml/2006/main">
            <a:pPr>
              <a:defRPr sz="1125">
                <a:solidFill>
                  <a:srgbClr val="314158"/>
                </a:solidFill>
              </a:defRPr>
            </a:pPr>
            <a:r>
              <a:rPr sz="1125">
                <a:solidFill>
                  <a:srgbClr val="314158"/>
                </a:solidFill>
              </a:rPr>
              <a:t>• Filtrezi dupa an scolar, organism, status sau context.</a:t>
            </a:r>
          </a:p>
          <a:p xmlns:a="http://schemas.openxmlformats.org/drawingml/2006/main">
            <a:pPr>
              <a:defRPr sz="1125">
                <a:solidFill>
                  <a:srgbClr val="314158"/>
                </a:solidFill>
              </a:defRPr>
            </a:pPr>
            <a:r>
              <a:rPr sz="1125">
                <a:solidFill>
                  <a:srgbClr val="314158"/>
                </a:solidFill>
              </a:rPr>
              <a:t>• Consulti situatia si folosesti exporturile disponibile.</a:t>
            </a:r>
          </a:p>
        </p:txBody>
      </p:sp>
      <p:sp>
        <p:nvSpPr>
          <p:cNvPr id="9" name="">
            <a:extLst xmlns:a="http://schemas.openxmlformats.org/drawingml/2006/main">
              <a:ext uri="{FF2B5EF4-FFF2-40B4-BE49-F238E27FC236}">
                <a16:creationId xmlns:a16="http://schemas.microsoft.com/office/drawing/2014/main" id="{C48550FE-C2CB-48E4-8A19-9F6BA45E7450}"/>
              </a:ext>
            </a:extLst>
          </p:cNvPr>
          <p:cNvSpPr>
            <a:spLocks xmlns:a="http://schemas.openxmlformats.org/drawingml/2006/main" noGrp="1"/>
          </p:cNvSpPr>
          <p:nvPr/>
        </p:nvSpPr>
        <p:spPr>
          <a:xfrm xmlns:a="http://schemas.openxmlformats.org/drawingml/2006/main">
            <a:off x="514350" y="4381500"/>
            <a:ext cx="4095750" cy="11430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70B7C04C-9BC8-41ED-B854-8BCA75FFA4F9}"/>
              </a:ext>
            </a:extLst>
          </p:cNvPr>
          <p:cNvSpPr>
            <a:spLocks xmlns:a="http://schemas.openxmlformats.org/drawingml/2006/main" noGrp="1"/>
          </p:cNvSpPr>
          <p:nvPr/>
        </p:nvSpPr>
        <p:spPr>
          <a:xfrm xmlns:a="http://schemas.openxmlformats.org/drawingml/2006/main">
            <a:off x="666750" y="451485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Cum se foloseste ecranul</a:t>
            </a:r>
          </a:p>
        </p:txBody>
      </p:sp>
      <p:sp>
        <p:nvSpPr>
          <p:cNvPr id="11" name="">
            <a:extLst xmlns:a="http://schemas.openxmlformats.org/drawingml/2006/main">
              <a:ext uri="{FF2B5EF4-FFF2-40B4-BE49-F238E27FC236}">
                <a16:creationId xmlns:a16="http://schemas.microsoft.com/office/drawing/2014/main" id="{8EF41DAA-10CA-451F-8FC0-100B0E92A0A6}"/>
              </a:ext>
            </a:extLst>
          </p:cNvPr>
          <p:cNvSpPr>
            <a:spLocks xmlns:a="http://schemas.openxmlformats.org/drawingml/2006/main" noGrp="1"/>
          </p:cNvSpPr>
          <p:nvPr/>
        </p:nvSpPr>
        <p:spPr>
          <a:xfrm xmlns:a="http://schemas.openxmlformats.org/drawingml/2006/main">
            <a:off x="666750" y="4876800"/>
            <a:ext cx="3790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Utilizatorul porneste din acest ecran, completeaza informatiile necesare si verifica sumarul inainte de a salva sau de a trimite fluxul mai departe. La final, conducerea scolii obtine rapid informatia sintetica necesara pentru lucru si raportare.</a:t>
            </a:r>
          </a:p>
        </p:txBody>
      </p:sp>
      <p:sp>
        <p:nvSpPr>
          <p:cNvPr id="12" name="">
            <a:extLst xmlns:a="http://schemas.openxmlformats.org/drawingml/2006/main">
              <a:ext uri="{FF2B5EF4-FFF2-40B4-BE49-F238E27FC236}">
                <a16:creationId xmlns:a16="http://schemas.microsoft.com/office/drawing/2014/main" id="{6A50A855-46F1-4240-AA7A-DD9A5C5AC1FD}"/>
              </a:ext>
            </a:extLst>
          </p:cNvPr>
          <p:cNvSpPr>
            <a:spLocks xmlns:a="http://schemas.openxmlformats.org/drawingml/2006/main" noGrp="1"/>
          </p:cNvSpPr>
          <p:nvPr/>
        </p:nvSpPr>
        <p:spPr>
          <a:xfrm xmlns:a="http://schemas.openxmlformats.org/drawingml/2006/main">
            <a:off x="514350" y="5657850"/>
            <a:ext cx="409575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9C86CA30-11D3-41F5-A846-67CCD0AE09BD}"/>
              </a:ext>
            </a:extLst>
          </p:cNvPr>
          <p:cNvSpPr>
            <a:spLocks xmlns:a="http://schemas.openxmlformats.org/drawingml/2006/main" noGrp="1"/>
          </p:cNvSpPr>
          <p:nvPr/>
        </p:nvSpPr>
        <p:spPr>
          <a:xfrm xmlns:a="http://schemas.openxmlformats.org/drawingml/2006/main">
            <a:off x="666750" y="5791200"/>
            <a:ext cx="3790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Rezultat final: Conducerea scolii obtine rapid informatia sintetica necesara pentru lucru si raportare.</a:t>
            </a:r>
          </a:p>
        </p:txBody>
      </p:sp>
      <p:sp>
        <p:nvSpPr>
          <p:cNvPr id="14" name="">
            <a:extLst xmlns:a="http://schemas.openxmlformats.org/drawingml/2006/main">
              <a:ext uri="{FF2B5EF4-FFF2-40B4-BE49-F238E27FC236}">
                <a16:creationId xmlns:a16="http://schemas.microsoft.com/office/drawing/2014/main" id="{9EC37E6E-748B-49AC-AB1A-BAF007232B23}"/>
              </a:ext>
            </a:extLst>
          </p:cNvPr>
          <p:cNvSpPr>
            <a:spLocks xmlns:a="http://schemas.openxmlformats.org/drawingml/2006/main" noGrp="1"/>
          </p:cNvSpPr>
          <p:nvPr/>
        </p:nvSpPr>
        <p:spPr>
          <a:xfrm xmlns:a="http://schemas.openxmlformats.org/drawingml/2006/main">
            <a:off x="4895850" y="1981200"/>
            <a:ext cx="6610350" cy="37338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a55e7f8d734e4eef"/>
          <a:stretch xmlns:a="http://schemas.openxmlformats.org/drawingml/2006/main"/>
        </p:blipFill>
        <p:spPr>
          <a:xfrm xmlns:a="http://schemas.openxmlformats.org/drawingml/2006/main">
            <a:off x="5085292" y="2095500"/>
            <a:ext cx="6231467" cy="3505200"/>
          </a:xfrm>
          <a:prstGeom xmlns:a="http://schemas.openxmlformats.org/drawingml/2006/main" prst="roundRect">
            <a:avLst>
              <a:gd name="adj" fmla="val 3261"/>
            </a:avLst>
          </a:prstGeom>
        </p:spPr>
      </p:pic>
      <p:sp>
        <p:nvSpPr>
          <p:cNvPr id="16" name="">
            <a:extLst xmlns:a="http://schemas.openxmlformats.org/drawingml/2006/main">
              <a:ext uri="{FF2B5EF4-FFF2-40B4-BE49-F238E27FC236}">
                <a16:creationId xmlns:a16="http://schemas.microsoft.com/office/drawing/2014/main" id="{AEB2E89F-48C2-4CDE-AB9E-C04F8D20F49B}"/>
              </a:ext>
            </a:extLst>
          </p:cNvPr>
          <p:cNvSpPr>
            <a:spLocks xmlns:a="http://schemas.openxmlformats.org/drawingml/2006/main" noGrp="1"/>
          </p:cNvSpPr>
          <p:nvPr/>
        </p:nvSpPr>
        <p:spPr>
          <a:xfrm xmlns:a="http://schemas.openxmlformats.org/drawingml/2006/main">
            <a:off x="4895850" y="5772150"/>
            <a:ext cx="6610350" cy="476250"/>
          </a:xfrm>
          <a:prstGeom xmlns:a="http://schemas.openxmlformats.org/drawingml/2006/main" prst="roundRect">
            <a:avLst>
              <a:gd name="adj" fmla="val 32000"/>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12BFAC2E-C5DF-4858-99A1-9F16966989FD}"/>
              </a:ext>
            </a:extLst>
          </p:cNvPr>
          <p:cNvSpPr>
            <a:spLocks xmlns:a="http://schemas.openxmlformats.org/drawingml/2006/main" noGrp="1"/>
          </p:cNvSpPr>
          <p:nvPr/>
        </p:nvSpPr>
        <p:spPr>
          <a:xfrm xmlns:a="http://schemas.openxmlformats.org/drawingml/2006/main">
            <a:off x="5048250" y="5905500"/>
            <a:ext cx="6305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Ce observi in captura: Captura prezinta ecranul real folosit de utilizator in rapoarte standard, cu zonele de lista, filtrare, completare si actiune vizibile exact asa cum apar in aplicatie.</a:t>
            </a:r>
          </a:p>
        </p:txBody>
      </p:sp>
      <p:sp>
        <p:nvSpPr>
          <p:cNvPr id="18" name="">
            <a:extLst xmlns:a="http://schemas.openxmlformats.org/drawingml/2006/main">
              <a:ext uri="{FF2B5EF4-FFF2-40B4-BE49-F238E27FC236}">
                <a16:creationId xmlns:a16="http://schemas.microsoft.com/office/drawing/2014/main" id="{0C817C64-58BA-48A0-B0E5-42C86F21881F}"/>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9" name="">
            <a:extLst xmlns:a="http://schemas.openxmlformats.org/drawingml/2006/main">
              <a:ext uri="{FF2B5EF4-FFF2-40B4-BE49-F238E27FC236}">
                <a16:creationId xmlns:a16="http://schemas.microsoft.com/office/drawing/2014/main" id="{7DD14FA7-7790-4B84-BC26-DC78C952E213}"/>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Rapoarte standard pentru management</a:t>
            </a:r>
          </a:p>
        </p:txBody>
      </p:sp>
    </p:spTree>
    <p:extLst>
      <p:ext uri="{BB962C8B-B14F-4D97-AF65-F5344CB8AC3E}">
        <p14:creationId xmlns:p14="http://schemas.microsoft.com/office/powerpoint/2010/main" val="117411646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77EC6AD-317C-47D5-A4E2-CADD4EADDBF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9C35384E-D13B-49F1-A615-0B4E026D0177}"/>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Roluri educationale</a:t>
            </a:r>
          </a:p>
        </p:txBody>
      </p:sp>
      <p:sp>
        <p:nvSpPr>
          <p:cNvPr id="3" name="">
            <a:extLst xmlns:a="http://schemas.openxmlformats.org/drawingml/2006/main">
              <a:ext uri="{FF2B5EF4-FFF2-40B4-BE49-F238E27FC236}">
                <a16:creationId xmlns:a16="http://schemas.microsoft.com/office/drawing/2014/main" id="{AF4A9670-64C3-49CF-AD03-51C8FEE8693D}"/>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Cockpit secretariat</a:t>
            </a:r>
          </a:p>
        </p:txBody>
      </p:sp>
      <p:sp>
        <p:nvSpPr>
          <p:cNvPr id="4" name="">
            <a:extLst xmlns:a="http://schemas.openxmlformats.org/drawingml/2006/main">
              <a:ext uri="{FF2B5EF4-FFF2-40B4-BE49-F238E27FC236}">
                <a16:creationId xmlns:a16="http://schemas.microsoft.com/office/drawing/2014/main" id="{981A6936-9793-49CB-994D-754D73A8E2EF}"/>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19</a:t>
            </a:r>
          </a:p>
        </p:txBody>
      </p:sp>
      <p:sp>
        <p:nvSpPr>
          <p:cNvPr id="5" name="">
            <a:extLst xmlns:a="http://schemas.openxmlformats.org/drawingml/2006/main">
              <a:ext uri="{FF2B5EF4-FFF2-40B4-BE49-F238E27FC236}">
                <a16:creationId xmlns:a16="http://schemas.microsoft.com/office/drawing/2014/main" id="{647C1A47-FCA5-4198-B8BA-E9E87E143189}"/>
              </a:ext>
            </a:extLst>
          </p:cNvPr>
          <p:cNvSpPr>
            <a:spLocks xmlns:a="http://schemas.openxmlformats.org/drawingml/2006/main" noGrp="1"/>
          </p:cNvSpPr>
          <p:nvPr/>
        </p:nvSpPr>
        <p:spPr>
          <a:xfrm xmlns:a="http://schemas.openxmlformats.org/drawingml/2006/main">
            <a:off x="514350" y="114300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Secretariatul foloseste un cockpit orientat pe evidenta, pregatirea documentelor si trimiterea in fluxurile institutionale potrivite.</a:t>
            </a:r>
          </a:p>
        </p:txBody>
      </p:sp>
      <p:sp>
        <p:nvSpPr>
          <p:cNvPr id="6" name="">
            <a:extLst xmlns:a="http://schemas.openxmlformats.org/drawingml/2006/main">
              <a:ext uri="{FF2B5EF4-FFF2-40B4-BE49-F238E27FC236}">
                <a16:creationId xmlns:a16="http://schemas.microsoft.com/office/drawing/2014/main" id="{753FD669-619E-4214-B8A0-7AA949A957B6}"/>
              </a:ext>
            </a:extLst>
          </p:cNvPr>
          <p:cNvSpPr>
            <a:spLocks xmlns:a="http://schemas.openxmlformats.org/drawingml/2006/main" noGrp="1"/>
          </p:cNvSpPr>
          <p:nvPr/>
        </p:nvSpPr>
        <p:spPr>
          <a:xfrm xmlns:a="http://schemas.openxmlformats.org/drawingml/2006/main">
            <a:off x="514350" y="1981200"/>
            <a:ext cx="4095750" cy="224790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84F6421B-E8D7-470D-AA04-2D6AF08CAE55}"/>
              </a:ext>
            </a:extLst>
          </p:cNvPr>
          <p:cNvSpPr>
            <a:spLocks xmlns:a="http://schemas.openxmlformats.org/drawingml/2006/main" noGrp="1"/>
          </p:cNvSpPr>
          <p:nvPr/>
        </p:nvSpPr>
        <p:spPr>
          <a:xfrm xmlns:a="http://schemas.openxmlformats.org/drawingml/2006/main">
            <a:off x="666750" y="21145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Ce face utilizatorul</a:t>
            </a:r>
          </a:p>
        </p:txBody>
      </p:sp>
      <p:sp>
        <p:nvSpPr>
          <p:cNvPr id="8" name="">
            <a:extLst xmlns:a="http://schemas.openxmlformats.org/drawingml/2006/main">
              <a:ext uri="{FF2B5EF4-FFF2-40B4-BE49-F238E27FC236}">
                <a16:creationId xmlns:a16="http://schemas.microsoft.com/office/drawing/2014/main" id="{D09EE7C2-E6C2-4063-858A-338AE96E514B}"/>
              </a:ext>
            </a:extLst>
          </p:cNvPr>
          <p:cNvSpPr>
            <a:spLocks xmlns:a="http://schemas.openxmlformats.org/drawingml/2006/main" noGrp="1"/>
          </p:cNvSpPr>
          <p:nvPr/>
        </p:nvSpPr>
        <p:spPr>
          <a:xfrm xmlns:a="http://schemas.openxmlformats.org/drawingml/2006/main">
            <a:off x="666750" y="2476500"/>
            <a:ext cx="37909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Verifici ce trebuie pregatit, receptionat sau trimis mai departe.</a:t>
            </a:r>
          </a:p>
          <a:p xmlns:a="http://schemas.openxmlformats.org/drawingml/2006/main">
            <a:pPr>
              <a:defRPr sz="1125">
                <a:solidFill>
                  <a:srgbClr val="314158"/>
                </a:solidFill>
              </a:defRPr>
            </a:pPr>
            <a:r>
              <a:rPr sz="1125">
                <a:solidFill>
                  <a:srgbClr val="314158"/>
                </a:solidFill>
              </a:rPr>
              <a:t>• Deschizi rapid zona activa: sedinte, portofolii, personal sau documente manageriale.</a:t>
            </a:r>
          </a:p>
          <a:p xmlns:a="http://schemas.openxmlformats.org/drawingml/2006/main">
            <a:pPr>
              <a:defRPr sz="1125">
                <a:solidFill>
                  <a:srgbClr val="314158"/>
                </a:solidFill>
              </a:defRPr>
            </a:pPr>
            <a:r>
              <a:rPr sz="1125">
                <a:solidFill>
                  <a:srgbClr val="314158"/>
                </a:solidFill>
              </a:rPr>
              <a:t>• Controlezi starea operationala a dosarelor si a documentelor rezultate.</a:t>
            </a:r>
          </a:p>
        </p:txBody>
      </p:sp>
      <p:sp>
        <p:nvSpPr>
          <p:cNvPr id="9" name="">
            <a:extLst xmlns:a="http://schemas.openxmlformats.org/drawingml/2006/main">
              <a:ext uri="{FF2B5EF4-FFF2-40B4-BE49-F238E27FC236}">
                <a16:creationId xmlns:a16="http://schemas.microsoft.com/office/drawing/2014/main" id="{D7266F11-BC85-4388-A991-60E9E4C38757}"/>
              </a:ext>
            </a:extLst>
          </p:cNvPr>
          <p:cNvSpPr>
            <a:spLocks xmlns:a="http://schemas.openxmlformats.org/drawingml/2006/main" noGrp="1"/>
          </p:cNvSpPr>
          <p:nvPr/>
        </p:nvSpPr>
        <p:spPr>
          <a:xfrm xmlns:a="http://schemas.openxmlformats.org/drawingml/2006/main">
            <a:off x="514350" y="4381500"/>
            <a:ext cx="4095750" cy="11430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F29B9698-5D96-4577-8248-158E57407FA1}"/>
              </a:ext>
            </a:extLst>
          </p:cNvPr>
          <p:cNvSpPr>
            <a:spLocks xmlns:a="http://schemas.openxmlformats.org/drawingml/2006/main" noGrp="1"/>
          </p:cNvSpPr>
          <p:nvPr/>
        </p:nvSpPr>
        <p:spPr>
          <a:xfrm xmlns:a="http://schemas.openxmlformats.org/drawingml/2006/main">
            <a:off x="666750" y="451485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Cum se foloseste ecranul</a:t>
            </a:r>
          </a:p>
        </p:txBody>
      </p:sp>
      <p:sp>
        <p:nvSpPr>
          <p:cNvPr id="11" name="">
            <a:extLst xmlns:a="http://schemas.openxmlformats.org/drawingml/2006/main">
              <a:ext uri="{FF2B5EF4-FFF2-40B4-BE49-F238E27FC236}">
                <a16:creationId xmlns:a16="http://schemas.microsoft.com/office/drawing/2014/main" id="{58B36F88-C5D8-47EF-8421-4576D0A6F8C8}"/>
              </a:ext>
            </a:extLst>
          </p:cNvPr>
          <p:cNvSpPr>
            <a:spLocks xmlns:a="http://schemas.openxmlformats.org/drawingml/2006/main" noGrp="1"/>
          </p:cNvSpPr>
          <p:nvPr/>
        </p:nvSpPr>
        <p:spPr>
          <a:xfrm xmlns:a="http://schemas.openxmlformats.org/drawingml/2006/main">
            <a:off x="666750" y="4876800"/>
            <a:ext cx="3790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Utilizatorul porneste din acest ecran, completeaza informatiile necesare si verifica sumarul inainte de a salva sau de a trimite fluxul mai departe. La final, secretariatul lucreaza ordonat, cu prioritati clare si acces rapid la zonele active.</a:t>
            </a:r>
          </a:p>
        </p:txBody>
      </p:sp>
      <p:sp>
        <p:nvSpPr>
          <p:cNvPr id="12" name="">
            <a:extLst xmlns:a="http://schemas.openxmlformats.org/drawingml/2006/main">
              <a:ext uri="{FF2B5EF4-FFF2-40B4-BE49-F238E27FC236}">
                <a16:creationId xmlns:a16="http://schemas.microsoft.com/office/drawing/2014/main" id="{89B5D085-7BC3-44E6-86E5-19F4D0CBD019}"/>
              </a:ext>
            </a:extLst>
          </p:cNvPr>
          <p:cNvSpPr>
            <a:spLocks xmlns:a="http://schemas.openxmlformats.org/drawingml/2006/main" noGrp="1"/>
          </p:cNvSpPr>
          <p:nvPr/>
        </p:nvSpPr>
        <p:spPr>
          <a:xfrm xmlns:a="http://schemas.openxmlformats.org/drawingml/2006/main">
            <a:off x="514350" y="5657850"/>
            <a:ext cx="409575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F61FE483-1B21-4CA9-A5B8-839D3EA73C8D}"/>
              </a:ext>
            </a:extLst>
          </p:cNvPr>
          <p:cNvSpPr>
            <a:spLocks xmlns:a="http://schemas.openxmlformats.org/drawingml/2006/main" noGrp="1"/>
          </p:cNvSpPr>
          <p:nvPr/>
        </p:nvSpPr>
        <p:spPr>
          <a:xfrm xmlns:a="http://schemas.openxmlformats.org/drawingml/2006/main">
            <a:off x="666750" y="5791200"/>
            <a:ext cx="3790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Rezultat final: Secretariatul lucreaza ordonat, cu prioritati clare si acces rapid la zonele active.</a:t>
            </a:r>
          </a:p>
        </p:txBody>
      </p:sp>
      <p:sp>
        <p:nvSpPr>
          <p:cNvPr id="14" name="">
            <a:extLst xmlns:a="http://schemas.openxmlformats.org/drawingml/2006/main">
              <a:ext uri="{FF2B5EF4-FFF2-40B4-BE49-F238E27FC236}">
                <a16:creationId xmlns:a16="http://schemas.microsoft.com/office/drawing/2014/main" id="{5C9B39CB-C0BB-4511-AA84-E1D1439D1E5D}"/>
              </a:ext>
            </a:extLst>
          </p:cNvPr>
          <p:cNvSpPr>
            <a:spLocks xmlns:a="http://schemas.openxmlformats.org/drawingml/2006/main" noGrp="1"/>
          </p:cNvSpPr>
          <p:nvPr/>
        </p:nvSpPr>
        <p:spPr>
          <a:xfrm xmlns:a="http://schemas.openxmlformats.org/drawingml/2006/main">
            <a:off x="4895850" y="1981200"/>
            <a:ext cx="6610350" cy="37338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95dbf712ad9a4665"/>
          <a:stretch xmlns:a="http://schemas.openxmlformats.org/drawingml/2006/main"/>
        </p:blipFill>
        <p:spPr>
          <a:xfrm xmlns:a="http://schemas.openxmlformats.org/drawingml/2006/main">
            <a:off x="5085292" y="2095500"/>
            <a:ext cx="6231467" cy="3505200"/>
          </a:xfrm>
          <a:prstGeom xmlns:a="http://schemas.openxmlformats.org/drawingml/2006/main" prst="roundRect">
            <a:avLst>
              <a:gd name="adj" fmla="val 3261"/>
            </a:avLst>
          </a:prstGeom>
        </p:spPr>
      </p:pic>
      <p:sp>
        <p:nvSpPr>
          <p:cNvPr id="16" name="">
            <a:extLst xmlns:a="http://schemas.openxmlformats.org/drawingml/2006/main">
              <a:ext uri="{FF2B5EF4-FFF2-40B4-BE49-F238E27FC236}">
                <a16:creationId xmlns:a16="http://schemas.microsoft.com/office/drawing/2014/main" id="{634F7BE8-6597-4F39-86B8-9AA42EBD1C52}"/>
              </a:ext>
            </a:extLst>
          </p:cNvPr>
          <p:cNvSpPr>
            <a:spLocks xmlns:a="http://schemas.openxmlformats.org/drawingml/2006/main" noGrp="1"/>
          </p:cNvSpPr>
          <p:nvPr/>
        </p:nvSpPr>
        <p:spPr>
          <a:xfrm xmlns:a="http://schemas.openxmlformats.org/drawingml/2006/main">
            <a:off x="4895850" y="5772150"/>
            <a:ext cx="6610350" cy="476250"/>
          </a:xfrm>
          <a:prstGeom xmlns:a="http://schemas.openxmlformats.org/drawingml/2006/main" prst="roundRect">
            <a:avLst>
              <a:gd name="adj" fmla="val 32000"/>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ACE4F4A5-AA95-4F7F-B25C-7B7B3B2CA3F2}"/>
              </a:ext>
            </a:extLst>
          </p:cNvPr>
          <p:cNvSpPr>
            <a:spLocks xmlns:a="http://schemas.openxmlformats.org/drawingml/2006/main" noGrp="1"/>
          </p:cNvSpPr>
          <p:nvPr/>
        </p:nvSpPr>
        <p:spPr>
          <a:xfrm xmlns:a="http://schemas.openxmlformats.org/drawingml/2006/main">
            <a:off x="5048250" y="5905500"/>
            <a:ext cx="6305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Ce observi in captura: Captura prezinta ecranul real folosit de utilizator in cockpit secretariat, cu zonele de lista, filtrare, completare si actiune vizibile exact asa cum apar in aplicatie.</a:t>
            </a:r>
          </a:p>
        </p:txBody>
      </p:sp>
      <p:sp>
        <p:nvSpPr>
          <p:cNvPr id="18" name="">
            <a:extLst xmlns:a="http://schemas.openxmlformats.org/drawingml/2006/main">
              <a:ext uri="{FF2B5EF4-FFF2-40B4-BE49-F238E27FC236}">
                <a16:creationId xmlns:a16="http://schemas.microsoft.com/office/drawing/2014/main" id="{7B4AA5CE-1295-40C0-9FAE-7B15BDA347BF}"/>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9" name="">
            <a:extLst xmlns:a="http://schemas.openxmlformats.org/drawingml/2006/main">
              <a:ext uri="{FF2B5EF4-FFF2-40B4-BE49-F238E27FC236}">
                <a16:creationId xmlns:a16="http://schemas.microsoft.com/office/drawing/2014/main" id="{F5437BE3-44A4-48DE-949C-8AE9F68D0AD0}"/>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Cockpit secretariat</a:t>
            </a:r>
          </a:p>
        </p:txBody>
      </p:sp>
    </p:spTree>
    <p:extLst>
      <p:ext uri="{BB962C8B-B14F-4D97-AF65-F5344CB8AC3E}">
        <p14:creationId xmlns:p14="http://schemas.microsoft.com/office/powerpoint/2010/main" val="105131382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23AE075-EB55-402B-A925-05AA03F09E9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E866FAFF-F844-45EE-BB88-B8F332A2913F}"/>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Roluri educationale</a:t>
            </a:r>
          </a:p>
        </p:txBody>
      </p:sp>
      <p:sp>
        <p:nvSpPr>
          <p:cNvPr id="3" name="">
            <a:extLst xmlns:a="http://schemas.openxmlformats.org/drawingml/2006/main">
              <a:ext uri="{FF2B5EF4-FFF2-40B4-BE49-F238E27FC236}">
                <a16:creationId xmlns:a16="http://schemas.microsoft.com/office/drawing/2014/main" id="{A6EBC369-6486-4942-AC88-9791D4CB4371}"/>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Cockpit profesor</a:t>
            </a:r>
          </a:p>
        </p:txBody>
      </p:sp>
      <p:sp>
        <p:nvSpPr>
          <p:cNvPr id="4" name="">
            <a:extLst xmlns:a="http://schemas.openxmlformats.org/drawingml/2006/main">
              <a:ext uri="{FF2B5EF4-FFF2-40B4-BE49-F238E27FC236}">
                <a16:creationId xmlns:a16="http://schemas.microsoft.com/office/drawing/2014/main" id="{B05C87CA-EA29-4BC5-A6B7-6B7B68223AAE}"/>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20</a:t>
            </a:r>
          </a:p>
        </p:txBody>
      </p:sp>
      <p:sp>
        <p:nvSpPr>
          <p:cNvPr id="5" name="">
            <a:extLst xmlns:a="http://schemas.openxmlformats.org/drawingml/2006/main">
              <a:ext uri="{FF2B5EF4-FFF2-40B4-BE49-F238E27FC236}">
                <a16:creationId xmlns:a16="http://schemas.microsoft.com/office/drawing/2014/main" id="{98475380-CCDB-4A95-9395-FB3F19FB9E4B}"/>
              </a:ext>
            </a:extLst>
          </p:cNvPr>
          <p:cNvSpPr>
            <a:spLocks xmlns:a="http://schemas.openxmlformats.org/drawingml/2006/main" noGrp="1"/>
          </p:cNvSpPr>
          <p:nvPr/>
        </p:nvSpPr>
        <p:spPr>
          <a:xfrm xmlns:a="http://schemas.openxmlformats.org/drawingml/2006/main">
            <a:off x="514350" y="114300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Profesorul are un cockpit dedicat lucrurilor personale: portofoliu, evaluare, declaratii si mobilitate.</a:t>
            </a:r>
          </a:p>
        </p:txBody>
      </p:sp>
      <p:sp>
        <p:nvSpPr>
          <p:cNvPr id="6" name="">
            <a:extLst xmlns:a="http://schemas.openxmlformats.org/drawingml/2006/main">
              <a:ext uri="{FF2B5EF4-FFF2-40B4-BE49-F238E27FC236}">
                <a16:creationId xmlns:a16="http://schemas.microsoft.com/office/drawing/2014/main" id="{AC9F2D72-FB6F-450C-8E2B-B76CA763358F}"/>
              </a:ext>
            </a:extLst>
          </p:cNvPr>
          <p:cNvSpPr>
            <a:spLocks xmlns:a="http://schemas.openxmlformats.org/drawingml/2006/main" noGrp="1"/>
          </p:cNvSpPr>
          <p:nvPr/>
        </p:nvSpPr>
        <p:spPr>
          <a:xfrm xmlns:a="http://schemas.openxmlformats.org/drawingml/2006/main">
            <a:off x="514350" y="1981200"/>
            <a:ext cx="4095750" cy="224790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B1A16E88-5BE5-4E70-8A52-01BF24675B83}"/>
              </a:ext>
            </a:extLst>
          </p:cNvPr>
          <p:cNvSpPr>
            <a:spLocks xmlns:a="http://schemas.openxmlformats.org/drawingml/2006/main" noGrp="1"/>
          </p:cNvSpPr>
          <p:nvPr/>
        </p:nvSpPr>
        <p:spPr>
          <a:xfrm xmlns:a="http://schemas.openxmlformats.org/drawingml/2006/main">
            <a:off x="666750" y="21145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Ce face utilizatorul</a:t>
            </a:r>
          </a:p>
        </p:txBody>
      </p:sp>
      <p:sp>
        <p:nvSpPr>
          <p:cNvPr id="8" name="">
            <a:extLst xmlns:a="http://schemas.openxmlformats.org/drawingml/2006/main">
              <a:ext uri="{FF2B5EF4-FFF2-40B4-BE49-F238E27FC236}">
                <a16:creationId xmlns:a16="http://schemas.microsoft.com/office/drawing/2014/main" id="{16CB05ED-BB5C-4058-86D6-D7221D2B4506}"/>
              </a:ext>
            </a:extLst>
          </p:cNvPr>
          <p:cNvSpPr>
            <a:spLocks xmlns:a="http://schemas.openxmlformats.org/drawingml/2006/main" noGrp="1"/>
          </p:cNvSpPr>
          <p:nvPr/>
        </p:nvSpPr>
        <p:spPr>
          <a:xfrm xmlns:a="http://schemas.openxmlformats.org/drawingml/2006/main">
            <a:off x="666750" y="2476500"/>
            <a:ext cx="37909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Verifici portofoliul si traseele personale in lucru.</a:t>
            </a:r>
          </a:p>
          <a:p xmlns:a="http://schemas.openxmlformats.org/drawingml/2006/main">
            <a:pPr>
              <a:defRPr sz="1125">
                <a:solidFill>
                  <a:srgbClr val="314158"/>
                </a:solidFill>
              </a:defRPr>
            </a:pPr>
            <a:r>
              <a:rPr sz="1125">
                <a:solidFill>
                  <a:srgbClr val="314158"/>
                </a:solidFill>
              </a:rPr>
              <a:t>• Deschizi evaluarea, declaratiile sau mobilitatea atunci cand este nevoie.</a:t>
            </a:r>
          </a:p>
          <a:p xmlns:a="http://schemas.openxmlformats.org/drawingml/2006/main">
            <a:pPr>
              <a:defRPr sz="1125">
                <a:solidFill>
                  <a:srgbClr val="314158"/>
                </a:solidFill>
              </a:defRPr>
            </a:pPr>
            <a:r>
              <a:rPr sz="1125">
                <a:solidFill>
                  <a:srgbClr val="314158"/>
                </a:solidFill>
              </a:rPr>
              <a:t>• Revii in cockpit pentru a vedea ce mai trebuie completat sau confirmat.</a:t>
            </a:r>
          </a:p>
        </p:txBody>
      </p:sp>
      <p:sp>
        <p:nvSpPr>
          <p:cNvPr id="9" name="">
            <a:extLst xmlns:a="http://schemas.openxmlformats.org/drawingml/2006/main">
              <a:ext uri="{FF2B5EF4-FFF2-40B4-BE49-F238E27FC236}">
                <a16:creationId xmlns:a16="http://schemas.microsoft.com/office/drawing/2014/main" id="{89814E49-B0BE-445E-A32D-9DEC1B327010}"/>
              </a:ext>
            </a:extLst>
          </p:cNvPr>
          <p:cNvSpPr>
            <a:spLocks xmlns:a="http://schemas.openxmlformats.org/drawingml/2006/main" noGrp="1"/>
          </p:cNvSpPr>
          <p:nvPr/>
        </p:nvSpPr>
        <p:spPr>
          <a:xfrm xmlns:a="http://schemas.openxmlformats.org/drawingml/2006/main">
            <a:off x="514350" y="4381500"/>
            <a:ext cx="4095750" cy="11430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F3398ECD-A208-44C9-B768-4F5802AC6A12}"/>
              </a:ext>
            </a:extLst>
          </p:cNvPr>
          <p:cNvSpPr>
            <a:spLocks xmlns:a="http://schemas.openxmlformats.org/drawingml/2006/main" noGrp="1"/>
          </p:cNvSpPr>
          <p:nvPr/>
        </p:nvSpPr>
        <p:spPr>
          <a:xfrm xmlns:a="http://schemas.openxmlformats.org/drawingml/2006/main">
            <a:off x="666750" y="451485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Cum se foloseste ecranul</a:t>
            </a:r>
          </a:p>
        </p:txBody>
      </p:sp>
      <p:sp>
        <p:nvSpPr>
          <p:cNvPr id="11" name="">
            <a:extLst xmlns:a="http://schemas.openxmlformats.org/drawingml/2006/main">
              <a:ext uri="{FF2B5EF4-FFF2-40B4-BE49-F238E27FC236}">
                <a16:creationId xmlns:a16="http://schemas.microsoft.com/office/drawing/2014/main" id="{ACAD2DB8-C3BD-4869-ABFC-08597F799025}"/>
              </a:ext>
            </a:extLst>
          </p:cNvPr>
          <p:cNvSpPr>
            <a:spLocks xmlns:a="http://schemas.openxmlformats.org/drawingml/2006/main" noGrp="1"/>
          </p:cNvSpPr>
          <p:nvPr/>
        </p:nvSpPr>
        <p:spPr>
          <a:xfrm xmlns:a="http://schemas.openxmlformats.org/drawingml/2006/main">
            <a:off x="666750" y="4876800"/>
            <a:ext cx="3790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Utilizatorul porneste din acest ecran, completeaza informatiile necesare si verifica sumarul inainte de a salva sau de a trimite fluxul mai departe. La final, profesorul poate lucra direct pe propriile obligatii fara sa caute prin tot sistemul.</a:t>
            </a:r>
          </a:p>
        </p:txBody>
      </p:sp>
      <p:sp>
        <p:nvSpPr>
          <p:cNvPr id="12" name="">
            <a:extLst xmlns:a="http://schemas.openxmlformats.org/drawingml/2006/main">
              <a:ext uri="{FF2B5EF4-FFF2-40B4-BE49-F238E27FC236}">
                <a16:creationId xmlns:a16="http://schemas.microsoft.com/office/drawing/2014/main" id="{3C0DA3E2-5910-4569-A5EC-942B8EC56913}"/>
              </a:ext>
            </a:extLst>
          </p:cNvPr>
          <p:cNvSpPr>
            <a:spLocks xmlns:a="http://schemas.openxmlformats.org/drawingml/2006/main" noGrp="1"/>
          </p:cNvSpPr>
          <p:nvPr/>
        </p:nvSpPr>
        <p:spPr>
          <a:xfrm xmlns:a="http://schemas.openxmlformats.org/drawingml/2006/main">
            <a:off x="514350" y="5657850"/>
            <a:ext cx="409575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AEEEB363-C703-4262-AAE7-BA6C21680FFE}"/>
              </a:ext>
            </a:extLst>
          </p:cNvPr>
          <p:cNvSpPr>
            <a:spLocks xmlns:a="http://schemas.openxmlformats.org/drawingml/2006/main" noGrp="1"/>
          </p:cNvSpPr>
          <p:nvPr/>
        </p:nvSpPr>
        <p:spPr>
          <a:xfrm xmlns:a="http://schemas.openxmlformats.org/drawingml/2006/main">
            <a:off x="666750" y="5791200"/>
            <a:ext cx="3790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Rezultat final: Profesorul poate lucra direct pe propriile obligatii fara sa caute prin tot sistemul.</a:t>
            </a:r>
          </a:p>
        </p:txBody>
      </p:sp>
      <p:sp>
        <p:nvSpPr>
          <p:cNvPr id="14" name="">
            <a:extLst xmlns:a="http://schemas.openxmlformats.org/drawingml/2006/main">
              <a:ext uri="{FF2B5EF4-FFF2-40B4-BE49-F238E27FC236}">
                <a16:creationId xmlns:a16="http://schemas.microsoft.com/office/drawing/2014/main" id="{18E99B8C-F41F-48F7-963A-79A620E38795}"/>
              </a:ext>
            </a:extLst>
          </p:cNvPr>
          <p:cNvSpPr>
            <a:spLocks xmlns:a="http://schemas.openxmlformats.org/drawingml/2006/main" noGrp="1"/>
          </p:cNvSpPr>
          <p:nvPr/>
        </p:nvSpPr>
        <p:spPr>
          <a:xfrm xmlns:a="http://schemas.openxmlformats.org/drawingml/2006/main">
            <a:off x="4895850" y="1981200"/>
            <a:ext cx="6610350" cy="37338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0fc20a61c6e6494b"/>
          <a:stretch xmlns:a="http://schemas.openxmlformats.org/drawingml/2006/main"/>
        </p:blipFill>
        <p:spPr>
          <a:xfrm xmlns:a="http://schemas.openxmlformats.org/drawingml/2006/main">
            <a:off x="5085292" y="2095500"/>
            <a:ext cx="6231467" cy="3505200"/>
          </a:xfrm>
          <a:prstGeom xmlns:a="http://schemas.openxmlformats.org/drawingml/2006/main" prst="roundRect">
            <a:avLst>
              <a:gd name="adj" fmla="val 3261"/>
            </a:avLst>
          </a:prstGeom>
        </p:spPr>
      </p:pic>
      <p:sp>
        <p:nvSpPr>
          <p:cNvPr id="16" name="">
            <a:extLst xmlns:a="http://schemas.openxmlformats.org/drawingml/2006/main">
              <a:ext uri="{FF2B5EF4-FFF2-40B4-BE49-F238E27FC236}">
                <a16:creationId xmlns:a16="http://schemas.microsoft.com/office/drawing/2014/main" id="{B47B2AD8-D3FF-4DE6-9314-A1539A4F8636}"/>
              </a:ext>
            </a:extLst>
          </p:cNvPr>
          <p:cNvSpPr>
            <a:spLocks xmlns:a="http://schemas.openxmlformats.org/drawingml/2006/main" noGrp="1"/>
          </p:cNvSpPr>
          <p:nvPr/>
        </p:nvSpPr>
        <p:spPr>
          <a:xfrm xmlns:a="http://schemas.openxmlformats.org/drawingml/2006/main">
            <a:off x="4895850" y="5772150"/>
            <a:ext cx="6610350" cy="476250"/>
          </a:xfrm>
          <a:prstGeom xmlns:a="http://schemas.openxmlformats.org/drawingml/2006/main" prst="roundRect">
            <a:avLst>
              <a:gd name="adj" fmla="val 32000"/>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E6F1D167-63A6-4851-8CD3-673D4C089E47}"/>
              </a:ext>
            </a:extLst>
          </p:cNvPr>
          <p:cNvSpPr>
            <a:spLocks xmlns:a="http://schemas.openxmlformats.org/drawingml/2006/main" noGrp="1"/>
          </p:cNvSpPr>
          <p:nvPr/>
        </p:nvSpPr>
        <p:spPr>
          <a:xfrm xmlns:a="http://schemas.openxmlformats.org/drawingml/2006/main">
            <a:off x="5048250" y="5905500"/>
            <a:ext cx="6305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Ce observi in captura: Captura prezinta ecranul real folosit de utilizator in cockpit profesor, cu zonele de lista, filtrare, completare si actiune vizibile exact asa cum apar in aplicatie.</a:t>
            </a:r>
          </a:p>
        </p:txBody>
      </p:sp>
      <p:sp>
        <p:nvSpPr>
          <p:cNvPr id="18" name="">
            <a:extLst xmlns:a="http://schemas.openxmlformats.org/drawingml/2006/main">
              <a:ext uri="{FF2B5EF4-FFF2-40B4-BE49-F238E27FC236}">
                <a16:creationId xmlns:a16="http://schemas.microsoft.com/office/drawing/2014/main" id="{1C0128F2-E30C-48FE-AE04-B54E38FF25A2}"/>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9" name="">
            <a:extLst xmlns:a="http://schemas.openxmlformats.org/drawingml/2006/main">
              <a:ext uri="{FF2B5EF4-FFF2-40B4-BE49-F238E27FC236}">
                <a16:creationId xmlns:a16="http://schemas.microsoft.com/office/drawing/2014/main" id="{B3562AF2-DEA6-4063-A992-B1BE795458AE}"/>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Cockpit profesor</a:t>
            </a:r>
          </a:p>
        </p:txBody>
      </p:sp>
    </p:spTree>
    <p:extLst>
      <p:ext uri="{BB962C8B-B14F-4D97-AF65-F5344CB8AC3E}">
        <p14:creationId xmlns:p14="http://schemas.microsoft.com/office/powerpoint/2010/main" val="104149005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72A3F00-E63D-4970-8493-69C010FB994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AA58049D-2A8D-410D-B4FF-2AAF4805207D}"/>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Control institutional</a:t>
            </a:r>
          </a:p>
        </p:txBody>
      </p:sp>
      <p:sp>
        <p:nvSpPr>
          <p:cNvPr id="3" name="">
            <a:extLst xmlns:a="http://schemas.openxmlformats.org/drawingml/2006/main">
              <a:ext uri="{FF2B5EF4-FFF2-40B4-BE49-F238E27FC236}">
                <a16:creationId xmlns:a16="http://schemas.microsoft.com/office/drawing/2014/main" id="{7D946A76-6DE5-4F14-ABC8-E383D5435ADD}"/>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Cockpit conformitate</a:t>
            </a:r>
          </a:p>
        </p:txBody>
      </p:sp>
      <p:sp>
        <p:nvSpPr>
          <p:cNvPr id="4" name="">
            <a:extLst xmlns:a="http://schemas.openxmlformats.org/drawingml/2006/main">
              <a:ext uri="{FF2B5EF4-FFF2-40B4-BE49-F238E27FC236}">
                <a16:creationId xmlns:a16="http://schemas.microsoft.com/office/drawing/2014/main" id="{B969DA07-7C95-4A77-9FCD-C7AA639B286A}"/>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21</a:t>
            </a:r>
          </a:p>
        </p:txBody>
      </p:sp>
      <p:sp>
        <p:nvSpPr>
          <p:cNvPr id="5" name="">
            <a:extLst xmlns:a="http://schemas.openxmlformats.org/drawingml/2006/main">
              <a:ext uri="{FF2B5EF4-FFF2-40B4-BE49-F238E27FC236}">
                <a16:creationId xmlns:a16="http://schemas.microsoft.com/office/drawing/2014/main" id="{E50D5C5F-ACA4-467B-BD32-0305D1120730}"/>
              </a:ext>
            </a:extLst>
          </p:cNvPr>
          <p:cNvSpPr>
            <a:spLocks xmlns:a="http://schemas.openxmlformats.org/drawingml/2006/main" noGrp="1"/>
          </p:cNvSpPr>
          <p:nvPr/>
        </p:nvSpPr>
        <p:spPr>
          <a:xfrm xmlns:a="http://schemas.openxmlformats.org/drawingml/2006/main">
            <a:off x="514350" y="114300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Cockpitul de conformitate ajuta la urmarirea cerintelor, publicarilor, dovezilor si a controalelor institutionale.</a:t>
            </a:r>
          </a:p>
        </p:txBody>
      </p:sp>
      <p:sp>
        <p:nvSpPr>
          <p:cNvPr id="6" name="">
            <a:extLst xmlns:a="http://schemas.openxmlformats.org/drawingml/2006/main">
              <a:ext uri="{FF2B5EF4-FFF2-40B4-BE49-F238E27FC236}">
                <a16:creationId xmlns:a16="http://schemas.microsoft.com/office/drawing/2014/main" id="{3FC187D2-3E3E-45B3-9619-97C4D8F7DF5E}"/>
              </a:ext>
            </a:extLst>
          </p:cNvPr>
          <p:cNvSpPr>
            <a:spLocks xmlns:a="http://schemas.openxmlformats.org/drawingml/2006/main" noGrp="1"/>
          </p:cNvSpPr>
          <p:nvPr/>
        </p:nvSpPr>
        <p:spPr>
          <a:xfrm xmlns:a="http://schemas.openxmlformats.org/drawingml/2006/main">
            <a:off x="514350" y="1981200"/>
            <a:ext cx="4095750" cy="224790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008F3A10-AE62-4C60-9A8A-A08E1E8F561C}"/>
              </a:ext>
            </a:extLst>
          </p:cNvPr>
          <p:cNvSpPr>
            <a:spLocks xmlns:a="http://schemas.openxmlformats.org/drawingml/2006/main" noGrp="1"/>
          </p:cNvSpPr>
          <p:nvPr/>
        </p:nvSpPr>
        <p:spPr>
          <a:xfrm xmlns:a="http://schemas.openxmlformats.org/drawingml/2006/main">
            <a:off x="666750" y="21145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Ce face utilizatorul</a:t>
            </a:r>
          </a:p>
        </p:txBody>
      </p:sp>
      <p:sp>
        <p:nvSpPr>
          <p:cNvPr id="8" name="">
            <a:extLst xmlns:a="http://schemas.openxmlformats.org/drawingml/2006/main">
              <a:ext uri="{FF2B5EF4-FFF2-40B4-BE49-F238E27FC236}">
                <a16:creationId xmlns:a16="http://schemas.microsoft.com/office/drawing/2014/main" id="{E7029349-BA59-4CFE-BE58-7EB7D825955C}"/>
              </a:ext>
            </a:extLst>
          </p:cNvPr>
          <p:cNvSpPr>
            <a:spLocks xmlns:a="http://schemas.openxmlformats.org/drawingml/2006/main" noGrp="1"/>
          </p:cNvSpPr>
          <p:nvPr/>
        </p:nvSpPr>
        <p:spPr>
          <a:xfrm xmlns:a="http://schemas.openxmlformats.org/drawingml/2006/main">
            <a:off x="666750" y="2476500"/>
            <a:ext cx="37909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Vezi rapid ce cerinte sunt in atentie.</a:t>
            </a:r>
          </a:p>
          <a:p xmlns:a="http://schemas.openxmlformats.org/drawingml/2006/main">
            <a:pPr>
              <a:defRPr sz="1125">
                <a:solidFill>
                  <a:srgbClr val="314158"/>
                </a:solidFill>
              </a:defRPr>
            </a:pPr>
            <a:r>
              <a:rPr sz="1125">
                <a:solidFill>
                  <a:srgbClr val="314158"/>
                </a:solidFill>
              </a:rPr>
              <a:t>• Deschizi publicari, regulamente sau documente ce necesita dovada.</a:t>
            </a:r>
          </a:p>
          <a:p xmlns:a="http://schemas.openxmlformats.org/drawingml/2006/main">
            <a:pPr>
              <a:defRPr sz="1125">
                <a:solidFill>
                  <a:srgbClr val="314158"/>
                </a:solidFill>
              </a:defRPr>
            </a:pPr>
            <a:r>
              <a:rPr sz="1125">
                <a:solidFill>
                  <a:srgbClr val="314158"/>
                </a:solidFill>
              </a:rPr>
              <a:t>• Pregatesti verificarile institutionale pe baza datelor existente.</a:t>
            </a:r>
          </a:p>
        </p:txBody>
      </p:sp>
      <p:sp>
        <p:nvSpPr>
          <p:cNvPr id="9" name="">
            <a:extLst xmlns:a="http://schemas.openxmlformats.org/drawingml/2006/main">
              <a:ext uri="{FF2B5EF4-FFF2-40B4-BE49-F238E27FC236}">
                <a16:creationId xmlns:a16="http://schemas.microsoft.com/office/drawing/2014/main" id="{808FEB5A-EF45-43AA-AABA-57F84BB8ADC5}"/>
              </a:ext>
            </a:extLst>
          </p:cNvPr>
          <p:cNvSpPr>
            <a:spLocks xmlns:a="http://schemas.openxmlformats.org/drawingml/2006/main" noGrp="1"/>
          </p:cNvSpPr>
          <p:nvPr/>
        </p:nvSpPr>
        <p:spPr>
          <a:xfrm xmlns:a="http://schemas.openxmlformats.org/drawingml/2006/main">
            <a:off x="514350" y="4381500"/>
            <a:ext cx="4095750" cy="11430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DB8844A1-E65F-4F13-8A7A-5DC9E5426181}"/>
              </a:ext>
            </a:extLst>
          </p:cNvPr>
          <p:cNvSpPr>
            <a:spLocks xmlns:a="http://schemas.openxmlformats.org/drawingml/2006/main" noGrp="1"/>
          </p:cNvSpPr>
          <p:nvPr/>
        </p:nvSpPr>
        <p:spPr>
          <a:xfrm xmlns:a="http://schemas.openxmlformats.org/drawingml/2006/main">
            <a:off x="666750" y="451485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Cum se foloseste ecranul</a:t>
            </a:r>
          </a:p>
        </p:txBody>
      </p:sp>
      <p:sp>
        <p:nvSpPr>
          <p:cNvPr id="11" name="">
            <a:extLst xmlns:a="http://schemas.openxmlformats.org/drawingml/2006/main">
              <a:ext uri="{FF2B5EF4-FFF2-40B4-BE49-F238E27FC236}">
                <a16:creationId xmlns:a16="http://schemas.microsoft.com/office/drawing/2014/main" id="{17A6325F-F93F-4632-9B3E-4CE44280ABC8}"/>
              </a:ext>
            </a:extLst>
          </p:cNvPr>
          <p:cNvSpPr>
            <a:spLocks xmlns:a="http://schemas.openxmlformats.org/drawingml/2006/main" noGrp="1"/>
          </p:cNvSpPr>
          <p:nvPr/>
        </p:nvSpPr>
        <p:spPr>
          <a:xfrm xmlns:a="http://schemas.openxmlformats.org/drawingml/2006/main">
            <a:off x="666750" y="4876800"/>
            <a:ext cx="3790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Utilizatorul porneste din acest ecran, completeaza informatiile necesare si verifica sumarul inainte de a salva sau de a trimite fluxul mai departe. La final, zona de conformitate transforma cerintele in actiuni concrete si usor de urmarit.</a:t>
            </a:r>
          </a:p>
        </p:txBody>
      </p:sp>
      <p:sp>
        <p:nvSpPr>
          <p:cNvPr id="12" name="">
            <a:extLst xmlns:a="http://schemas.openxmlformats.org/drawingml/2006/main">
              <a:ext uri="{FF2B5EF4-FFF2-40B4-BE49-F238E27FC236}">
                <a16:creationId xmlns:a16="http://schemas.microsoft.com/office/drawing/2014/main" id="{224A5D5A-857B-4FAB-BA8F-8DF7E2C62CBC}"/>
              </a:ext>
            </a:extLst>
          </p:cNvPr>
          <p:cNvSpPr>
            <a:spLocks xmlns:a="http://schemas.openxmlformats.org/drawingml/2006/main" noGrp="1"/>
          </p:cNvSpPr>
          <p:nvPr/>
        </p:nvSpPr>
        <p:spPr>
          <a:xfrm xmlns:a="http://schemas.openxmlformats.org/drawingml/2006/main">
            <a:off x="514350" y="5657850"/>
            <a:ext cx="409575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9F9CFBE9-BED0-4969-89C5-28D419A3F53E}"/>
              </a:ext>
            </a:extLst>
          </p:cNvPr>
          <p:cNvSpPr>
            <a:spLocks xmlns:a="http://schemas.openxmlformats.org/drawingml/2006/main" noGrp="1"/>
          </p:cNvSpPr>
          <p:nvPr/>
        </p:nvSpPr>
        <p:spPr>
          <a:xfrm xmlns:a="http://schemas.openxmlformats.org/drawingml/2006/main">
            <a:off x="666750" y="5791200"/>
            <a:ext cx="3790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Rezultat final: Zona de conformitate transforma cerintele in actiuni concrete si usor de urmarit.</a:t>
            </a:r>
          </a:p>
        </p:txBody>
      </p:sp>
      <p:sp>
        <p:nvSpPr>
          <p:cNvPr id="14" name="">
            <a:extLst xmlns:a="http://schemas.openxmlformats.org/drawingml/2006/main">
              <a:ext uri="{FF2B5EF4-FFF2-40B4-BE49-F238E27FC236}">
                <a16:creationId xmlns:a16="http://schemas.microsoft.com/office/drawing/2014/main" id="{70FA1EED-0D28-497D-9F47-2FF3BA359357}"/>
              </a:ext>
            </a:extLst>
          </p:cNvPr>
          <p:cNvSpPr>
            <a:spLocks xmlns:a="http://schemas.openxmlformats.org/drawingml/2006/main" noGrp="1"/>
          </p:cNvSpPr>
          <p:nvPr/>
        </p:nvSpPr>
        <p:spPr>
          <a:xfrm xmlns:a="http://schemas.openxmlformats.org/drawingml/2006/main">
            <a:off x="4895850" y="1981200"/>
            <a:ext cx="6610350" cy="37338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b3054a31f30741f9"/>
          <a:stretch xmlns:a="http://schemas.openxmlformats.org/drawingml/2006/main"/>
        </p:blipFill>
        <p:spPr>
          <a:xfrm xmlns:a="http://schemas.openxmlformats.org/drawingml/2006/main">
            <a:off x="5085292" y="2095500"/>
            <a:ext cx="6231467" cy="3505200"/>
          </a:xfrm>
          <a:prstGeom xmlns:a="http://schemas.openxmlformats.org/drawingml/2006/main" prst="roundRect">
            <a:avLst>
              <a:gd name="adj" fmla="val 3261"/>
            </a:avLst>
          </a:prstGeom>
        </p:spPr>
      </p:pic>
      <p:sp>
        <p:nvSpPr>
          <p:cNvPr id="16" name="">
            <a:extLst xmlns:a="http://schemas.openxmlformats.org/drawingml/2006/main">
              <a:ext uri="{FF2B5EF4-FFF2-40B4-BE49-F238E27FC236}">
                <a16:creationId xmlns:a16="http://schemas.microsoft.com/office/drawing/2014/main" id="{A567ABCB-1977-4BE2-B77F-1B4FEEA3DF05}"/>
              </a:ext>
            </a:extLst>
          </p:cNvPr>
          <p:cNvSpPr>
            <a:spLocks xmlns:a="http://schemas.openxmlformats.org/drawingml/2006/main" noGrp="1"/>
          </p:cNvSpPr>
          <p:nvPr/>
        </p:nvSpPr>
        <p:spPr>
          <a:xfrm xmlns:a="http://schemas.openxmlformats.org/drawingml/2006/main">
            <a:off x="4895850" y="5772150"/>
            <a:ext cx="6610350" cy="476250"/>
          </a:xfrm>
          <a:prstGeom xmlns:a="http://schemas.openxmlformats.org/drawingml/2006/main" prst="roundRect">
            <a:avLst>
              <a:gd name="adj" fmla="val 32000"/>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27FE7242-7FFB-4D13-935D-C0BF14C76294}"/>
              </a:ext>
            </a:extLst>
          </p:cNvPr>
          <p:cNvSpPr>
            <a:spLocks xmlns:a="http://schemas.openxmlformats.org/drawingml/2006/main" noGrp="1"/>
          </p:cNvSpPr>
          <p:nvPr/>
        </p:nvSpPr>
        <p:spPr>
          <a:xfrm xmlns:a="http://schemas.openxmlformats.org/drawingml/2006/main">
            <a:off x="5048250" y="5905500"/>
            <a:ext cx="6305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Ce observi in captura: Captura prezinta ecranul real folosit de utilizator in cockpit conformitate, cu zonele de lista, filtrare, completare si actiune vizibile exact asa cum apar in aplicatie.</a:t>
            </a:r>
          </a:p>
        </p:txBody>
      </p:sp>
      <p:sp>
        <p:nvSpPr>
          <p:cNvPr id="18" name="">
            <a:extLst xmlns:a="http://schemas.openxmlformats.org/drawingml/2006/main">
              <a:ext uri="{FF2B5EF4-FFF2-40B4-BE49-F238E27FC236}">
                <a16:creationId xmlns:a16="http://schemas.microsoft.com/office/drawing/2014/main" id="{DF8D32D4-C7D9-4C8E-9FB0-5CC610B27C9D}"/>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9" name="">
            <a:extLst xmlns:a="http://schemas.openxmlformats.org/drawingml/2006/main">
              <a:ext uri="{FF2B5EF4-FFF2-40B4-BE49-F238E27FC236}">
                <a16:creationId xmlns:a16="http://schemas.microsoft.com/office/drawing/2014/main" id="{3E1A9D65-44AD-4BB0-9F33-4B072B62B2BA}"/>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Cockpit conformitate</a:t>
            </a:r>
          </a:p>
        </p:txBody>
      </p:sp>
    </p:spTree>
    <p:extLst>
      <p:ext uri="{BB962C8B-B14F-4D97-AF65-F5344CB8AC3E}">
        <p14:creationId xmlns:p14="http://schemas.microsoft.com/office/powerpoint/2010/main" val="65365946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CAA053C-5BE2-41A7-948A-0FDB30008F4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02CC10B6-5819-415C-93E9-3B67225BE17D}"/>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Sedinte si organisme</a:t>
            </a:r>
          </a:p>
        </p:txBody>
      </p:sp>
      <p:sp>
        <p:nvSpPr>
          <p:cNvPr id="3" name="">
            <a:extLst xmlns:a="http://schemas.openxmlformats.org/drawingml/2006/main">
              <a:ext uri="{FF2B5EF4-FFF2-40B4-BE49-F238E27FC236}">
                <a16:creationId xmlns:a16="http://schemas.microsoft.com/office/drawing/2014/main" id="{07542654-1D3D-4DCC-90B8-3457544D13F5}"/>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Guvernanta educationala</a:t>
            </a:r>
          </a:p>
        </p:txBody>
      </p:sp>
      <p:sp>
        <p:nvSpPr>
          <p:cNvPr id="4" name="">
            <a:extLst xmlns:a="http://schemas.openxmlformats.org/drawingml/2006/main">
              <a:ext uri="{FF2B5EF4-FFF2-40B4-BE49-F238E27FC236}">
                <a16:creationId xmlns:a16="http://schemas.microsoft.com/office/drawing/2014/main" id="{6CEEEFEB-C645-4E46-BA8F-B19B1A7EFA60}"/>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22</a:t>
            </a:r>
          </a:p>
        </p:txBody>
      </p:sp>
      <p:sp>
        <p:nvSpPr>
          <p:cNvPr id="5" name="">
            <a:extLst xmlns:a="http://schemas.openxmlformats.org/drawingml/2006/main">
              <a:ext uri="{FF2B5EF4-FFF2-40B4-BE49-F238E27FC236}">
                <a16:creationId xmlns:a16="http://schemas.microsoft.com/office/drawing/2014/main" id="{C7CE5AFF-8511-465E-8F58-AE8F8FE5DFBE}"/>
              </a:ext>
            </a:extLst>
          </p:cNvPr>
          <p:cNvSpPr>
            <a:spLocks xmlns:a="http://schemas.openxmlformats.org/drawingml/2006/main" noGrp="1"/>
          </p:cNvSpPr>
          <p:nvPr/>
        </p:nvSpPr>
        <p:spPr>
          <a:xfrm xmlns:a="http://schemas.openxmlformats.org/drawingml/2006/main">
            <a:off x="514350" y="112395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Guvernanta reuneste organismele de conducere, sedintele, hotararile, minutele, comisiile si documentele manageriale intr-un registru operational unitar.</a:t>
            </a:r>
          </a:p>
        </p:txBody>
      </p:sp>
      <p:sp>
        <p:nvSpPr>
          <p:cNvPr id="6" name="">
            <a:extLst xmlns:a="http://schemas.openxmlformats.org/drawingml/2006/main">
              <a:ext uri="{FF2B5EF4-FFF2-40B4-BE49-F238E27FC236}">
                <a16:creationId xmlns:a16="http://schemas.microsoft.com/office/drawing/2014/main" id="{EEB41528-FB68-4351-9300-71D59512E740}"/>
              </a:ext>
            </a:extLst>
          </p:cNvPr>
          <p:cNvSpPr>
            <a:spLocks xmlns:a="http://schemas.openxmlformats.org/drawingml/2006/main" noGrp="1"/>
          </p:cNvSpPr>
          <p:nvPr/>
        </p:nvSpPr>
        <p:spPr>
          <a:xfrm xmlns:a="http://schemas.openxmlformats.org/drawingml/2006/main">
            <a:off x="514350" y="1809750"/>
            <a:ext cx="11163300" cy="2990850"/>
          </a:xfrm>
          <a:prstGeom xmlns:a="http://schemas.openxmlformats.org/drawingml/2006/main" prst="roundRect">
            <a:avLst>
              <a:gd name="adj" fmla="val 5096"/>
            </a:avLst>
          </a:prstGeom>
          <a:solidFill xmlns:a="http://schemas.openxmlformats.org/drawingml/2006/main">
            <a:srgbClr val="F8FAFC"/>
          </a:solidFill>
          <a:ln xmlns:a="http://schemas.openxmlformats.org/drawingml/2006/main" w="9525">
            <a:solidFill>
              <a:srgbClr val="E2E8F0"/>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bc10167ac04545d5"/>
          <a:stretch xmlns:a="http://schemas.openxmlformats.org/drawingml/2006/main"/>
        </p:blipFill>
        <p:spPr>
          <a:xfrm xmlns:a="http://schemas.openxmlformats.org/drawingml/2006/main">
            <a:off x="3640667" y="1924050"/>
            <a:ext cx="4910667" cy="2762250"/>
          </a:xfrm>
          <a:prstGeom xmlns:a="http://schemas.openxmlformats.org/drawingml/2006/main" prst="roundRect">
            <a:avLst>
              <a:gd name="adj" fmla="val 4138"/>
            </a:avLst>
          </a:prstGeom>
        </p:spPr>
      </p:pic>
      <p:sp>
        <p:nvSpPr>
          <p:cNvPr id="8" name="">
            <a:extLst xmlns:a="http://schemas.openxmlformats.org/drawingml/2006/main">
              <a:ext uri="{FF2B5EF4-FFF2-40B4-BE49-F238E27FC236}">
                <a16:creationId xmlns:a16="http://schemas.microsoft.com/office/drawing/2014/main" id="{2D0BB8AE-67D8-4AA4-986B-2896E573C934}"/>
              </a:ext>
            </a:extLst>
          </p:cNvPr>
          <p:cNvSpPr>
            <a:spLocks xmlns:a="http://schemas.openxmlformats.org/drawingml/2006/main" noGrp="1"/>
          </p:cNvSpPr>
          <p:nvPr/>
        </p:nvSpPr>
        <p:spPr>
          <a:xfrm xmlns:a="http://schemas.openxmlformats.org/drawingml/2006/main">
            <a:off x="514350" y="4972050"/>
            <a:ext cx="5334000" cy="12954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E2E8F0"/>
            </a:solidFill>
            <a:prstDash val="solid"/>
          </a:ln>
        </p:spPr>
      </p:sp>
      <p:sp>
        <p:nvSpPr>
          <p:cNvPr id="9" name="">
            <a:extLst xmlns:a="http://schemas.openxmlformats.org/drawingml/2006/main">
              <a:ext uri="{FF2B5EF4-FFF2-40B4-BE49-F238E27FC236}">
                <a16:creationId xmlns:a16="http://schemas.microsoft.com/office/drawing/2014/main" id="{307C2D5B-0E10-40CC-B921-A8951B4F17A0}"/>
              </a:ext>
            </a:extLst>
          </p:cNvPr>
          <p:cNvSpPr>
            <a:spLocks xmlns:a="http://schemas.openxmlformats.org/drawingml/2006/main" noGrp="1"/>
          </p:cNvSpPr>
          <p:nvPr/>
        </p:nvSpPr>
        <p:spPr>
          <a:xfrm xmlns:a="http://schemas.openxmlformats.org/drawingml/2006/main">
            <a:off x="666750" y="510540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Cum lucrezi</a:t>
            </a:r>
          </a:p>
        </p:txBody>
      </p:sp>
      <p:sp>
        <p:nvSpPr>
          <p:cNvPr id="10" name="">
            <a:extLst xmlns:a="http://schemas.openxmlformats.org/drawingml/2006/main">
              <a:ext uri="{FF2B5EF4-FFF2-40B4-BE49-F238E27FC236}">
                <a16:creationId xmlns:a16="http://schemas.microsoft.com/office/drawing/2014/main" id="{41287998-A3ED-482A-830F-E682B42683F4}"/>
              </a:ext>
            </a:extLst>
          </p:cNvPr>
          <p:cNvSpPr>
            <a:spLocks xmlns:a="http://schemas.openxmlformats.org/drawingml/2006/main" noGrp="1"/>
          </p:cNvSpPr>
          <p:nvPr/>
        </p:nvSpPr>
        <p:spPr>
          <a:xfrm xmlns:a="http://schemas.openxmlformats.org/drawingml/2006/main">
            <a:off x="666750" y="5467350"/>
            <a:ext cx="5029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Schimbi resursa activa intre organisme, sedinte, hotarari, comisii, dosare si regulamente.</a:t>
            </a:r>
          </a:p>
          <a:p xmlns:a="http://schemas.openxmlformats.org/drawingml/2006/main">
            <a:pPr>
              <a:defRPr sz="1125">
                <a:solidFill>
                  <a:srgbClr val="314158"/>
                </a:solidFill>
              </a:defRPr>
            </a:pPr>
            <a:r>
              <a:rPr sz="1125">
                <a:solidFill>
                  <a:srgbClr val="314158"/>
                </a:solidFill>
              </a:rPr>
              <a:t>• Filtrezi lista si intri in detaliile inregistrarii selectate.</a:t>
            </a:r>
          </a:p>
          <a:p xmlns:a="http://schemas.openxmlformats.org/drawingml/2006/main">
            <a:pPr>
              <a:defRPr sz="1125">
                <a:solidFill>
                  <a:srgbClr val="314158"/>
                </a:solidFill>
              </a:defRPr>
            </a:pPr>
            <a:r>
              <a:rPr sz="1125">
                <a:solidFill>
                  <a:srgbClr val="314158"/>
                </a:solidFill>
              </a:rPr>
              <a:t>• Pornesti wizard-ul potrivit atunci cand trebuie sa creezi o inregistrare noua.</a:t>
            </a:r>
          </a:p>
        </p:txBody>
      </p:sp>
      <p:sp>
        <p:nvSpPr>
          <p:cNvPr id="11" name="">
            <a:extLst xmlns:a="http://schemas.openxmlformats.org/drawingml/2006/main">
              <a:ext uri="{FF2B5EF4-FFF2-40B4-BE49-F238E27FC236}">
                <a16:creationId xmlns:a16="http://schemas.microsoft.com/office/drawing/2014/main" id="{94A06D57-409D-4536-AB6B-0D4476FA1EFF}"/>
              </a:ext>
            </a:extLst>
          </p:cNvPr>
          <p:cNvSpPr>
            <a:spLocks xmlns:a="http://schemas.openxmlformats.org/drawingml/2006/main" noGrp="1"/>
          </p:cNvSpPr>
          <p:nvPr/>
        </p:nvSpPr>
        <p:spPr>
          <a:xfrm xmlns:a="http://schemas.openxmlformats.org/drawingml/2006/main">
            <a:off x="6343650" y="4972050"/>
            <a:ext cx="533400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E2E8F0"/>
            </a:solidFill>
            <a:prstDash val="solid"/>
          </a:ln>
        </p:spPr>
      </p:sp>
      <p:sp>
        <p:nvSpPr>
          <p:cNvPr id="12" name="">
            <a:extLst xmlns:a="http://schemas.openxmlformats.org/drawingml/2006/main">
              <a:ext uri="{FF2B5EF4-FFF2-40B4-BE49-F238E27FC236}">
                <a16:creationId xmlns:a16="http://schemas.microsoft.com/office/drawing/2014/main" id="{662944E4-DFFF-44A3-9F9D-188B5E064FE9}"/>
              </a:ext>
            </a:extLst>
          </p:cNvPr>
          <p:cNvSpPr>
            <a:spLocks xmlns:a="http://schemas.openxmlformats.org/drawingml/2006/main" noGrp="1"/>
          </p:cNvSpPr>
          <p:nvPr/>
        </p:nvSpPr>
        <p:spPr>
          <a:xfrm xmlns:a="http://schemas.openxmlformats.org/drawingml/2006/main">
            <a:off x="6496050" y="5105400"/>
            <a:ext cx="5029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Ce obtii: Toata guvernanta scolii este urmarita coerent in acelasi loc.</a:t>
            </a:r>
          </a:p>
        </p:txBody>
      </p:sp>
      <p:sp>
        <p:nvSpPr>
          <p:cNvPr id="13" name="">
            <a:extLst xmlns:a="http://schemas.openxmlformats.org/drawingml/2006/main">
              <a:ext uri="{FF2B5EF4-FFF2-40B4-BE49-F238E27FC236}">
                <a16:creationId xmlns:a16="http://schemas.microsoft.com/office/drawing/2014/main" id="{8BD0A197-EEA0-44E9-AD85-BC19E76ED29E}"/>
              </a:ext>
            </a:extLst>
          </p:cNvPr>
          <p:cNvSpPr>
            <a:spLocks xmlns:a="http://schemas.openxmlformats.org/drawingml/2006/main" noGrp="1"/>
          </p:cNvSpPr>
          <p:nvPr/>
        </p:nvSpPr>
        <p:spPr>
          <a:xfrm xmlns:a="http://schemas.openxmlformats.org/drawingml/2006/main">
            <a:off x="6343650" y="5734050"/>
            <a:ext cx="5334000" cy="5334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C3E3EEFF-2FDD-4F65-8754-9F062BAA7F11}"/>
              </a:ext>
            </a:extLst>
          </p:cNvPr>
          <p:cNvSpPr>
            <a:spLocks xmlns:a="http://schemas.openxmlformats.org/drawingml/2006/main" noGrp="1"/>
          </p:cNvSpPr>
          <p:nvPr/>
        </p:nvSpPr>
        <p:spPr>
          <a:xfrm xmlns:a="http://schemas.openxmlformats.org/drawingml/2006/main">
            <a:off x="6496050" y="5867400"/>
            <a:ext cx="502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citesti captura: Captura prezinta ecranul real folosit de utilizator in guvernanta educationala, cu zonele de lista, filtrare, completare si actiune vizibile exact asa cum apar in aplicatie.</a:t>
            </a:r>
          </a:p>
        </p:txBody>
      </p:sp>
      <p:sp>
        <p:nvSpPr>
          <p:cNvPr id="15" name="">
            <a:extLst xmlns:a="http://schemas.openxmlformats.org/drawingml/2006/main">
              <a:ext uri="{FF2B5EF4-FFF2-40B4-BE49-F238E27FC236}">
                <a16:creationId xmlns:a16="http://schemas.microsoft.com/office/drawing/2014/main" id="{AEEA9D16-3D71-4E0E-9A29-B1C996F83168}"/>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6" name="">
            <a:extLst xmlns:a="http://schemas.openxmlformats.org/drawingml/2006/main">
              <a:ext uri="{FF2B5EF4-FFF2-40B4-BE49-F238E27FC236}">
                <a16:creationId xmlns:a16="http://schemas.microsoft.com/office/drawing/2014/main" id="{DB062577-9757-4660-8FCB-220FEE7E5D3A}"/>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Guvernanta educationala</a:t>
            </a:r>
          </a:p>
        </p:txBody>
      </p:sp>
    </p:spTree>
    <p:extLst>
      <p:ext uri="{BB962C8B-B14F-4D97-AF65-F5344CB8AC3E}">
        <p14:creationId xmlns:p14="http://schemas.microsoft.com/office/powerpoint/2010/main" val="159113409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94F51E6-1D24-4592-AEBD-A4F64ACB88A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6309EB69-97B2-429D-B98D-8B4635DB3028}"/>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Consiliul de administratie</a:t>
            </a:r>
          </a:p>
        </p:txBody>
      </p:sp>
      <p:sp>
        <p:nvSpPr>
          <p:cNvPr id="3" name="">
            <a:extLst xmlns:a="http://schemas.openxmlformats.org/drawingml/2006/main">
              <a:ext uri="{FF2B5EF4-FFF2-40B4-BE49-F238E27FC236}">
                <a16:creationId xmlns:a16="http://schemas.microsoft.com/office/drawing/2014/main" id="{82D51330-6EF6-4FFF-B1B8-EB9F26DA7F49}"/>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Wizard sedinta CA</a:t>
            </a:r>
          </a:p>
        </p:txBody>
      </p:sp>
      <p:sp>
        <p:nvSpPr>
          <p:cNvPr id="4" name="">
            <a:extLst xmlns:a="http://schemas.openxmlformats.org/drawingml/2006/main">
              <a:ext uri="{FF2B5EF4-FFF2-40B4-BE49-F238E27FC236}">
                <a16:creationId xmlns:a16="http://schemas.microsoft.com/office/drawing/2014/main" id="{DC131C98-A075-4E10-A52B-2737296EB5D5}"/>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23</a:t>
            </a:r>
          </a:p>
        </p:txBody>
      </p:sp>
      <p:sp>
        <p:nvSpPr>
          <p:cNvPr id="5" name="">
            <a:extLst xmlns:a="http://schemas.openxmlformats.org/drawingml/2006/main">
              <a:ext uri="{FF2B5EF4-FFF2-40B4-BE49-F238E27FC236}">
                <a16:creationId xmlns:a16="http://schemas.microsoft.com/office/drawing/2014/main" id="{B9A0B93A-8B0E-4FC2-8C99-8554AFE1540A}"/>
              </a:ext>
            </a:extLst>
          </p:cNvPr>
          <p:cNvSpPr>
            <a:spLocks xmlns:a="http://schemas.openxmlformats.org/drawingml/2006/main" noGrp="1"/>
          </p:cNvSpPr>
          <p:nvPr/>
        </p:nvSpPr>
        <p:spPr>
          <a:xfrm xmlns:a="http://schemas.openxmlformats.org/drawingml/2006/main">
            <a:off x="514350" y="114300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Wizard-ul pentru sedinta CA ghideaza utilizatorul prin crearea sedintei, completarea participantilor si pregatirea documentelor esentiale.</a:t>
            </a:r>
          </a:p>
        </p:txBody>
      </p:sp>
      <p:sp>
        <p:nvSpPr>
          <p:cNvPr id="6" name="">
            <a:extLst xmlns:a="http://schemas.openxmlformats.org/drawingml/2006/main">
              <a:ext uri="{FF2B5EF4-FFF2-40B4-BE49-F238E27FC236}">
                <a16:creationId xmlns:a16="http://schemas.microsoft.com/office/drawing/2014/main" id="{D73D5934-97C8-473A-8DAA-F4FC747D5ED2}"/>
              </a:ext>
            </a:extLst>
          </p:cNvPr>
          <p:cNvSpPr>
            <a:spLocks xmlns:a="http://schemas.openxmlformats.org/drawingml/2006/main" noGrp="1"/>
          </p:cNvSpPr>
          <p:nvPr/>
        </p:nvSpPr>
        <p:spPr>
          <a:xfrm xmlns:a="http://schemas.openxmlformats.org/drawingml/2006/main">
            <a:off x="514350" y="1981200"/>
            <a:ext cx="4095750" cy="224790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83F6F687-7A2C-45D1-BCEF-696FE5FF2233}"/>
              </a:ext>
            </a:extLst>
          </p:cNvPr>
          <p:cNvSpPr>
            <a:spLocks xmlns:a="http://schemas.openxmlformats.org/drawingml/2006/main" noGrp="1"/>
          </p:cNvSpPr>
          <p:nvPr/>
        </p:nvSpPr>
        <p:spPr>
          <a:xfrm xmlns:a="http://schemas.openxmlformats.org/drawingml/2006/main">
            <a:off x="666750" y="21145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Ce face utilizatorul</a:t>
            </a:r>
          </a:p>
        </p:txBody>
      </p:sp>
      <p:sp>
        <p:nvSpPr>
          <p:cNvPr id="8" name="">
            <a:extLst xmlns:a="http://schemas.openxmlformats.org/drawingml/2006/main">
              <a:ext uri="{FF2B5EF4-FFF2-40B4-BE49-F238E27FC236}">
                <a16:creationId xmlns:a16="http://schemas.microsoft.com/office/drawing/2014/main" id="{12598F80-BC36-48CB-A0B6-CC953532B245}"/>
              </a:ext>
            </a:extLst>
          </p:cNvPr>
          <p:cNvSpPr>
            <a:spLocks xmlns:a="http://schemas.openxmlformats.org/drawingml/2006/main" noGrp="1"/>
          </p:cNvSpPr>
          <p:nvPr/>
        </p:nvSpPr>
        <p:spPr>
          <a:xfrm xmlns:a="http://schemas.openxmlformats.org/drawingml/2006/main">
            <a:off x="666750" y="2476500"/>
            <a:ext cx="37909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Completezi datele sedintei si tipul acesteia.</a:t>
            </a:r>
          </a:p>
          <a:p xmlns:a="http://schemas.openxmlformats.org/drawingml/2006/main">
            <a:pPr>
              <a:defRPr sz="1125">
                <a:solidFill>
                  <a:srgbClr val="314158"/>
                </a:solidFill>
              </a:defRPr>
            </a:pPr>
            <a:r>
              <a:rPr sz="1125">
                <a:solidFill>
                  <a:srgbClr val="314158"/>
                </a:solidFill>
              </a:rPr>
              <a:t>• Adaugi participanti, convocator, lista de prezenta si materiale.</a:t>
            </a:r>
          </a:p>
          <a:p xmlns:a="http://schemas.openxmlformats.org/drawingml/2006/main">
            <a:pPr>
              <a:defRPr sz="1125">
                <a:solidFill>
                  <a:srgbClr val="314158"/>
                </a:solidFill>
              </a:defRPr>
            </a:pPr>
            <a:r>
              <a:rPr sz="1125">
                <a:solidFill>
                  <a:srgbClr val="314158"/>
                </a:solidFill>
              </a:rPr>
              <a:t>• Finalizezi sedinta astfel incat minutele si hotararile sa poata continua in flux.</a:t>
            </a:r>
          </a:p>
        </p:txBody>
      </p:sp>
      <p:sp>
        <p:nvSpPr>
          <p:cNvPr id="9" name="">
            <a:extLst xmlns:a="http://schemas.openxmlformats.org/drawingml/2006/main">
              <a:ext uri="{FF2B5EF4-FFF2-40B4-BE49-F238E27FC236}">
                <a16:creationId xmlns:a16="http://schemas.microsoft.com/office/drawing/2014/main" id="{AD0AA286-9675-40D8-8EB7-97FD18C050DB}"/>
              </a:ext>
            </a:extLst>
          </p:cNvPr>
          <p:cNvSpPr>
            <a:spLocks xmlns:a="http://schemas.openxmlformats.org/drawingml/2006/main" noGrp="1"/>
          </p:cNvSpPr>
          <p:nvPr/>
        </p:nvSpPr>
        <p:spPr>
          <a:xfrm xmlns:a="http://schemas.openxmlformats.org/drawingml/2006/main">
            <a:off x="514350" y="4381500"/>
            <a:ext cx="4095750" cy="11430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961EA7FC-B404-44D1-9BC7-0115D16B69E4}"/>
              </a:ext>
            </a:extLst>
          </p:cNvPr>
          <p:cNvSpPr>
            <a:spLocks xmlns:a="http://schemas.openxmlformats.org/drawingml/2006/main" noGrp="1"/>
          </p:cNvSpPr>
          <p:nvPr/>
        </p:nvSpPr>
        <p:spPr>
          <a:xfrm xmlns:a="http://schemas.openxmlformats.org/drawingml/2006/main">
            <a:off x="666750" y="451485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Cum se foloseste ecranul</a:t>
            </a:r>
          </a:p>
        </p:txBody>
      </p:sp>
      <p:sp>
        <p:nvSpPr>
          <p:cNvPr id="11" name="">
            <a:extLst xmlns:a="http://schemas.openxmlformats.org/drawingml/2006/main">
              <a:ext uri="{FF2B5EF4-FFF2-40B4-BE49-F238E27FC236}">
                <a16:creationId xmlns:a16="http://schemas.microsoft.com/office/drawing/2014/main" id="{F6EB3E4D-D470-414D-B15E-C1AFF856A278}"/>
              </a:ext>
            </a:extLst>
          </p:cNvPr>
          <p:cNvSpPr>
            <a:spLocks xmlns:a="http://schemas.openxmlformats.org/drawingml/2006/main" noGrp="1"/>
          </p:cNvSpPr>
          <p:nvPr/>
        </p:nvSpPr>
        <p:spPr>
          <a:xfrm xmlns:a="http://schemas.openxmlformats.org/drawingml/2006/main">
            <a:off x="666750" y="4876800"/>
            <a:ext cx="3790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Utilizatorul porneste din acest ecran, completeaza informatiile necesare si verifica sumarul inainte de a salva sau de a trimite fluxul mai departe. La final, sedinta este inregistrata clar si pregatita pentru documentele derivate.</a:t>
            </a:r>
          </a:p>
        </p:txBody>
      </p:sp>
      <p:sp>
        <p:nvSpPr>
          <p:cNvPr id="12" name="">
            <a:extLst xmlns:a="http://schemas.openxmlformats.org/drawingml/2006/main">
              <a:ext uri="{FF2B5EF4-FFF2-40B4-BE49-F238E27FC236}">
                <a16:creationId xmlns:a16="http://schemas.microsoft.com/office/drawing/2014/main" id="{1C446C6B-FB4B-41A2-9C26-4635E1D5733F}"/>
              </a:ext>
            </a:extLst>
          </p:cNvPr>
          <p:cNvSpPr>
            <a:spLocks xmlns:a="http://schemas.openxmlformats.org/drawingml/2006/main" noGrp="1"/>
          </p:cNvSpPr>
          <p:nvPr/>
        </p:nvSpPr>
        <p:spPr>
          <a:xfrm xmlns:a="http://schemas.openxmlformats.org/drawingml/2006/main">
            <a:off x="514350" y="5657850"/>
            <a:ext cx="409575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A7A11609-A93A-4061-804A-FD04125AEC1B}"/>
              </a:ext>
            </a:extLst>
          </p:cNvPr>
          <p:cNvSpPr>
            <a:spLocks xmlns:a="http://schemas.openxmlformats.org/drawingml/2006/main" noGrp="1"/>
          </p:cNvSpPr>
          <p:nvPr/>
        </p:nvSpPr>
        <p:spPr>
          <a:xfrm xmlns:a="http://schemas.openxmlformats.org/drawingml/2006/main">
            <a:off x="666750" y="5791200"/>
            <a:ext cx="3790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Rezultat final: Sedinta este inregistrata clar si pregatita pentru documentele derivate.</a:t>
            </a:r>
          </a:p>
        </p:txBody>
      </p:sp>
      <p:sp>
        <p:nvSpPr>
          <p:cNvPr id="14" name="">
            <a:extLst xmlns:a="http://schemas.openxmlformats.org/drawingml/2006/main">
              <a:ext uri="{FF2B5EF4-FFF2-40B4-BE49-F238E27FC236}">
                <a16:creationId xmlns:a16="http://schemas.microsoft.com/office/drawing/2014/main" id="{26030265-291E-451B-BA16-091EB5E05878}"/>
              </a:ext>
            </a:extLst>
          </p:cNvPr>
          <p:cNvSpPr>
            <a:spLocks xmlns:a="http://schemas.openxmlformats.org/drawingml/2006/main" noGrp="1"/>
          </p:cNvSpPr>
          <p:nvPr/>
        </p:nvSpPr>
        <p:spPr>
          <a:xfrm xmlns:a="http://schemas.openxmlformats.org/drawingml/2006/main">
            <a:off x="4895850" y="1981200"/>
            <a:ext cx="6610350" cy="37338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fd806f3bd06a4101"/>
          <a:stretch xmlns:a="http://schemas.openxmlformats.org/drawingml/2006/main"/>
        </p:blipFill>
        <p:spPr>
          <a:xfrm xmlns:a="http://schemas.openxmlformats.org/drawingml/2006/main">
            <a:off x="5085292" y="2095500"/>
            <a:ext cx="6231467" cy="3505200"/>
          </a:xfrm>
          <a:prstGeom xmlns:a="http://schemas.openxmlformats.org/drawingml/2006/main" prst="roundRect">
            <a:avLst>
              <a:gd name="adj" fmla="val 3261"/>
            </a:avLst>
          </a:prstGeom>
        </p:spPr>
      </p:pic>
      <p:sp>
        <p:nvSpPr>
          <p:cNvPr id="16" name="">
            <a:extLst xmlns:a="http://schemas.openxmlformats.org/drawingml/2006/main">
              <a:ext uri="{FF2B5EF4-FFF2-40B4-BE49-F238E27FC236}">
                <a16:creationId xmlns:a16="http://schemas.microsoft.com/office/drawing/2014/main" id="{F3F03E85-5625-40E9-ACDC-9038A6AC0546}"/>
              </a:ext>
            </a:extLst>
          </p:cNvPr>
          <p:cNvSpPr>
            <a:spLocks xmlns:a="http://schemas.openxmlformats.org/drawingml/2006/main" noGrp="1"/>
          </p:cNvSpPr>
          <p:nvPr/>
        </p:nvSpPr>
        <p:spPr>
          <a:xfrm xmlns:a="http://schemas.openxmlformats.org/drawingml/2006/main">
            <a:off x="4895850" y="5772150"/>
            <a:ext cx="6610350" cy="476250"/>
          </a:xfrm>
          <a:prstGeom xmlns:a="http://schemas.openxmlformats.org/drawingml/2006/main" prst="roundRect">
            <a:avLst>
              <a:gd name="adj" fmla="val 32000"/>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7FE5C90E-4887-4BCC-818E-4B76D77B40A4}"/>
              </a:ext>
            </a:extLst>
          </p:cNvPr>
          <p:cNvSpPr>
            <a:spLocks xmlns:a="http://schemas.openxmlformats.org/drawingml/2006/main" noGrp="1"/>
          </p:cNvSpPr>
          <p:nvPr/>
        </p:nvSpPr>
        <p:spPr>
          <a:xfrm xmlns:a="http://schemas.openxmlformats.org/drawingml/2006/main">
            <a:off x="5048250" y="5905500"/>
            <a:ext cx="6305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Ce observi in captura: Captura prezinta ecranul real folosit de utilizator in wizard sedinta ca, cu zonele de lista, filtrare, completare si actiune vizibile exact asa cum apar in aplicatie.</a:t>
            </a:r>
          </a:p>
        </p:txBody>
      </p:sp>
      <p:sp>
        <p:nvSpPr>
          <p:cNvPr id="18" name="">
            <a:extLst xmlns:a="http://schemas.openxmlformats.org/drawingml/2006/main">
              <a:ext uri="{FF2B5EF4-FFF2-40B4-BE49-F238E27FC236}">
                <a16:creationId xmlns:a16="http://schemas.microsoft.com/office/drawing/2014/main" id="{0A519E2C-ABC6-4F03-9C6D-84C8C028DCF0}"/>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9" name="">
            <a:extLst xmlns:a="http://schemas.openxmlformats.org/drawingml/2006/main">
              <a:ext uri="{FF2B5EF4-FFF2-40B4-BE49-F238E27FC236}">
                <a16:creationId xmlns:a16="http://schemas.microsoft.com/office/drawing/2014/main" id="{EB4E0CA8-4E88-4D88-B6A2-5CA8EC63FCCE}"/>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Guvernanta - sedinta CA</a:t>
            </a:r>
          </a:p>
        </p:txBody>
      </p:sp>
    </p:spTree>
    <p:extLst>
      <p:ext uri="{BB962C8B-B14F-4D97-AF65-F5344CB8AC3E}">
        <p14:creationId xmlns:p14="http://schemas.microsoft.com/office/powerpoint/2010/main" val="43437741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D65F7FA-DB32-4670-BB1F-ACF5B6A90D5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9237A9E2-6837-4AC4-BD2B-7F4E0AB230EF}"/>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Consiliul de administratie / profesoral</a:t>
            </a:r>
          </a:p>
        </p:txBody>
      </p:sp>
      <p:sp>
        <p:nvSpPr>
          <p:cNvPr id="3" name="">
            <a:extLst xmlns:a="http://schemas.openxmlformats.org/drawingml/2006/main">
              <a:ext uri="{FF2B5EF4-FFF2-40B4-BE49-F238E27FC236}">
                <a16:creationId xmlns:a16="http://schemas.microsoft.com/office/drawing/2014/main" id="{ECEFFB1B-AB80-4EFF-BFB3-26819E10B110}"/>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Wizard punct de minuta</a:t>
            </a:r>
          </a:p>
        </p:txBody>
      </p:sp>
      <p:sp>
        <p:nvSpPr>
          <p:cNvPr id="4" name="">
            <a:extLst xmlns:a="http://schemas.openxmlformats.org/drawingml/2006/main">
              <a:ext uri="{FF2B5EF4-FFF2-40B4-BE49-F238E27FC236}">
                <a16:creationId xmlns:a16="http://schemas.microsoft.com/office/drawing/2014/main" id="{73E31AB8-6B4C-4139-A8BF-E62A9B168B18}"/>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24</a:t>
            </a:r>
          </a:p>
        </p:txBody>
      </p:sp>
      <p:sp>
        <p:nvSpPr>
          <p:cNvPr id="5" name="">
            <a:extLst xmlns:a="http://schemas.openxmlformats.org/drawingml/2006/main">
              <a:ext uri="{FF2B5EF4-FFF2-40B4-BE49-F238E27FC236}">
                <a16:creationId xmlns:a16="http://schemas.microsoft.com/office/drawing/2014/main" id="{322995B4-2467-4F2B-BCE8-D75C8BD0147E}"/>
              </a:ext>
            </a:extLst>
          </p:cNvPr>
          <p:cNvSpPr>
            <a:spLocks xmlns:a="http://schemas.openxmlformats.org/drawingml/2006/main" noGrp="1"/>
          </p:cNvSpPr>
          <p:nvPr/>
        </p:nvSpPr>
        <p:spPr>
          <a:xfrm xmlns:a="http://schemas.openxmlformats.org/drawingml/2006/main">
            <a:off x="514350" y="114300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Punctele de minuta structureaza continutul sedintei si fac legatura intre discutie, masuri si actele care rezulta ulterior.</a:t>
            </a:r>
          </a:p>
        </p:txBody>
      </p:sp>
      <p:sp>
        <p:nvSpPr>
          <p:cNvPr id="6" name="">
            <a:extLst xmlns:a="http://schemas.openxmlformats.org/drawingml/2006/main">
              <a:ext uri="{FF2B5EF4-FFF2-40B4-BE49-F238E27FC236}">
                <a16:creationId xmlns:a16="http://schemas.microsoft.com/office/drawing/2014/main" id="{44821675-F646-4E23-AACF-11FEB780A982}"/>
              </a:ext>
            </a:extLst>
          </p:cNvPr>
          <p:cNvSpPr>
            <a:spLocks xmlns:a="http://schemas.openxmlformats.org/drawingml/2006/main" noGrp="1"/>
          </p:cNvSpPr>
          <p:nvPr/>
        </p:nvSpPr>
        <p:spPr>
          <a:xfrm xmlns:a="http://schemas.openxmlformats.org/drawingml/2006/main">
            <a:off x="514350" y="1981200"/>
            <a:ext cx="4095750" cy="224790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42A585DB-968A-4379-8065-4240A7EECDEA}"/>
              </a:ext>
            </a:extLst>
          </p:cNvPr>
          <p:cNvSpPr>
            <a:spLocks xmlns:a="http://schemas.openxmlformats.org/drawingml/2006/main" noGrp="1"/>
          </p:cNvSpPr>
          <p:nvPr/>
        </p:nvSpPr>
        <p:spPr>
          <a:xfrm xmlns:a="http://schemas.openxmlformats.org/drawingml/2006/main">
            <a:off x="666750" y="21145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Ce face utilizatorul</a:t>
            </a:r>
          </a:p>
        </p:txBody>
      </p:sp>
      <p:sp>
        <p:nvSpPr>
          <p:cNvPr id="8" name="">
            <a:extLst xmlns:a="http://schemas.openxmlformats.org/drawingml/2006/main">
              <a:ext uri="{FF2B5EF4-FFF2-40B4-BE49-F238E27FC236}">
                <a16:creationId xmlns:a16="http://schemas.microsoft.com/office/drawing/2014/main" id="{79195AF7-8DC9-42F6-A841-AC8C3F316FA7}"/>
              </a:ext>
            </a:extLst>
          </p:cNvPr>
          <p:cNvSpPr>
            <a:spLocks xmlns:a="http://schemas.openxmlformats.org/drawingml/2006/main" noGrp="1"/>
          </p:cNvSpPr>
          <p:nvPr/>
        </p:nvSpPr>
        <p:spPr>
          <a:xfrm xmlns:a="http://schemas.openxmlformats.org/drawingml/2006/main">
            <a:off x="666750" y="2476500"/>
            <a:ext cx="37909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Alegi sedinta si formulezi punctul de discutie.</a:t>
            </a:r>
          </a:p>
          <a:p xmlns:a="http://schemas.openxmlformats.org/drawingml/2006/main">
            <a:pPr>
              <a:defRPr sz="1125">
                <a:solidFill>
                  <a:srgbClr val="314158"/>
                </a:solidFill>
              </a:defRPr>
            </a:pPr>
            <a:r>
              <a:rPr sz="1125">
                <a:solidFill>
                  <a:srgbClr val="314158"/>
                </a:solidFill>
              </a:rPr>
              <a:t>• Descrii continutul si masurile de urmarit.</a:t>
            </a:r>
          </a:p>
          <a:p xmlns:a="http://schemas.openxmlformats.org/drawingml/2006/main">
            <a:pPr>
              <a:defRPr sz="1125">
                <a:solidFill>
                  <a:srgbClr val="314158"/>
                </a:solidFill>
              </a:defRPr>
            </a:pPr>
            <a:r>
              <a:rPr sz="1125">
                <a:solidFill>
                  <a:srgbClr val="314158"/>
                </a:solidFill>
              </a:rPr>
              <a:t>• Pastrezi baza pentru hotarari si pentru monitorizarea implementarii.</a:t>
            </a:r>
          </a:p>
        </p:txBody>
      </p:sp>
      <p:sp>
        <p:nvSpPr>
          <p:cNvPr id="9" name="">
            <a:extLst xmlns:a="http://schemas.openxmlformats.org/drawingml/2006/main">
              <a:ext uri="{FF2B5EF4-FFF2-40B4-BE49-F238E27FC236}">
                <a16:creationId xmlns:a16="http://schemas.microsoft.com/office/drawing/2014/main" id="{E76FE257-000B-4EC9-BE74-22ADBA23226E}"/>
              </a:ext>
            </a:extLst>
          </p:cNvPr>
          <p:cNvSpPr>
            <a:spLocks xmlns:a="http://schemas.openxmlformats.org/drawingml/2006/main" noGrp="1"/>
          </p:cNvSpPr>
          <p:nvPr/>
        </p:nvSpPr>
        <p:spPr>
          <a:xfrm xmlns:a="http://schemas.openxmlformats.org/drawingml/2006/main">
            <a:off x="514350" y="4381500"/>
            <a:ext cx="4095750" cy="11430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81CDEB65-9F76-4950-90BE-0D7C1A65142E}"/>
              </a:ext>
            </a:extLst>
          </p:cNvPr>
          <p:cNvSpPr>
            <a:spLocks xmlns:a="http://schemas.openxmlformats.org/drawingml/2006/main" noGrp="1"/>
          </p:cNvSpPr>
          <p:nvPr/>
        </p:nvSpPr>
        <p:spPr>
          <a:xfrm xmlns:a="http://schemas.openxmlformats.org/drawingml/2006/main">
            <a:off x="666750" y="451485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Cum se foloseste ecranul</a:t>
            </a:r>
          </a:p>
        </p:txBody>
      </p:sp>
      <p:sp>
        <p:nvSpPr>
          <p:cNvPr id="11" name="">
            <a:extLst xmlns:a="http://schemas.openxmlformats.org/drawingml/2006/main">
              <a:ext uri="{FF2B5EF4-FFF2-40B4-BE49-F238E27FC236}">
                <a16:creationId xmlns:a16="http://schemas.microsoft.com/office/drawing/2014/main" id="{6BCAA826-2ED4-40E1-9151-A8AA2C78817F}"/>
              </a:ext>
            </a:extLst>
          </p:cNvPr>
          <p:cNvSpPr>
            <a:spLocks xmlns:a="http://schemas.openxmlformats.org/drawingml/2006/main" noGrp="1"/>
          </p:cNvSpPr>
          <p:nvPr/>
        </p:nvSpPr>
        <p:spPr>
          <a:xfrm xmlns:a="http://schemas.openxmlformats.org/drawingml/2006/main">
            <a:off x="666750" y="4876800"/>
            <a:ext cx="3790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Utilizatorul porneste din acest ecran, completeaza informatiile necesare si verifica sumarul inainte de a salva sau de a trimite fluxul mai departe. La final, minuta devine clara, urmaribila si usor de folosit in pasii urmatori.</a:t>
            </a:r>
          </a:p>
        </p:txBody>
      </p:sp>
      <p:sp>
        <p:nvSpPr>
          <p:cNvPr id="12" name="">
            <a:extLst xmlns:a="http://schemas.openxmlformats.org/drawingml/2006/main">
              <a:ext uri="{FF2B5EF4-FFF2-40B4-BE49-F238E27FC236}">
                <a16:creationId xmlns:a16="http://schemas.microsoft.com/office/drawing/2014/main" id="{D33B76E9-76F4-4D59-8403-943244778012}"/>
              </a:ext>
            </a:extLst>
          </p:cNvPr>
          <p:cNvSpPr>
            <a:spLocks xmlns:a="http://schemas.openxmlformats.org/drawingml/2006/main" noGrp="1"/>
          </p:cNvSpPr>
          <p:nvPr/>
        </p:nvSpPr>
        <p:spPr>
          <a:xfrm xmlns:a="http://schemas.openxmlformats.org/drawingml/2006/main">
            <a:off x="514350" y="5657850"/>
            <a:ext cx="409575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CEA0300B-E62A-472D-A866-A16A6D04B462}"/>
              </a:ext>
            </a:extLst>
          </p:cNvPr>
          <p:cNvSpPr>
            <a:spLocks xmlns:a="http://schemas.openxmlformats.org/drawingml/2006/main" noGrp="1"/>
          </p:cNvSpPr>
          <p:nvPr/>
        </p:nvSpPr>
        <p:spPr>
          <a:xfrm xmlns:a="http://schemas.openxmlformats.org/drawingml/2006/main">
            <a:off x="666750" y="5791200"/>
            <a:ext cx="3790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Rezultat final: Minuta devine clara, urmaribila si usor de folosit in pasii urmatori.</a:t>
            </a:r>
          </a:p>
        </p:txBody>
      </p:sp>
      <p:sp>
        <p:nvSpPr>
          <p:cNvPr id="14" name="">
            <a:extLst xmlns:a="http://schemas.openxmlformats.org/drawingml/2006/main">
              <a:ext uri="{FF2B5EF4-FFF2-40B4-BE49-F238E27FC236}">
                <a16:creationId xmlns:a16="http://schemas.microsoft.com/office/drawing/2014/main" id="{A03F90DE-D321-4BFA-83FB-242169B17D3C}"/>
              </a:ext>
            </a:extLst>
          </p:cNvPr>
          <p:cNvSpPr>
            <a:spLocks xmlns:a="http://schemas.openxmlformats.org/drawingml/2006/main" noGrp="1"/>
          </p:cNvSpPr>
          <p:nvPr/>
        </p:nvSpPr>
        <p:spPr>
          <a:xfrm xmlns:a="http://schemas.openxmlformats.org/drawingml/2006/main">
            <a:off x="4895850" y="1981200"/>
            <a:ext cx="6610350" cy="37338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f7a08488e5864db6"/>
          <a:stretch xmlns:a="http://schemas.openxmlformats.org/drawingml/2006/main"/>
        </p:blipFill>
        <p:spPr>
          <a:xfrm xmlns:a="http://schemas.openxmlformats.org/drawingml/2006/main">
            <a:off x="5085292" y="2095500"/>
            <a:ext cx="6231467" cy="3505200"/>
          </a:xfrm>
          <a:prstGeom xmlns:a="http://schemas.openxmlformats.org/drawingml/2006/main" prst="roundRect">
            <a:avLst>
              <a:gd name="adj" fmla="val 3261"/>
            </a:avLst>
          </a:prstGeom>
        </p:spPr>
      </p:pic>
      <p:sp>
        <p:nvSpPr>
          <p:cNvPr id="16" name="">
            <a:extLst xmlns:a="http://schemas.openxmlformats.org/drawingml/2006/main">
              <a:ext uri="{FF2B5EF4-FFF2-40B4-BE49-F238E27FC236}">
                <a16:creationId xmlns:a16="http://schemas.microsoft.com/office/drawing/2014/main" id="{46CE0EFA-266B-48CF-B5D1-5A2E289BDC85}"/>
              </a:ext>
            </a:extLst>
          </p:cNvPr>
          <p:cNvSpPr>
            <a:spLocks xmlns:a="http://schemas.openxmlformats.org/drawingml/2006/main" noGrp="1"/>
          </p:cNvSpPr>
          <p:nvPr/>
        </p:nvSpPr>
        <p:spPr>
          <a:xfrm xmlns:a="http://schemas.openxmlformats.org/drawingml/2006/main">
            <a:off x="4895850" y="5772150"/>
            <a:ext cx="6610350" cy="476250"/>
          </a:xfrm>
          <a:prstGeom xmlns:a="http://schemas.openxmlformats.org/drawingml/2006/main" prst="roundRect">
            <a:avLst>
              <a:gd name="adj" fmla="val 32000"/>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5EEFD0E7-8AAB-40B8-9C89-2118F519366A}"/>
              </a:ext>
            </a:extLst>
          </p:cNvPr>
          <p:cNvSpPr>
            <a:spLocks xmlns:a="http://schemas.openxmlformats.org/drawingml/2006/main" noGrp="1"/>
          </p:cNvSpPr>
          <p:nvPr/>
        </p:nvSpPr>
        <p:spPr>
          <a:xfrm xmlns:a="http://schemas.openxmlformats.org/drawingml/2006/main">
            <a:off x="5048250" y="5905500"/>
            <a:ext cx="6305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Ce observi in captura: Captura prezinta ecranul real folosit de utilizator in wizard punct de minuta, cu zonele de lista, filtrare, completare si actiune vizibile exact asa cum apar in aplicatie.</a:t>
            </a:r>
          </a:p>
        </p:txBody>
      </p:sp>
      <p:sp>
        <p:nvSpPr>
          <p:cNvPr id="18" name="">
            <a:extLst xmlns:a="http://schemas.openxmlformats.org/drawingml/2006/main">
              <a:ext uri="{FF2B5EF4-FFF2-40B4-BE49-F238E27FC236}">
                <a16:creationId xmlns:a16="http://schemas.microsoft.com/office/drawing/2014/main" id="{33C86EEC-7161-4823-B90F-71FB5839D50A}"/>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9" name="">
            <a:extLst xmlns:a="http://schemas.openxmlformats.org/drawingml/2006/main">
              <a:ext uri="{FF2B5EF4-FFF2-40B4-BE49-F238E27FC236}">
                <a16:creationId xmlns:a16="http://schemas.microsoft.com/office/drawing/2014/main" id="{F66814C6-F849-4A30-B70B-08E89410D0EE}"/>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Guvernanta - punct de minuta</a:t>
            </a:r>
          </a:p>
        </p:txBody>
      </p:sp>
    </p:spTree>
    <p:extLst>
      <p:ext uri="{BB962C8B-B14F-4D97-AF65-F5344CB8AC3E}">
        <p14:creationId xmlns:p14="http://schemas.microsoft.com/office/powerpoint/2010/main" val="6744538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68FEE8B-AB66-4BE7-9581-99010C33507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B355B6E9-F567-4D6B-91D2-B11247CA05A9}"/>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Consiliu si organisme</a:t>
            </a:r>
          </a:p>
        </p:txBody>
      </p:sp>
      <p:sp>
        <p:nvSpPr>
          <p:cNvPr id="3" name="">
            <a:extLst xmlns:a="http://schemas.openxmlformats.org/drawingml/2006/main">
              <a:ext uri="{FF2B5EF4-FFF2-40B4-BE49-F238E27FC236}">
                <a16:creationId xmlns:a16="http://schemas.microsoft.com/office/drawing/2014/main" id="{3F54C6CF-4938-4690-84E1-B8EFFE0EECCF}"/>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Wizard vot si rezultat</a:t>
            </a:r>
          </a:p>
        </p:txBody>
      </p:sp>
      <p:sp>
        <p:nvSpPr>
          <p:cNvPr id="4" name="">
            <a:extLst xmlns:a="http://schemas.openxmlformats.org/drawingml/2006/main">
              <a:ext uri="{FF2B5EF4-FFF2-40B4-BE49-F238E27FC236}">
                <a16:creationId xmlns:a16="http://schemas.microsoft.com/office/drawing/2014/main" id="{08C0F8BC-5559-414F-A369-91AF27CFDE5F}"/>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25</a:t>
            </a:r>
          </a:p>
        </p:txBody>
      </p:sp>
      <p:sp>
        <p:nvSpPr>
          <p:cNvPr id="5" name="">
            <a:extLst xmlns:a="http://schemas.openxmlformats.org/drawingml/2006/main">
              <a:ext uri="{FF2B5EF4-FFF2-40B4-BE49-F238E27FC236}">
                <a16:creationId xmlns:a16="http://schemas.microsoft.com/office/drawing/2014/main" id="{7961CA9D-1030-45A9-B5EC-91A06F2874EC}"/>
              </a:ext>
            </a:extLst>
          </p:cNvPr>
          <p:cNvSpPr>
            <a:spLocks xmlns:a="http://schemas.openxmlformats.org/drawingml/2006/main" noGrp="1"/>
          </p:cNvSpPr>
          <p:nvPr/>
        </p:nvSpPr>
        <p:spPr>
          <a:xfrm xmlns:a="http://schemas.openxmlformats.org/drawingml/2006/main">
            <a:off x="514350" y="114300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Votul consemneaza decizia formala asupra unei propuneri si pregateste terenul pentru hotarare sau aviz.</a:t>
            </a:r>
          </a:p>
        </p:txBody>
      </p:sp>
      <p:sp>
        <p:nvSpPr>
          <p:cNvPr id="6" name="">
            <a:extLst xmlns:a="http://schemas.openxmlformats.org/drawingml/2006/main">
              <a:ext uri="{FF2B5EF4-FFF2-40B4-BE49-F238E27FC236}">
                <a16:creationId xmlns:a16="http://schemas.microsoft.com/office/drawing/2014/main" id="{FB930DC5-35BF-4A87-88BE-94B44EFCC28F}"/>
              </a:ext>
            </a:extLst>
          </p:cNvPr>
          <p:cNvSpPr>
            <a:spLocks xmlns:a="http://schemas.openxmlformats.org/drawingml/2006/main" noGrp="1"/>
          </p:cNvSpPr>
          <p:nvPr/>
        </p:nvSpPr>
        <p:spPr>
          <a:xfrm xmlns:a="http://schemas.openxmlformats.org/drawingml/2006/main">
            <a:off x="514350" y="1981200"/>
            <a:ext cx="4095750" cy="224790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3F38013A-ACF7-4A98-A873-BC1C19691E42}"/>
              </a:ext>
            </a:extLst>
          </p:cNvPr>
          <p:cNvSpPr>
            <a:spLocks xmlns:a="http://schemas.openxmlformats.org/drawingml/2006/main" noGrp="1"/>
          </p:cNvSpPr>
          <p:nvPr/>
        </p:nvSpPr>
        <p:spPr>
          <a:xfrm xmlns:a="http://schemas.openxmlformats.org/drawingml/2006/main">
            <a:off x="666750" y="21145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Ce face utilizatorul</a:t>
            </a:r>
          </a:p>
        </p:txBody>
      </p:sp>
      <p:sp>
        <p:nvSpPr>
          <p:cNvPr id="8" name="">
            <a:extLst xmlns:a="http://schemas.openxmlformats.org/drawingml/2006/main">
              <a:ext uri="{FF2B5EF4-FFF2-40B4-BE49-F238E27FC236}">
                <a16:creationId xmlns:a16="http://schemas.microsoft.com/office/drawing/2014/main" id="{BF663B4F-0AC6-4E33-A125-3F4CBD3452F6}"/>
              </a:ext>
            </a:extLst>
          </p:cNvPr>
          <p:cNvSpPr>
            <a:spLocks xmlns:a="http://schemas.openxmlformats.org/drawingml/2006/main" noGrp="1"/>
          </p:cNvSpPr>
          <p:nvPr/>
        </p:nvSpPr>
        <p:spPr>
          <a:xfrm xmlns:a="http://schemas.openxmlformats.org/drawingml/2006/main">
            <a:off x="666750" y="2476500"/>
            <a:ext cx="37909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Selectezi sedinta si subiectul supus votului.</a:t>
            </a:r>
          </a:p>
          <a:p xmlns:a="http://schemas.openxmlformats.org/drawingml/2006/main">
            <a:pPr>
              <a:defRPr sz="1125">
                <a:solidFill>
                  <a:srgbClr val="314158"/>
                </a:solidFill>
              </a:defRPr>
            </a:pPr>
            <a:r>
              <a:rPr sz="1125">
                <a:solidFill>
                  <a:srgbClr val="314158"/>
                </a:solidFill>
              </a:rPr>
              <a:t>• Completezi rezultatul si observatiile necesare.</a:t>
            </a:r>
          </a:p>
          <a:p xmlns:a="http://schemas.openxmlformats.org/drawingml/2006/main">
            <a:pPr>
              <a:defRPr sz="1125">
                <a:solidFill>
                  <a:srgbClr val="314158"/>
                </a:solidFill>
              </a:defRPr>
            </a:pPr>
            <a:r>
              <a:rPr sz="1125">
                <a:solidFill>
                  <a:srgbClr val="314158"/>
                </a:solidFill>
              </a:rPr>
              <a:t>• Continui spre minuta structurata sau actul derivat.</a:t>
            </a:r>
          </a:p>
        </p:txBody>
      </p:sp>
      <p:sp>
        <p:nvSpPr>
          <p:cNvPr id="9" name="">
            <a:extLst xmlns:a="http://schemas.openxmlformats.org/drawingml/2006/main">
              <a:ext uri="{FF2B5EF4-FFF2-40B4-BE49-F238E27FC236}">
                <a16:creationId xmlns:a16="http://schemas.microsoft.com/office/drawing/2014/main" id="{D05EDD3C-883B-4119-9570-96FA97E8768B}"/>
              </a:ext>
            </a:extLst>
          </p:cNvPr>
          <p:cNvSpPr>
            <a:spLocks xmlns:a="http://schemas.openxmlformats.org/drawingml/2006/main" noGrp="1"/>
          </p:cNvSpPr>
          <p:nvPr/>
        </p:nvSpPr>
        <p:spPr>
          <a:xfrm xmlns:a="http://schemas.openxmlformats.org/drawingml/2006/main">
            <a:off x="514350" y="4381500"/>
            <a:ext cx="4095750" cy="11430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EDC56AF1-3132-4415-AB69-7615CFA30662}"/>
              </a:ext>
            </a:extLst>
          </p:cNvPr>
          <p:cNvSpPr>
            <a:spLocks xmlns:a="http://schemas.openxmlformats.org/drawingml/2006/main" noGrp="1"/>
          </p:cNvSpPr>
          <p:nvPr/>
        </p:nvSpPr>
        <p:spPr>
          <a:xfrm xmlns:a="http://schemas.openxmlformats.org/drawingml/2006/main">
            <a:off x="666750" y="451485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Cum se foloseste ecranul</a:t>
            </a:r>
          </a:p>
        </p:txBody>
      </p:sp>
      <p:sp>
        <p:nvSpPr>
          <p:cNvPr id="11" name="">
            <a:extLst xmlns:a="http://schemas.openxmlformats.org/drawingml/2006/main">
              <a:ext uri="{FF2B5EF4-FFF2-40B4-BE49-F238E27FC236}">
                <a16:creationId xmlns:a16="http://schemas.microsoft.com/office/drawing/2014/main" id="{AADF7504-FC02-45A4-AEAA-87912418D48D}"/>
              </a:ext>
            </a:extLst>
          </p:cNvPr>
          <p:cNvSpPr>
            <a:spLocks xmlns:a="http://schemas.openxmlformats.org/drawingml/2006/main" noGrp="1"/>
          </p:cNvSpPr>
          <p:nvPr/>
        </p:nvSpPr>
        <p:spPr>
          <a:xfrm xmlns:a="http://schemas.openxmlformats.org/drawingml/2006/main">
            <a:off x="666750" y="4876800"/>
            <a:ext cx="3790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Utilizatorul porneste din acest ecran, completeaza informatiile necesare si verifica sumarul inainte de a salva sau de a trimite fluxul mai departe. La final, rezultatul votului este inregistrat unitar si poate fi probat ulterior.</a:t>
            </a:r>
          </a:p>
        </p:txBody>
      </p:sp>
      <p:sp>
        <p:nvSpPr>
          <p:cNvPr id="12" name="">
            <a:extLst xmlns:a="http://schemas.openxmlformats.org/drawingml/2006/main">
              <a:ext uri="{FF2B5EF4-FFF2-40B4-BE49-F238E27FC236}">
                <a16:creationId xmlns:a16="http://schemas.microsoft.com/office/drawing/2014/main" id="{DAC97930-B99F-43AF-AE69-887BFCC8D939}"/>
              </a:ext>
            </a:extLst>
          </p:cNvPr>
          <p:cNvSpPr>
            <a:spLocks xmlns:a="http://schemas.openxmlformats.org/drawingml/2006/main" noGrp="1"/>
          </p:cNvSpPr>
          <p:nvPr/>
        </p:nvSpPr>
        <p:spPr>
          <a:xfrm xmlns:a="http://schemas.openxmlformats.org/drawingml/2006/main">
            <a:off x="514350" y="5657850"/>
            <a:ext cx="409575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25CA0882-7E81-4265-80E2-974EBD450527}"/>
              </a:ext>
            </a:extLst>
          </p:cNvPr>
          <p:cNvSpPr>
            <a:spLocks xmlns:a="http://schemas.openxmlformats.org/drawingml/2006/main" noGrp="1"/>
          </p:cNvSpPr>
          <p:nvPr/>
        </p:nvSpPr>
        <p:spPr>
          <a:xfrm xmlns:a="http://schemas.openxmlformats.org/drawingml/2006/main">
            <a:off x="666750" y="5791200"/>
            <a:ext cx="3790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Rezultat final: Rezultatul votului este inregistrat unitar si poate fi probat ulterior.</a:t>
            </a:r>
          </a:p>
        </p:txBody>
      </p:sp>
      <p:sp>
        <p:nvSpPr>
          <p:cNvPr id="14" name="">
            <a:extLst xmlns:a="http://schemas.openxmlformats.org/drawingml/2006/main">
              <a:ext uri="{FF2B5EF4-FFF2-40B4-BE49-F238E27FC236}">
                <a16:creationId xmlns:a16="http://schemas.microsoft.com/office/drawing/2014/main" id="{5B5BD813-4E3D-436E-8D32-9230445CBDB4}"/>
              </a:ext>
            </a:extLst>
          </p:cNvPr>
          <p:cNvSpPr>
            <a:spLocks xmlns:a="http://schemas.openxmlformats.org/drawingml/2006/main" noGrp="1"/>
          </p:cNvSpPr>
          <p:nvPr/>
        </p:nvSpPr>
        <p:spPr>
          <a:xfrm xmlns:a="http://schemas.openxmlformats.org/drawingml/2006/main">
            <a:off x="4895850" y="1981200"/>
            <a:ext cx="6610350" cy="37338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e15660438941402f"/>
          <a:stretch xmlns:a="http://schemas.openxmlformats.org/drawingml/2006/main"/>
        </p:blipFill>
        <p:spPr>
          <a:xfrm xmlns:a="http://schemas.openxmlformats.org/drawingml/2006/main">
            <a:off x="5085292" y="2095500"/>
            <a:ext cx="6231467" cy="3505200"/>
          </a:xfrm>
          <a:prstGeom xmlns:a="http://schemas.openxmlformats.org/drawingml/2006/main" prst="roundRect">
            <a:avLst>
              <a:gd name="adj" fmla="val 3261"/>
            </a:avLst>
          </a:prstGeom>
        </p:spPr>
      </p:pic>
      <p:sp>
        <p:nvSpPr>
          <p:cNvPr id="16" name="">
            <a:extLst xmlns:a="http://schemas.openxmlformats.org/drawingml/2006/main">
              <a:ext uri="{FF2B5EF4-FFF2-40B4-BE49-F238E27FC236}">
                <a16:creationId xmlns:a16="http://schemas.microsoft.com/office/drawing/2014/main" id="{F7256BC6-D7A5-4080-B61E-7994BF76A2E5}"/>
              </a:ext>
            </a:extLst>
          </p:cNvPr>
          <p:cNvSpPr>
            <a:spLocks xmlns:a="http://schemas.openxmlformats.org/drawingml/2006/main" noGrp="1"/>
          </p:cNvSpPr>
          <p:nvPr/>
        </p:nvSpPr>
        <p:spPr>
          <a:xfrm xmlns:a="http://schemas.openxmlformats.org/drawingml/2006/main">
            <a:off x="4895850" y="5772150"/>
            <a:ext cx="6610350" cy="476250"/>
          </a:xfrm>
          <a:prstGeom xmlns:a="http://schemas.openxmlformats.org/drawingml/2006/main" prst="roundRect">
            <a:avLst>
              <a:gd name="adj" fmla="val 32000"/>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45B75BF4-6409-4232-AF30-3DA25D0C6918}"/>
              </a:ext>
            </a:extLst>
          </p:cNvPr>
          <p:cNvSpPr>
            <a:spLocks xmlns:a="http://schemas.openxmlformats.org/drawingml/2006/main" noGrp="1"/>
          </p:cNvSpPr>
          <p:nvPr/>
        </p:nvSpPr>
        <p:spPr>
          <a:xfrm xmlns:a="http://schemas.openxmlformats.org/drawingml/2006/main">
            <a:off x="5048250" y="5905500"/>
            <a:ext cx="6305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Ce observi in captura: Captura prezinta ecranul real folosit de utilizator in wizard vot si rezultat, cu zonele de lista, filtrare, completare si actiune vizibile exact asa cum apar in aplicatie.</a:t>
            </a:r>
          </a:p>
        </p:txBody>
      </p:sp>
      <p:sp>
        <p:nvSpPr>
          <p:cNvPr id="18" name="">
            <a:extLst xmlns:a="http://schemas.openxmlformats.org/drawingml/2006/main">
              <a:ext uri="{FF2B5EF4-FFF2-40B4-BE49-F238E27FC236}">
                <a16:creationId xmlns:a16="http://schemas.microsoft.com/office/drawing/2014/main" id="{EB83CF51-8D71-4072-9EB8-9EDA94C1B468}"/>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9" name="">
            <a:extLst xmlns:a="http://schemas.openxmlformats.org/drawingml/2006/main">
              <a:ext uri="{FF2B5EF4-FFF2-40B4-BE49-F238E27FC236}">
                <a16:creationId xmlns:a16="http://schemas.microsoft.com/office/drawing/2014/main" id="{67F75F85-F5AF-40FE-8F5C-B0339DD044C8}"/>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Guvernanta - vot si rezultat</a:t>
            </a:r>
          </a:p>
        </p:txBody>
      </p:sp>
    </p:spTree>
    <p:extLst>
      <p:ext uri="{BB962C8B-B14F-4D97-AF65-F5344CB8AC3E}">
        <p14:creationId xmlns:p14="http://schemas.microsoft.com/office/powerpoint/2010/main" val="123574877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5DD6787-4571-415B-8CA0-B2E45354889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9A37905F-29D3-4C41-B479-E311E3AE22C0}"/>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Acte formale</a:t>
            </a:r>
          </a:p>
        </p:txBody>
      </p:sp>
      <p:sp>
        <p:nvSpPr>
          <p:cNvPr id="3" name="">
            <a:extLst xmlns:a="http://schemas.openxmlformats.org/drawingml/2006/main">
              <a:ext uri="{FF2B5EF4-FFF2-40B4-BE49-F238E27FC236}">
                <a16:creationId xmlns:a16="http://schemas.microsoft.com/office/drawing/2014/main" id="{4F83C18B-ED46-40BC-8B8C-5E85846CA5C1}"/>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Wizard hotarare si aviz</a:t>
            </a:r>
          </a:p>
        </p:txBody>
      </p:sp>
      <p:sp>
        <p:nvSpPr>
          <p:cNvPr id="4" name="">
            <a:extLst xmlns:a="http://schemas.openxmlformats.org/drawingml/2006/main">
              <a:ext uri="{FF2B5EF4-FFF2-40B4-BE49-F238E27FC236}">
                <a16:creationId xmlns:a16="http://schemas.microsoft.com/office/drawing/2014/main" id="{40FB05D0-B718-48B6-A00B-D85BAB60FE23}"/>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26</a:t>
            </a:r>
          </a:p>
        </p:txBody>
      </p:sp>
      <p:sp>
        <p:nvSpPr>
          <p:cNvPr id="5" name="">
            <a:extLst xmlns:a="http://schemas.openxmlformats.org/drawingml/2006/main">
              <a:ext uri="{FF2B5EF4-FFF2-40B4-BE49-F238E27FC236}">
                <a16:creationId xmlns:a16="http://schemas.microsoft.com/office/drawing/2014/main" id="{1B8EFAD1-D93C-421C-A81A-E30180ACCE7C}"/>
              </a:ext>
            </a:extLst>
          </p:cNvPr>
          <p:cNvSpPr>
            <a:spLocks xmlns:a="http://schemas.openxmlformats.org/drawingml/2006/main" noGrp="1"/>
          </p:cNvSpPr>
          <p:nvPr/>
        </p:nvSpPr>
        <p:spPr>
          <a:xfrm xmlns:a="http://schemas.openxmlformats.org/drawingml/2006/main">
            <a:off x="514350" y="114300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Hotararile si avizele se creeaza ghidat, cu accent pe publicare, anonimizare si trasabilitate institutionala.</a:t>
            </a:r>
          </a:p>
        </p:txBody>
      </p:sp>
      <p:sp>
        <p:nvSpPr>
          <p:cNvPr id="6" name="">
            <a:extLst xmlns:a="http://schemas.openxmlformats.org/drawingml/2006/main">
              <a:ext uri="{FF2B5EF4-FFF2-40B4-BE49-F238E27FC236}">
                <a16:creationId xmlns:a16="http://schemas.microsoft.com/office/drawing/2014/main" id="{0A2A2382-835A-450B-8AF6-2E099A74D712}"/>
              </a:ext>
            </a:extLst>
          </p:cNvPr>
          <p:cNvSpPr>
            <a:spLocks xmlns:a="http://schemas.openxmlformats.org/drawingml/2006/main" noGrp="1"/>
          </p:cNvSpPr>
          <p:nvPr/>
        </p:nvSpPr>
        <p:spPr>
          <a:xfrm xmlns:a="http://schemas.openxmlformats.org/drawingml/2006/main">
            <a:off x="514350" y="1981200"/>
            <a:ext cx="4095750" cy="224790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66F49310-2C00-4B55-8200-84C2F0B1AFC1}"/>
              </a:ext>
            </a:extLst>
          </p:cNvPr>
          <p:cNvSpPr>
            <a:spLocks xmlns:a="http://schemas.openxmlformats.org/drawingml/2006/main" noGrp="1"/>
          </p:cNvSpPr>
          <p:nvPr/>
        </p:nvSpPr>
        <p:spPr>
          <a:xfrm xmlns:a="http://schemas.openxmlformats.org/drawingml/2006/main">
            <a:off x="666750" y="21145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Ce face utilizatorul</a:t>
            </a:r>
          </a:p>
        </p:txBody>
      </p:sp>
      <p:sp>
        <p:nvSpPr>
          <p:cNvPr id="8" name="">
            <a:extLst xmlns:a="http://schemas.openxmlformats.org/drawingml/2006/main">
              <a:ext uri="{FF2B5EF4-FFF2-40B4-BE49-F238E27FC236}">
                <a16:creationId xmlns:a16="http://schemas.microsoft.com/office/drawing/2014/main" id="{08F5D0B3-B87D-4E71-A6E2-E21F080824A5}"/>
              </a:ext>
            </a:extLst>
          </p:cNvPr>
          <p:cNvSpPr>
            <a:spLocks xmlns:a="http://schemas.openxmlformats.org/drawingml/2006/main" noGrp="1"/>
          </p:cNvSpPr>
          <p:nvPr/>
        </p:nvSpPr>
        <p:spPr>
          <a:xfrm xmlns:a="http://schemas.openxmlformats.org/drawingml/2006/main">
            <a:off x="666750" y="2476500"/>
            <a:ext cx="37909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Pornesti de la sedinta sau de la rezultatul votului.</a:t>
            </a:r>
          </a:p>
          <a:p xmlns:a="http://schemas.openxmlformats.org/drawingml/2006/main">
            <a:pPr>
              <a:defRPr sz="1125">
                <a:solidFill>
                  <a:srgbClr val="314158"/>
                </a:solidFill>
              </a:defRPr>
            </a:pPr>
            <a:r>
              <a:rPr sz="1125">
                <a:solidFill>
                  <a:srgbClr val="314158"/>
                </a:solidFill>
              </a:rPr>
              <a:t>• Completezi titlul, continutul si datele de publicare.</a:t>
            </a:r>
          </a:p>
          <a:p xmlns:a="http://schemas.openxmlformats.org/drawingml/2006/main">
            <a:pPr>
              <a:defRPr sz="1125">
                <a:solidFill>
                  <a:srgbClr val="314158"/>
                </a:solidFill>
              </a:defRPr>
            </a:pPr>
            <a:r>
              <a:rPr sz="1125">
                <a:solidFill>
                  <a:srgbClr val="314158"/>
                </a:solidFill>
              </a:rPr>
              <a:t>• Stabilesti circuitul de publicare si controlul anonimizarii.</a:t>
            </a:r>
          </a:p>
        </p:txBody>
      </p:sp>
      <p:sp>
        <p:nvSpPr>
          <p:cNvPr id="9" name="">
            <a:extLst xmlns:a="http://schemas.openxmlformats.org/drawingml/2006/main">
              <a:ext uri="{FF2B5EF4-FFF2-40B4-BE49-F238E27FC236}">
                <a16:creationId xmlns:a16="http://schemas.microsoft.com/office/drawing/2014/main" id="{FA8993C7-4A35-4CEE-854B-7F4D50D18D40}"/>
              </a:ext>
            </a:extLst>
          </p:cNvPr>
          <p:cNvSpPr>
            <a:spLocks xmlns:a="http://schemas.openxmlformats.org/drawingml/2006/main" noGrp="1"/>
          </p:cNvSpPr>
          <p:nvPr/>
        </p:nvSpPr>
        <p:spPr>
          <a:xfrm xmlns:a="http://schemas.openxmlformats.org/drawingml/2006/main">
            <a:off x="514350" y="4381500"/>
            <a:ext cx="4095750" cy="11430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695C1528-31C8-4244-8734-20C22317ED4B}"/>
              </a:ext>
            </a:extLst>
          </p:cNvPr>
          <p:cNvSpPr>
            <a:spLocks xmlns:a="http://schemas.openxmlformats.org/drawingml/2006/main" noGrp="1"/>
          </p:cNvSpPr>
          <p:nvPr/>
        </p:nvSpPr>
        <p:spPr>
          <a:xfrm xmlns:a="http://schemas.openxmlformats.org/drawingml/2006/main">
            <a:off x="666750" y="451485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Cum se foloseste ecranul</a:t>
            </a:r>
          </a:p>
        </p:txBody>
      </p:sp>
      <p:sp>
        <p:nvSpPr>
          <p:cNvPr id="11" name="">
            <a:extLst xmlns:a="http://schemas.openxmlformats.org/drawingml/2006/main">
              <a:ext uri="{FF2B5EF4-FFF2-40B4-BE49-F238E27FC236}">
                <a16:creationId xmlns:a16="http://schemas.microsoft.com/office/drawing/2014/main" id="{275808CC-A711-4860-87F1-824EE46C4C89}"/>
              </a:ext>
            </a:extLst>
          </p:cNvPr>
          <p:cNvSpPr>
            <a:spLocks xmlns:a="http://schemas.openxmlformats.org/drawingml/2006/main" noGrp="1"/>
          </p:cNvSpPr>
          <p:nvPr/>
        </p:nvSpPr>
        <p:spPr>
          <a:xfrm xmlns:a="http://schemas.openxmlformats.org/drawingml/2006/main">
            <a:off x="666750" y="4876800"/>
            <a:ext cx="3790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Utilizatorul porneste din acest ecran, completeaza informatiile necesare si verifica sumarul inainte de a salva sau de a trimite fluxul mai departe. La final, actul formal este pregatit pentru evidenta, aprobare si comunicare institutionala.</a:t>
            </a:r>
          </a:p>
        </p:txBody>
      </p:sp>
      <p:sp>
        <p:nvSpPr>
          <p:cNvPr id="12" name="">
            <a:extLst xmlns:a="http://schemas.openxmlformats.org/drawingml/2006/main">
              <a:ext uri="{FF2B5EF4-FFF2-40B4-BE49-F238E27FC236}">
                <a16:creationId xmlns:a16="http://schemas.microsoft.com/office/drawing/2014/main" id="{8EE29773-8B3E-4570-948A-5DC0175D1846}"/>
              </a:ext>
            </a:extLst>
          </p:cNvPr>
          <p:cNvSpPr>
            <a:spLocks xmlns:a="http://schemas.openxmlformats.org/drawingml/2006/main" noGrp="1"/>
          </p:cNvSpPr>
          <p:nvPr/>
        </p:nvSpPr>
        <p:spPr>
          <a:xfrm xmlns:a="http://schemas.openxmlformats.org/drawingml/2006/main">
            <a:off x="514350" y="5657850"/>
            <a:ext cx="409575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7D98D0C5-B708-4B9F-B268-EFEB59AA8A7C}"/>
              </a:ext>
            </a:extLst>
          </p:cNvPr>
          <p:cNvSpPr>
            <a:spLocks xmlns:a="http://schemas.openxmlformats.org/drawingml/2006/main" noGrp="1"/>
          </p:cNvSpPr>
          <p:nvPr/>
        </p:nvSpPr>
        <p:spPr>
          <a:xfrm xmlns:a="http://schemas.openxmlformats.org/drawingml/2006/main">
            <a:off x="666750" y="5791200"/>
            <a:ext cx="3790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Rezultat final: Actul formal este pregatit pentru evidenta, aprobare si comunicare institutionala.</a:t>
            </a:r>
          </a:p>
        </p:txBody>
      </p:sp>
      <p:sp>
        <p:nvSpPr>
          <p:cNvPr id="14" name="">
            <a:extLst xmlns:a="http://schemas.openxmlformats.org/drawingml/2006/main">
              <a:ext uri="{FF2B5EF4-FFF2-40B4-BE49-F238E27FC236}">
                <a16:creationId xmlns:a16="http://schemas.microsoft.com/office/drawing/2014/main" id="{9A11F44D-A49D-405F-AE64-6112E0F84C7B}"/>
              </a:ext>
            </a:extLst>
          </p:cNvPr>
          <p:cNvSpPr>
            <a:spLocks xmlns:a="http://schemas.openxmlformats.org/drawingml/2006/main" noGrp="1"/>
          </p:cNvSpPr>
          <p:nvPr/>
        </p:nvSpPr>
        <p:spPr>
          <a:xfrm xmlns:a="http://schemas.openxmlformats.org/drawingml/2006/main">
            <a:off x="4895850" y="1981200"/>
            <a:ext cx="6610350" cy="37338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03f3068f715b4778"/>
          <a:stretch xmlns:a="http://schemas.openxmlformats.org/drawingml/2006/main"/>
        </p:blipFill>
        <p:spPr>
          <a:xfrm xmlns:a="http://schemas.openxmlformats.org/drawingml/2006/main">
            <a:off x="5085292" y="2095500"/>
            <a:ext cx="6231467" cy="3505200"/>
          </a:xfrm>
          <a:prstGeom xmlns:a="http://schemas.openxmlformats.org/drawingml/2006/main" prst="roundRect">
            <a:avLst>
              <a:gd name="adj" fmla="val 3261"/>
            </a:avLst>
          </a:prstGeom>
        </p:spPr>
      </p:pic>
      <p:sp>
        <p:nvSpPr>
          <p:cNvPr id="16" name="">
            <a:extLst xmlns:a="http://schemas.openxmlformats.org/drawingml/2006/main">
              <a:ext uri="{FF2B5EF4-FFF2-40B4-BE49-F238E27FC236}">
                <a16:creationId xmlns:a16="http://schemas.microsoft.com/office/drawing/2014/main" id="{B750C468-F64E-434E-B7EB-0BB263BBFC33}"/>
              </a:ext>
            </a:extLst>
          </p:cNvPr>
          <p:cNvSpPr>
            <a:spLocks xmlns:a="http://schemas.openxmlformats.org/drawingml/2006/main" noGrp="1"/>
          </p:cNvSpPr>
          <p:nvPr/>
        </p:nvSpPr>
        <p:spPr>
          <a:xfrm xmlns:a="http://schemas.openxmlformats.org/drawingml/2006/main">
            <a:off x="4895850" y="5772150"/>
            <a:ext cx="6610350" cy="476250"/>
          </a:xfrm>
          <a:prstGeom xmlns:a="http://schemas.openxmlformats.org/drawingml/2006/main" prst="roundRect">
            <a:avLst>
              <a:gd name="adj" fmla="val 32000"/>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C68111C8-EA4E-4488-9512-E31B1A420B83}"/>
              </a:ext>
            </a:extLst>
          </p:cNvPr>
          <p:cNvSpPr>
            <a:spLocks xmlns:a="http://schemas.openxmlformats.org/drawingml/2006/main" noGrp="1"/>
          </p:cNvSpPr>
          <p:nvPr/>
        </p:nvSpPr>
        <p:spPr>
          <a:xfrm xmlns:a="http://schemas.openxmlformats.org/drawingml/2006/main">
            <a:off x="5048250" y="5905500"/>
            <a:ext cx="6305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Ce observi in captura: Captura prezinta ecranul real folosit de utilizator in wizard hotarare si aviz, cu zonele de lista, filtrare, completare si actiune vizibile exact asa cum apar in aplicatie.</a:t>
            </a:r>
          </a:p>
        </p:txBody>
      </p:sp>
      <p:sp>
        <p:nvSpPr>
          <p:cNvPr id="18" name="">
            <a:extLst xmlns:a="http://schemas.openxmlformats.org/drawingml/2006/main">
              <a:ext uri="{FF2B5EF4-FFF2-40B4-BE49-F238E27FC236}">
                <a16:creationId xmlns:a16="http://schemas.microsoft.com/office/drawing/2014/main" id="{34D5F1CF-BCFB-49C3-AA60-BC3FFF9FBA7F}"/>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9" name="">
            <a:extLst xmlns:a="http://schemas.openxmlformats.org/drawingml/2006/main">
              <a:ext uri="{FF2B5EF4-FFF2-40B4-BE49-F238E27FC236}">
                <a16:creationId xmlns:a16="http://schemas.microsoft.com/office/drawing/2014/main" id="{949CA12B-369E-4C50-81C7-ADB1C9484317}"/>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Guvernanta - hotarare si aviz</a:t>
            </a:r>
          </a:p>
        </p:txBody>
      </p:sp>
    </p:spTree>
    <p:extLst>
      <p:ext uri="{BB962C8B-B14F-4D97-AF65-F5344CB8AC3E}">
        <p14:creationId xmlns:p14="http://schemas.microsoft.com/office/powerpoint/2010/main" val="63536046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7462BE4-3E39-484B-B96F-4E533C4BD23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D7956AAE-9098-4943-A356-B076EC751018}"/>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Portofoliu managerial</a:t>
            </a:r>
          </a:p>
        </p:txBody>
      </p:sp>
      <p:sp>
        <p:nvSpPr>
          <p:cNvPr id="3" name="">
            <a:extLst xmlns:a="http://schemas.openxmlformats.org/drawingml/2006/main">
              <a:ext uri="{FF2B5EF4-FFF2-40B4-BE49-F238E27FC236}">
                <a16:creationId xmlns:a16="http://schemas.microsoft.com/office/drawing/2014/main" id="{41B6F387-4C8C-43B0-AC97-C3E088F2F624}"/>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Wizard dosar managerial</a:t>
            </a:r>
          </a:p>
        </p:txBody>
      </p:sp>
      <p:sp>
        <p:nvSpPr>
          <p:cNvPr id="4" name="">
            <a:extLst xmlns:a="http://schemas.openxmlformats.org/drawingml/2006/main">
              <a:ext uri="{FF2B5EF4-FFF2-40B4-BE49-F238E27FC236}">
                <a16:creationId xmlns:a16="http://schemas.microsoft.com/office/drawing/2014/main" id="{DF24D965-6352-4134-971A-F43D769F3ACC}"/>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27</a:t>
            </a:r>
          </a:p>
        </p:txBody>
      </p:sp>
      <p:sp>
        <p:nvSpPr>
          <p:cNvPr id="5" name="">
            <a:extLst xmlns:a="http://schemas.openxmlformats.org/drawingml/2006/main">
              <a:ext uri="{FF2B5EF4-FFF2-40B4-BE49-F238E27FC236}">
                <a16:creationId xmlns:a16="http://schemas.microsoft.com/office/drawing/2014/main" id="{D9D44844-4ACC-4F02-8030-FDAD09D2E2B2}"/>
              </a:ext>
            </a:extLst>
          </p:cNvPr>
          <p:cNvSpPr>
            <a:spLocks xmlns:a="http://schemas.openxmlformats.org/drawingml/2006/main" noGrp="1"/>
          </p:cNvSpPr>
          <p:nvPr/>
        </p:nvSpPr>
        <p:spPr>
          <a:xfrm xmlns:a="http://schemas.openxmlformats.org/drawingml/2006/main">
            <a:off x="514350" y="114300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Dosarele manageriale, inclusiv portofoliul directorului sau al adjunctului, sunt create intr-un flux ghidat de elaborare, avizare si publicare.</a:t>
            </a:r>
          </a:p>
        </p:txBody>
      </p:sp>
      <p:sp>
        <p:nvSpPr>
          <p:cNvPr id="6" name="">
            <a:extLst xmlns:a="http://schemas.openxmlformats.org/drawingml/2006/main">
              <a:ext uri="{FF2B5EF4-FFF2-40B4-BE49-F238E27FC236}">
                <a16:creationId xmlns:a16="http://schemas.microsoft.com/office/drawing/2014/main" id="{0EA33DA9-C88A-43C4-A195-B9D58C11AEC3}"/>
              </a:ext>
            </a:extLst>
          </p:cNvPr>
          <p:cNvSpPr>
            <a:spLocks xmlns:a="http://schemas.openxmlformats.org/drawingml/2006/main" noGrp="1"/>
          </p:cNvSpPr>
          <p:nvPr/>
        </p:nvSpPr>
        <p:spPr>
          <a:xfrm xmlns:a="http://schemas.openxmlformats.org/drawingml/2006/main">
            <a:off x="514350" y="1981200"/>
            <a:ext cx="4095750" cy="224790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A6E03F03-71F2-492E-80CE-FC4BADFA71EA}"/>
              </a:ext>
            </a:extLst>
          </p:cNvPr>
          <p:cNvSpPr>
            <a:spLocks xmlns:a="http://schemas.openxmlformats.org/drawingml/2006/main" noGrp="1"/>
          </p:cNvSpPr>
          <p:nvPr/>
        </p:nvSpPr>
        <p:spPr>
          <a:xfrm xmlns:a="http://schemas.openxmlformats.org/drawingml/2006/main">
            <a:off x="666750" y="21145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Ce face utilizatorul</a:t>
            </a:r>
          </a:p>
        </p:txBody>
      </p:sp>
      <p:sp>
        <p:nvSpPr>
          <p:cNvPr id="8" name="">
            <a:extLst xmlns:a="http://schemas.openxmlformats.org/drawingml/2006/main">
              <a:ext uri="{FF2B5EF4-FFF2-40B4-BE49-F238E27FC236}">
                <a16:creationId xmlns:a16="http://schemas.microsoft.com/office/drawing/2014/main" id="{507B4031-BDD0-4ED2-9840-84A5C9025F1C}"/>
              </a:ext>
            </a:extLst>
          </p:cNvPr>
          <p:cNvSpPr>
            <a:spLocks xmlns:a="http://schemas.openxmlformats.org/drawingml/2006/main" noGrp="1"/>
          </p:cNvSpPr>
          <p:nvPr/>
        </p:nvSpPr>
        <p:spPr>
          <a:xfrm xmlns:a="http://schemas.openxmlformats.org/drawingml/2006/main">
            <a:off x="666750" y="2476500"/>
            <a:ext cx="37909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Alegi tipul dosarului si anul scolar.</a:t>
            </a:r>
          </a:p>
          <a:p xmlns:a="http://schemas.openxmlformats.org/drawingml/2006/main">
            <a:pPr>
              <a:defRPr sz="1125">
                <a:solidFill>
                  <a:srgbClr val="314158"/>
                </a:solidFill>
              </a:defRPr>
            </a:pPr>
            <a:r>
              <a:rPr sz="1125">
                <a:solidFill>
                  <a:srgbClr val="314158"/>
                </a:solidFill>
              </a:rPr>
              <a:t>• Completezi documentele si traseul de aprobare.</a:t>
            </a:r>
          </a:p>
          <a:p xmlns:a="http://schemas.openxmlformats.org/drawingml/2006/main">
            <a:pPr>
              <a:defRPr sz="1125">
                <a:solidFill>
                  <a:srgbClr val="314158"/>
                </a:solidFill>
              </a:defRPr>
            </a:pPr>
            <a:r>
              <a:rPr sz="1125">
                <a:solidFill>
                  <a:srgbClr val="314158"/>
                </a:solidFill>
              </a:rPr>
              <a:t>• Pregatesti publicarea si evidenta finala a dosarului.</a:t>
            </a:r>
          </a:p>
        </p:txBody>
      </p:sp>
      <p:sp>
        <p:nvSpPr>
          <p:cNvPr id="9" name="">
            <a:extLst xmlns:a="http://schemas.openxmlformats.org/drawingml/2006/main">
              <a:ext uri="{FF2B5EF4-FFF2-40B4-BE49-F238E27FC236}">
                <a16:creationId xmlns:a16="http://schemas.microsoft.com/office/drawing/2014/main" id="{FE429E0D-9423-470A-9D55-77910FA4F1EF}"/>
              </a:ext>
            </a:extLst>
          </p:cNvPr>
          <p:cNvSpPr>
            <a:spLocks xmlns:a="http://schemas.openxmlformats.org/drawingml/2006/main" noGrp="1"/>
          </p:cNvSpPr>
          <p:nvPr/>
        </p:nvSpPr>
        <p:spPr>
          <a:xfrm xmlns:a="http://schemas.openxmlformats.org/drawingml/2006/main">
            <a:off x="514350" y="4381500"/>
            <a:ext cx="4095750" cy="11430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D3A1C484-33CB-4D9E-8A76-25781193C84D}"/>
              </a:ext>
            </a:extLst>
          </p:cNvPr>
          <p:cNvSpPr>
            <a:spLocks xmlns:a="http://schemas.openxmlformats.org/drawingml/2006/main" noGrp="1"/>
          </p:cNvSpPr>
          <p:nvPr/>
        </p:nvSpPr>
        <p:spPr>
          <a:xfrm xmlns:a="http://schemas.openxmlformats.org/drawingml/2006/main">
            <a:off x="666750" y="451485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Cum se foloseste ecranul</a:t>
            </a:r>
          </a:p>
        </p:txBody>
      </p:sp>
      <p:sp>
        <p:nvSpPr>
          <p:cNvPr id="11" name="">
            <a:extLst xmlns:a="http://schemas.openxmlformats.org/drawingml/2006/main">
              <a:ext uri="{FF2B5EF4-FFF2-40B4-BE49-F238E27FC236}">
                <a16:creationId xmlns:a16="http://schemas.microsoft.com/office/drawing/2014/main" id="{94884404-4B43-46B8-B9FC-198C11CE2314}"/>
              </a:ext>
            </a:extLst>
          </p:cNvPr>
          <p:cNvSpPr>
            <a:spLocks xmlns:a="http://schemas.openxmlformats.org/drawingml/2006/main" noGrp="1"/>
          </p:cNvSpPr>
          <p:nvPr/>
        </p:nvSpPr>
        <p:spPr>
          <a:xfrm xmlns:a="http://schemas.openxmlformats.org/drawingml/2006/main">
            <a:off x="666750" y="4876800"/>
            <a:ext cx="3790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Utilizatorul porneste din acest ecran, completeaza informatiile necesare si verifica sumarul inainte de a salva sau de a trimite fluxul mai departe. La final, documentele manageriale sunt organizate coerent si usor de urmarit pe tot ciclul lor de viata.</a:t>
            </a:r>
          </a:p>
        </p:txBody>
      </p:sp>
      <p:sp>
        <p:nvSpPr>
          <p:cNvPr id="12" name="">
            <a:extLst xmlns:a="http://schemas.openxmlformats.org/drawingml/2006/main">
              <a:ext uri="{FF2B5EF4-FFF2-40B4-BE49-F238E27FC236}">
                <a16:creationId xmlns:a16="http://schemas.microsoft.com/office/drawing/2014/main" id="{3FF5C251-04B0-49CC-BC69-505CF7F8EA55}"/>
              </a:ext>
            </a:extLst>
          </p:cNvPr>
          <p:cNvSpPr>
            <a:spLocks xmlns:a="http://schemas.openxmlformats.org/drawingml/2006/main" noGrp="1"/>
          </p:cNvSpPr>
          <p:nvPr/>
        </p:nvSpPr>
        <p:spPr>
          <a:xfrm xmlns:a="http://schemas.openxmlformats.org/drawingml/2006/main">
            <a:off x="514350" y="5657850"/>
            <a:ext cx="409575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5A587136-853B-4DFF-B4F5-648C159DDD38}"/>
              </a:ext>
            </a:extLst>
          </p:cNvPr>
          <p:cNvSpPr>
            <a:spLocks xmlns:a="http://schemas.openxmlformats.org/drawingml/2006/main" noGrp="1"/>
          </p:cNvSpPr>
          <p:nvPr/>
        </p:nvSpPr>
        <p:spPr>
          <a:xfrm xmlns:a="http://schemas.openxmlformats.org/drawingml/2006/main">
            <a:off x="666750" y="5791200"/>
            <a:ext cx="3790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Rezultat final: Documentele manageriale sunt organizate coerent si usor de urmarit pe tot ciclul lor de viata.</a:t>
            </a:r>
          </a:p>
        </p:txBody>
      </p:sp>
      <p:sp>
        <p:nvSpPr>
          <p:cNvPr id="14" name="">
            <a:extLst xmlns:a="http://schemas.openxmlformats.org/drawingml/2006/main">
              <a:ext uri="{FF2B5EF4-FFF2-40B4-BE49-F238E27FC236}">
                <a16:creationId xmlns:a16="http://schemas.microsoft.com/office/drawing/2014/main" id="{00EF5981-2A7B-45E1-A0FC-623344F0C474}"/>
              </a:ext>
            </a:extLst>
          </p:cNvPr>
          <p:cNvSpPr>
            <a:spLocks xmlns:a="http://schemas.openxmlformats.org/drawingml/2006/main" noGrp="1"/>
          </p:cNvSpPr>
          <p:nvPr/>
        </p:nvSpPr>
        <p:spPr>
          <a:xfrm xmlns:a="http://schemas.openxmlformats.org/drawingml/2006/main">
            <a:off x="4895850" y="1981200"/>
            <a:ext cx="6610350" cy="37338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71e08c29137341fd"/>
          <a:stretch xmlns:a="http://schemas.openxmlformats.org/drawingml/2006/main"/>
        </p:blipFill>
        <p:spPr>
          <a:xfrm xmlns:a="http://schemas.openxmlformats.org/drawingml/2006/main">
            <a:off x="5085292" y="2095500"/>
            <a:ext cx="6231467" cy="3505200"/>
          </a:xfrm>
          <a:prstGeom xmlns:a="http://schemas.openxmlformats.org/drawingml/2006/main" prst="roundRect">
            <a:avLst>
              <a:gd name="adj" fmla="val 3261"/>
            </a:avLst>
          </a:prstGeom>
        </p:spPr>
      </p:pic>
      <p:sp>
        <p:nvSpPr>
          <p:cNvPr id="16" name="">
            <a:extLst xmlns:a="http://schemas.openxmlformats.org/drawingml/2006/main">
              <a:ext uri="{FF2B5EF4-FFF2-40B4-BE49-F238E27FC236}">
                <a16:creationId xmlns:a16="http://schemas.microsoft.com/office/drawing/2014/main" id="{31D56C75-DF8F-4D95-A607-08753ED07618}"/>
              </a:ext>
            </a:extLst>
          </p:cNvPr>
          <p:cNvSpPr>
            <a:spLocks xmlns:a="http://schemas.openxmlformats.org/drawingml/2006/main" noGrp="1"/>
          </p:cNvSpPr>
          <p:nvPr/>
        </p:nvSpPr>
        <p:spPr>
          <a:xfrm xmlns:a="http://schemas.openxmlformats.org/drawingml/2006/main">
            <a:off x="4895850" y="5772150"/>
            <a:ext cx="6610350" cy="476250"/>
          </a:xfrm>
          <a:prstGeom xmlns:a="http://schemas.openxmlformats.org/drawingml/2006/main" prst="roundRect">
            <a:avLst>
              <a:gd name="adj" fmla="val 32000"/>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3C347E7A-6542-46FF-BFC0-7D2E04835DFA}"/>
              </a:ext>
            </a:extLst>
          </p:cNvPr>
          <p:cNvSpPr>
            <a:spLocks xmlns:a="http://schemas.openxmlformats.org/drawingml/2006/main" noGrp="1"/>
          </p:cNvSpPr>
          <p:nvPr/>
        </p:nvSpPr>
        <p:spPr>
          <a:xfrm xmlns:a="http://schemas.openxmlformats.org/drawingml/2006/main">
            <a:off x="5048250" y="5905500"/>
            <a:ext cx="6305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Ce observi in captura: Captura prezinta ecranul real folosit de utilizator in wizard dosar managerial, cu zonele de lista, filtrare, completare si actiune vizibile exact asa cum apar in aplicatie.</a:t>
            </a:r>
          </a:p>
        </p:txBody>
      </p:sp>
      <p:sp>
        <p:nvSpPr>
          <p:cNvPr id="18" name="">
            <a:extLst xmlns:a="http://schemas.openxmlformats.org/drawingml/2006/main">
              <a:ext uri="{FF2B5EF4-FFF2-40B4-BE49-F238E27FC236}">
                <a16:creationId xmlns:a16="http://schemas.microsoft.com/office/drawing/2014/main" id="{3B7EF701-5DED-4F9C-A4D0-FFC57708E822}"/>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9" name="">
            <a:extLst xmlns:a="http://schemas.openxmlformats.org/drawingml/2006/main">
              <a:ext uri="{FF2B5EF4-FFF2-40B4-BE49-F238E27FC236}">
                <a16:creationId xmlns:a16="http://schemas.microsoft.com/office/drawing/2014/main" id="{ED5B0861-5BDC-468A-83BB-4654BFF38E87}"/>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Guvernanta - dosar managerial</a:t>
            </a:r>
          </a:p>
        </p:txBody>
      </p:sp>
    </p:spTree>
    <p:extLst>
      <p:ext uri="{BB962C8B-B14F-4D97-AF65-F5344CB8AC3E}">
        <p14:creationId xmlns:p14="http://schemas.microsoft.com/office/powerpoint/2010/main" val="149871908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F193810-134F-45EC-A34B-6E61CCA05D7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04139961-9458-410A-860E-D2320A6826F6}"/>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CP complet</a:t>
            </a:r>
          </a:p>
        </p:txBody>
      </p:sp>
      <p:sp>
        <p:nvSpPr>
          <p:cNvPr id="3" name="">
            <a:extLst xmlns:a="http://schemas.openxmlformats.org/drawingml/2006/main">
              <a:ext uri="{FF2B5EF4-FFF2-40B4-BE49-F238E27FC236}">
                <a16:creationId xmlns:a16="http://schemas.microsoft.com/office/drawing/2014/main" id="{06EA9363-4B4A-4D59-A68D-8DA3910EC709}"/>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Consiliul profesoral</a:t>
            </a:r>
          </a:p>
        </p:txBody>
      </p:sp>
      <p:sp>
        <p:nvSpPr>
          <p:cNvPr id="4" name="">
            <a:extLst xmlns:a="http://schemas.openxmlformats.org/drawingml/2006/main">
              <a:ext uri="{FF2B5EF4-FFF2-40B4-BE49-F238E27FC236}">
                <a16:creationId xmlns:a16="http://schemas.microsoft.com/office/drawing/2014/main" id="{994336B2-92C6-47FD-84C7-69E6DBAF7917}"/>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28</a:t>
            </a:r>
          </a:p>
        </p:txBody>
      </p:sp>
      <p:sp>
        <p:nvSpPr>
          <p:cNvPr id="5" name="">
            <a:extLst xmlns:a="http://schemas.openxmlformats.org/drawingml/2006/main">
              <a:ext uri="{FF2B5EF4-FFF2-40B4-BE49-F238E27FC236}">
                <a16:creationId xmlns:a16="http://schemas.microsoft.com/office/drawing/2014/main" id="{A7EAE695-12A6-4CD3-BE80-5F5EAFA5E363}"/>
              </a:ext>
            </a:extLst>
          </p:cNvPr>
          <p:cNvSpPr>
            <a:spLocks xmlns:a="http://schemas.openxmlformats.org/drawingml/2006/main" noGrp="1"/>
          </p:cNvSpPr>
          <p:nvPr/>
        </p:nvSpPr>
        <p:spPr>
          <a:xfrm xmlns:a="http://schemas.openxmlformats.org/drawingml/2006/main">
            <a:off x="514350" y="1181100"/>
            <a:ext cx="10858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314158"/>
                </a:solidFill>
              </a:defRPr>
            </a:pPr>
            <a:r>
              <a:rPr sz="1275">
                <a:solidFill>
                  <a:srgbClr val="314158"/>
                </a:solidFill>
              </a:rPr>
              <a:t>In aplicatie, Consiliul profesoral urmeaza aceeasi logica de lucru ca si CA: sedinte, prezenta, puncte de minuta, voturi, hotarari, documente rezultate si urmarirea masurilor.</a:t>
            </a:r>
          </a:p>
        </p:txBody>
      </p:sp>
      <p:sp>
        <p:nvSpPr>
          <p:cNvPr id="6" name="">
            <a:extLst xmlns:a="http://schemas.openxmlformats.org/drawingml/2006/main">
              <a:ext uri="{FF2B5EF4-FFF2-40B4-BE49-F238E27FC236}">
                <a16:creationId xmlns:a16="http://schemas.microsoft.com/office/drawing/2014/main" id="{9AC16B51-A7AB-4675-B7F9-7F8A29FA7B31}"/>
              </a:ext>
            </a:extLst>
          </p:cNvPr>
          <p:cNvSpPr>
            <a:spLocks xmlns:a="http://schemas.openxmlformats.org/drawingml/2006/main" noGrp="1"/>
          </p:cNvSpPr>
          <p:nvPr/>
        </p:nvSpPr>
        <p:spPr>
          <a:xfrm xmlns:a="http://schemas.openxmlformats.org/drawingml/2006/main">
            <a:off x="514350"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695C6320-804E-4328-AFC7-7AE63BB63122}"/>
              </a:ext>
            </a:extLst>
          </p:cNvPr>
          <p:cNvSpPr>
            <a:spLocks xmlns:a="http://schemas.openxmlformats.org/drawingml/2006/main" noGrp="1"/>
          </p:cNvSpPr>
          <p:nvPr/>
        </p:nvSpPr>
        <p:spPr>
          <a:xfrm xmlns:a="http://schemas.openxmlformats.org/drawingml/2006/main">
            <a:off x="666750" y="23431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Pregatire sedinta</a:t>
            </a:r>
          </a:p>
        </p:txBody>
      </p:sp>
      <p:sp>
        <p:nvSpPr>
          <p:cNvPr id="8" name="">
            <a:extLst xmlns:a="http://schemas.openxmlformats.org/drawingml/2006/main">
              <a:ext uri="{FF2B5EF4-FFF2-40B4-BE49-F238E27FC236}">
                <a16:creationId xmlns:a16="http://schemas.microsoft.com/office/drawing/2014/main" id="{C12A4FFC-A0CF-477B-8C96-90FCBE8BAAA9}"/>
              </a:ext>
            </a:extLst>
          </p:cNvPr>
          <p:cNvSpPr>
            <a:spLocks xmlns:a="http://schemas.openxmlformats.org/drawingml/2006/main" noGrp="1"/>
          </p:cNvSpPr>
          <p:nvPr/>
        </p:nvSpPr>
        <p:spPr>
          <a:xfrm xmlns:a="http://schemas.openxmlformats.org/drawingml/2006/main">
            <a:off x="666750"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Se stabilesc data, ordinea de zi, materialele si participantii.</a:t>
            </a:r>
          </a:p>
        </p:txBody>
      </p:sp>
      <p:sp>
        <p:nvSpPr>
          <p:cNvPr id="9" name="">
            <a:extLst xmlns:a="http://schemas.openxmlformats.org/drawingml/2006/main">
              <a:ext uri="{FF2B5EF4-FFF2-40B4-BE49-F238E27FC236}">
                <a16:creationId xmlns:a16="http://schemas.microsoft.com/office/drawing/2014/main" id="{7DCCD00F-559C-40A8-AA5E-E99D7D786673}"/>
              </a:ext>
            </a:extLst>
          </p:cNvPr>
          <p:cNvSpPr>
            <a:spLocks xmlns:a="http://schemas.openxmlformats.org/drawingml/2006/main" noGrp="1"/>
          </p:cNvSpPr>
          <p:nvPr/>
        </p:nvSpPr>
        <p:spPr>
          <a:xfrm xmlns:a="http://schemas.openxmlformats.org/drawingml/2006/main">
            <a:off x="6086475"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539B8FE1-E2D4-4194-BA18-EA8717CFD372}"/>
              </a:ext>
            </a:extLst>
          </p:cNvPr>
          <p:cNvSpPr>
            <a:spLocks xmlns:a="http://schemas.openxmlformats.org/drawingml/2006/main" noGrp="1"/>
          </p:cNvSpPr>
          <p:nvPr/>
        </p:nvSpPr>
        <p:spPr>
          <a:xfrm xmlns:a="http://schemas.openxmlformats.org/drawingml/2006/main">
            <a:off x="6238875" y="234315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Desfasurare</a:t>
            </a:r>
          </a:p>
        </p:txBody>
      </p:sp>
      <p:sp>
        <p:nvSpPr>
          <p:cNvPr id="11" name="">
            <a:extLst xmlns:a="http://schemas.openxmlformats.org/drawingml/2006/main">
              <a:ext uri="{FF2B5EF4-FFF2-40B4-BE49-F238E27FC236}">
                <a16:creationId xmlns:a16="http://schemas.microsoft.com/office/drawing/2014/main" id="{D232939E-35D2-4DDF-A913-BDEE7C4EC51E}"/>
              </a:ext>
            </a:extLst>
          </p:cNvPr>
          <p:cNvSpPr>
            <a:spLocks xmlns:a="http://schemas.openxmlformats.org/drawingml/2006/main" noGrp="1"/>
          </p:cNvSpPr>
          <p:nvPr/>
        </p:nvSpPr>
        <p:spPr>
          <a:xfrm xmlns:a="http://schemas.openxmlformats.org/drawingml/2006/main">
            <a:off x="6238875"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Se consemneaza punctele discutate, voturile si rezultatele.</a:t>
            </a:r>
          </a:p>
        </p:txBody>
      </p:sp>
      <p:sp>
        <p:nvSpPr>
          <p:cNvPr id="12" name="">
            <a:extLst xmlns:a="http://schemas.openxmlformats.org/drawingml/2006/main">
              <a:ext uri="{FF2B5EF4-FFF2-40B4-BE49-F238E27FC236}">
                <a16:creationId xmlns:a16="http://schemas.microsoft.com/office/drawing/2014/main" id="{786A7E3E-E814-4CE4-9826-DE6283783B8B}"/>
              </a:ext>
            </a:extLst>
          </p:cNvPr>
          <p:cNvSpPr>
            <a:spLocks xmlns:a="http://schemas.openxmlformats.org/drawingml/2006/main" noGrp="1"/>
          </p:cNvSpPr>
          <p:nvPr/>
        </p:nvSpPr>
        <p:spPr>
          <a:xfrm xmlns:a="http://schemas.openxmlformats.org/drawingml/2006/main">
            <a:off x="514350" y="401955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2F3A5BA7-E516-42BC-AF1A-11948FE9008A}"/>
              </a:ext>
            </a:extLst>
          </p:cNvPr>
          <p:cNvSpPr>
            <a:spLocks xmlns:a="http://schemas.openxmlformats.org/drawingml/2006/main" noGrp="1"/>
          </p:cNvSpPr>
          <p:nvPr/>
        </p:nvSpPr>
        <p:spPr>
          <a:xfrm xmlns:a="http://schemas.openxmlformats.org/drawingml/2006/main">
            <a:off x="666750" y="415290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Documente finale</a:t>
            </a:r>
          </a:p>
        </p:txBody>
      </p:sp>
      <p:sp>
        <p:nvSpPr>
          <p:cNvPr id="14" name="">
            <a:extLst xmlns:a="http://schemas.openxmlformats.org/drawingml/2006/main">
              <a:ext uri="{FF2B5EF4-FFF2-40B4-BE49-F238E27FC236}">
                <a16:creationId xmlns:a16="http://schemas.microsoft.com/office/drawing/2014/main" id="{5BD2694C-FAA0-4F55-AA28-0998624F740E}"/>
              </a:ext>
            </a:extLst>
          </p:cNvPr>
          <p:cNvSpPr>
            <a:spLocks xmlns:a="http://schemas.openxmlformats.org/drawingml/2006/main" noGrp="1"/>
          </p:cNvSpPr>
          <p:nvPr/>
        </p:nvSpPr>
        <p:spPr>
          <a:xfrm xmlns:a="http://schemas.openxmlformats.org/drawingml/2006/main">
            <a:off x="666750" y="451485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Se emit procesul-verbal, hotararile sau avizele si se pastreaza trasabilitatea.</a:t>
            </a:r>
          </a:p>
        </p:txBody>
      </p:sp>
      <p:sp>
        <p:nvSpPr>
          <p:cNvPr id="15" name="">
            <a:extLst xmlns:a="http://schemas.openxmlformats.org/drawingml/2006/main">
              <a:ext uri="{FF2B5EF4-FFF2-40B4-BE49-F238E27FC236}">
                <a16:creationId xmlns:a16="http://schemas.microsoft.com/office/drawing/2014/main" id="{7C2C350B-4D1A-4883-AC24-8FCC74337D31}"/>
              </a:ext>
            </a:extLst>
          </p:cNvPr>
          <p:cNvSpPr>
            <a:spLocks xmlns:a="http://schemas.openxmlformats.org/drawingml/2006/main" noGrp="1"/>
          </p:cNvSpPr>
          <p:nvPr/>
        </p:nvSpPr>
        <p:spPr>
          <a:xfrm xmlns:a="http://schemas.openxmlformats.org/drawingml/2006/main">
            <a:off x="514350" y="5676900"/>
            <a:ext cx="1085850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4AE9C60D-69CB-4E4D-97D4-A5A82E1894B6}"/>
              </a:ext>
            </a:extLst>
          </p:cNvPr>
          <p:cNvSpPr>
            <a:spLocks xmlns:a="http://schemas.openxmlformats.org/drawingml/2006/main" noGrp="1"/>
          </p:cNvSpPr>
          <p:nvPr/>
        </p:nvSpPr>
        <p:spPr>
          <a:xfrm xmlns:a="http://schemas.openxmlformats.org/drawingml/2006/main">
            <a:off x="666750" y="5810250"/>
            <a:ext cx="1055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se foloseste in practica: In aplicatie, Consiliul profesoral urmeaza aceeasi logica de lucru ca si CA: sedinte, prezenta, puncte de minuta, voturi, hotarari, documente rezultate si urmarirea masurilor. Pregatire sedinta: Se stabilesc data, ordinea de zi, materialele si participantii. Desfasurare: Se consemneaza punctele discutate, voturile si rezultatele. Documente finale: Se emit procesul-verbal, hotararile sau avizele si se pastreaza trasabilitatea.</a:t>
            </a:r>
          </a:p>
        </p:txBody>
      </p:sp>
      <p:sp>
        <p:nvSpPr>
          <p:cNvPr id="17" name="">
            <a:extLst xmlns:a="http://schemas.openxmlformats.org/drawingml/2006/main">
              <a:ext uri="{FF2B5EF4-FFF2-40B4-BE49-F238E27FC236}">
                <a16:creationId xmlns:a16="http://schemas.microsoft.com/office/drawing/2014/main" id="{7D450EAF-B111-40B0-93D0-18593953F8FA}"/>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8" name="">
            <a:extLst xmlns:a="http://schemas.openxmlformats.org/drawingml/2006/main">
              <a:ext uri="{FF2B5EF4-FFF2-40B4-BE49-F238E27FC236}">
                <a16:creationId xmlns:a16="http://schemas.microsoft.com/office/drawing/2014/main" id="{CAF29CEE-A280-430D-B985-09E5EE1BFD93}"/>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Guvernanta - CP</a:t>
            </a:r>
          </a:p>
        </p:txBody>
      </p:sp>
    </p:spTree>
    <p:extLst>
      <p:ext uri="{BB962C8B-B14F-4D97-AF65-F5344CB8AC3E}">
        <p14:creationId xmlns:p14="http://schemas.microsoft.com/office/powerpoint/2010/main" val="16740119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DE52562-F426-4F50-97A6-2689098A003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D1416912-8778-419D-9EC3-8D5B5EF9E9A8}"/>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Structuri de lucru</a:t>
            </a:r>
          </a:p>
        </p:txBody>
      </p:sp>
      <p:sp>
        <p:nvSpPr>
          <p:cNvPr id="3" name="">
            <a:extLst xmlns:a="http://schemas.openxmlformats.org/drawingml/2006/main">
              <a:ext uri="{FF2B5EF4-FFF2-40B4-BE49-F238E27FC236}">
                <a16:creationId xmlns:a16="http://schemas.microsoft.com/office/drawing/2014/main" id="{67B3CBCF-2ABB-4C3C-AD7F-2334B05CB891}"/>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Comisii si comisia de evaluare</a:t>
            </a:r>
          </a:p>
        </p:txBody>
      </p:sp>
      <p:sp>
        <p:nvSpPr>
          <p:cNvPr id="4" name="">
            <a:extLst xmlns:a="http://schemas.openxmlformats.org/drawingml/2006/main">
              <a:ext uri="{FF2B5EF4-FFF2-40B4-BE49-F238E27FC236}">
                <a16:creationId xmlns:a16="http://schemas.microsoft.com/office/drawing/2014/main" id="{374EA84D-C6C5-49E1-AC35-10B0B8506DE1}"/>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29</a:t>
            </a:r>
          </a:p>
        </p:txBody>
      </p:sp>
      <p:sp>
        <p:nvSpPr>
          <p:cNvPr id="5" name="">
            <a:extLst xmlns:a="http://schemas.openxmlformats.org/drawingml/2006/main">
              <a:ext uri="{FF2B5EF4-FFF2-40B4-BE49-F238E27FC236}">
                <a16:creationId xmlns:a16="http://schemas.microsoft.com/office/drawing/2014/main" id="{D40B64EA-8B8C-474C-869B-9F8C32CCDE6D}"/>
              </a:ext>
            </a:extLst>
          </p:cNvPr>
          <p:cNvSpPr>
            <a:spLocks xmlns:a="http://schemas.openxmlformats.org/drawingml/2006/main" noGrp="1"/>
          </p:cNvSpPr>
          <p:nvPr/>
        </p:nvSpPr>
        <p:spPr>
          <a:xfrm xmlns:a="http://schemas.openxmlformats.org/drawingml/2006/main">
            <a:off x="514350" y="1181100"/>
            <a:ext cx="10858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314158"/>
                </a:solidFill>
              </a:defRPr>
            </a:pPr>
            <a:r>
              <a:rPr sz="1275">
                <a:solidFill>
                  <a:srgbClr val="314158"/>
                </a:solidFill>
              </a:rPr>
              <a:t>Comisiile sunt tratate ca structuri operationale cu componenta, mandat, activitati si rezultate. Aceeasi logica se aplica si comisiei de evaluare.</a:t>
            </a:r>
          </a:p>
        </p:txBody>
      </p:sp>
      <p:sp>
        <p:nvSpPr>
          <p:cNvPr id="6" name="">
            <a:extLst xmlns:a="http://schemas.openxmlformats.org/drawingml/2006/main">
              <a:ext uri="{FF2B5EF4-FFF2-40B4-BE49-F238E27FC236}">
                <a16:creationId xmlns:a16="http://schemas.microsoft.com/office/drawing/2014/main" id="{6DB93DDF-D452-417D-8F80-97811E86DCC4}"/>
              </a:ext>
            </a:extLst>
          </p:cNvPr>
          <p:cNvSpPr>
            <a:spLocks xmlns:a="http://schemas.openxmlformats.org/drawingml/2006/main" noGrp="1"/>
          </p:cNvSpPr>
          <p:nvPr/>
        </p:nvSpPr>
        <p:spPr>
          <a:xfrm xmlns:a="http://schemas.openxmlformats.org/drawingml/2006/main">
            <a:off x="514350"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0D7F9ACF-E132-4D1B-B5F8-062433FF8499}"/>
              </a:ext>
            </a:extLst>
          </p:cNvPr>
          <p:cNvSpPr>
            <a:spLocks xmlns:a="http://schemas.openxmlformats.org/drawingml/2006/main" noGrp="1"/>
          </p:cNvSpPr>
          <p:nvPr/>
        </p:nvSpPr>
        <p:spPr>
          <a:xfrm xmlns:a="http://schemas.openxmlformats.org/drawingml/2006/main">
            <a:off x="666750" y="23431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Componenta</a:t>
            </a:r>
          </a:p>
        </p:txBody>
      </p:sp>
      <p:sp>
        <p:nvSpPr>
          <p:cNvPr id="8" name="">
            <a:extLst xmlns:a="http://schemas.openxmlformats.org/drawingml/2006/main">
              <a:ext uri="{FF2B5EF4-FFF2-40B4-BE49-F238E27FC236}">
                <a16:creationId xmlns:a16="http://schemas.microsoft.com/office/drawing/2014/main" id="{036A79A5-CD9B-4FCB-B671-696232DEBD01}"/>
              </a:ext>
            </a:extLst>
          </p:cNvPr>
          <p:cNvSpPr>
            <a:spLocks xmlns:a="http://schemas.openxmlformats.org/drawingml/2006/main" noGrp="1"/>
          </p:cNvSpPr>
          <p:nvPr/>
        </p:nvSpPr>
        <p:spPr>
          <a:xfrm xmlns:a="http://schemas.openxmlformats.org/drawingml/2006/main">
            <a:off x="666750"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Se inregistreaza membrii, rolurile si perioada mandatului.</a:t>
            </a:r>
          </a:p>
        </p:txBody>
      </p:sp>
      <p:sp>
        <p:nvSpPr>
          <p:cNvPr id="9" name="">
            <a:extLst xmlns:a="http://schemas.openxmlformats.org/drawingml/2006/main">
              <a:ext uri="{FF2B5EF4-FFF2-40B4-BE49-F238E27FC236}">
                <a16:creationId xmlns:a16="http://schemas.microsoft.com/office/drawing/2014/main" id="{2C000FEC-62B5-44B7-8D1F-E5D2DC7C7963}"/>
              </a:ext>
            </a:extLst>
          </p:cNvPr>
          <p:cNvSpPr>
            <a:spLocks xmlns:a="http://schemas.openxmlformats.org/drawingml/2006/main" noGrp="1"/>
          </p:cNvSpPr>
          <p:nvPr/>
        </p:nvSpPr>
        <p:spPr>
          <a:xfrm xmlns:a="http://schemas.openxmlformats.org/drawingml/2006/main">
            <a:off x="6086475"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1B8C11D2-87F3-4942-BA55-2B70B8A116A0}"/>
              </a:ext>
            </a:extLst>
          </p:cNvPr>
          <p:cNvSpPr>
            <a:spLocks xmlns:a="http://schemas.openxmlformats.org/drawingml/2006/main" noGrp="1"/>
          </p:cNvSpPr>
          <p:nvPr/>
        </p:nvSpPr>
        <p:spPr>
          <a:xfrm xmlns:a="http://schemas.openxmlformats.org/drawingml/2006/main">
            <a:off x="6238875" y="234315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Activitate</a:t>
            </a:r>
          </a:p>
        </p:txBody>
      </p:sp>
      <p:sp>
        <p:nvSpPr>
          <p:cNvPr id="11" name="">
            <a:extLst xmlns:a="http://schemas.openxmlformats.org/drawingml/2006/main">
              <a:ext uri="{FF2B5EF4-FFF2-40B4-BE49-F238E27FC236}">
                <a16:creationId xmlns:a16="http://schemas.microsoft.com/office/drawing/2014/main" id="{17E93B0F-88DC-45D4-A0C1-37FEBB505D45}"/>
              </a:ext>
            </a:extLst>
          </p:cNvPr>
          <p:cNvSpPr>
            <a:spLocks xmlns:a="http://schemas.openxmlformats.org/drawingml/2006/main" noGrp="1"/>
          </p:cNvSpPr>
          <p:nvPr/>
        </p:nvSpPr>
        <p:spPr>
          <a:xfrm xmlns:a="http://schemas.openxmlformats.org/drawingml/2006/main">
            <a:off x="6238875"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Comisia produce rapoarte, decizii, punctaje sau recomandari, in functie de scop.</a:t>
            </a:r>
          </a:p>
        </p:txBody>
      </p:sp>
      <p:sp>
        <p:nvSpPr>
          <p:cNvPr id="12" name="">
            <a:extLst xmlns:a="http://schemas.openxmlformats.org/drawingml/2006/main">
              <a:ext uri="{FF2B5EF4-FFF2-40B4-BE49-F238E27FC236}">
                <a16:creationId xmlns:a16="http://schemas.microsoft.com/office/drawing/2014/main" id="{18E23C75-6771-4029-BCB6-EEB69022FE85}"/>
              </a:ext>
            </a:extLst>
          </p:cNvPr>
          <p:cNvSpPr>
            <a:spLocks xmlns:a="http://schemas.openxmlformats.org/drawingml/2006/main" noGrp="1"/>
          </p:cNvSpPr>
          <p:nvPr/>
        </p:nvSpPr>
        <p:spPr>
          <a:xfrm xmlns:a="http://schemas.openxmlformats.org/drawingml/2006/main">
            <a:off x="514350" y="401955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C1BEEE20-5919-40A6-9087-39DB46CF2C4B}"/>
              </a:ext>
            </a:extLst>
          </p:cNvPr>
          <p:cNvSpPr>
            <a:spLocks xmlns:a="http://schemas.openxmlformats.org/drawingml/2006/main" noGrp="1"/>
          </p:cNvSpPr>
          <p:nvPr/>
        </p:nvSpPr>
        <p:spPr>
          <a:xfrm xmlns:a="http://schemas.openxmlformats.org/drawingml/2006/main">
            <a:off x="666750" y="415290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Urmarire</a:t>
            </a:r>
          </a:p>
        </p:txBody>
      </p:sp>
      <p:sp>
        <p:nvSpPr>
          <p:cNvPr id="14" name="">
            <a:extLst xmlns:a="http://schemas.openxmlformats.org/drawingml/2006/main">
              <a:ext uri="{FF2B5EF4-FFF2-40B4-BE49-F238E27FC236}">
                <a16:creationId xmlns:a16="http://schemas.microsoft.com/office/drawing/2014/main" id="{AFA12D7A-3E9B-4F93-A44A-77564000B009}"/>
              </a:ext>
            </a:extLst>
          </p:cNvPr>
          <p:cNvSpPr>
            <a:spLocks xmlns:a="http://schemas.openxmlformats.org/drawingml/2006/main" noGrp="1"/>
          </p:cNvSpPr>
          <p:nvPr/>
        </p:nvSpPr>
        <p:spPr>
          <a:xfrm xmlns:a="http://schemas.openxmlformats.org/drawingml/2006/main">
            <a:off x="666750" y="451485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Starea, documentele si rezultatele comisiei raman usor de consultat si exportat.</a:t>
            </a:r>
          </a:p>
        </p:txBody>
      </p:sp>
      <p:sp>
        <p:nvSpPr>
          <p:cNvPr id="15" name="">
            <a:extLst xmlns:a="http://schemas.openxmlformats.org/drawingml/2006/main">
              <a:ext uri="{FF2B5EF4-FFF2-40B4-BE49-F238E27FC236}">
                <a16:creationId xmlns:a16="http://schemas.microsoft.com/office/drawing/2014/main" id="{41A5DBCA-EB84-4E6F-BA39-03680FE8A20D}"/>
              </a:ext>
            </a:extLst>
          </p:cNvPr>
          <p:cNvSpPr>
            <a:spLocks xmlns:a="http://schemas.openxmlformats.org/drawingml/2006/main" noGrp="1"/>
          </p:cNvSpPr>
          <p:nvPr/>
        </p:nvSpPr>
        <p:spPr>
          <a:xfrm xmlns:a="http://schemas.openxmlformats.org/drawingml/2006/main">
            <a:off x="514350" y="5676900"/>
            <a:ext cx="1085850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045BC54B-DB6B-4A24-8B5C-6B7D679C6C95}"/>
              </a:ext>
            </a:extLst>
          </p:cNvPr>
          <p:cNvSpPr>
            <a:spLocks xmlns:a="http://schemas.openxmlformats.org/drawingml/2006/main" noGrp="1"/>
          </p:cNvSpPr>
          <p:nvPr/>
        </p:nvSpPr>
        <p:spPr>
          <a:xfrm xmlns:a="http://schemas.openxmlformats.org/drawingml/2006/main">
            <a:off x="666750" y="5810250"/>
            <a:ext cx="1055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se foloseste in practica: Comisiile sunt tratate ca structuri operationale cu componenta, mandat, activitati si rezultate. Aceeasi logica se aplica si comisiei de evaluare. Componenta: Se inregistreaza membrii, rolurile si perioada mandatului. Activitate: Comisia produce rapoarte, decizii, punctaje sau recomandari, in functie de scop. Urmarire: Starea, documentele si rezultatele comisiei raman usor de consultat si exportat.</a:t>
            </a:r>
          </a:p>
        </p:txBody>
      </p:sp>
      <p:sp>
        <p:nvSpPr>
          <p:cNvPr id="17" name="">
            <a:extLst xmlns:a="http://schemas.openxmlformats.org/drawingml/2006/main">
              <a:ext uri="{FF2B5EF4-FFF2-40B4-BE49-F238E27FC236}">
                <a16:creationId xmlns:a16="http://schemas.microsoft.com/office/drawing/2014/main" id="{4B11B955-6308-4E7D-BFB5-58AACF2E3E86}"/>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8" name="">
            <a:extLst xmlns:a="http://schemas.openxmlformats.org/drawingml/2006/main">
              <a:ext uri="{FF2B5EF4-FFF2-40B4-BE49-F238E27FC236}">
                <a16:creationId xmlns:a16="http://schemas.microsoft.com/office/drawing/2014/main" id="{2A8B0090-FBF1-44DE-83FC-8B0171663C97}"/>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Guvernanta - comisii</a:t>
            </a:r>
          </a:p>
        </p:txBody>
      </p:sp>
    </p:spTree>
    <p:extLst>
      <p:ext uri="{BB962C8B-B14F-4D97-AF65-F5344CB8AC3E}">
        <p14:creationId xmlns:p14="http://schemas.microsoft.com/office/powerpoint/2010/main" val="194198611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ED23FE4-B63A-4B6A-9C94-E12F44825EE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BB2A34C6-2086-436C-AAC8-7CE1BF2F88A9}"/>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Personal educational</a:t>
            </a:r>
          </a:p>
        </p:txBody>
      </p:sp>
      <p:sp>
        <p:nvSpPr>
          <p:cNvPr id="3" name="">
            <a:extLst xmlns:a="http://schemas.openxmlformats.org/drawingml/2006/main">
              <a:ext uri="{FF2B5EF4-FFF2-40B4-BE49-F238E27FC236}">
                <a16:creationId xmlns:a16="http://schemas.microsoft.com/office/drawing/2014/main" id="{BCB9810E-E8BE-48EF-9F2D-24D78B4C963A}"/>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Zona Personal</a:t>
            </a:r>
          </a:p>
        </p:txBody>
      </p:sp>
      <p:sp>
        <p:nvSpPr>
          <p:cNvPr id="4" name="">
            <a:extLst xmlns:a="http://schemas.openxmlformats.org/drawingml/2006/main">
              <a:ext uri="{FF2B5EF4-FFF2-40B4-BE49-F238E27FC236}">
                <a16:creationId xmlns:a16="http://schemas.microsoft.com/office/drawing/2014/main" id="{1917871F-52C6-4589-B07E-77D9691E6342}"/>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30</a:t>
            </a:r>
          </a:p>
        </p:txBody>
      </p:sp>
      <p:sp>
        <p:nvSpPr>
          <p:cNvPr id="5" name="">
            <a:extLst xmlns:a="http://schemas.openxmlformats.org/drawingml/2006/main">
              <a:ext uri="{FF2B5EF4-FFF2-40B4-BE49-F238E27FC236}">
                <a16:creationId xmlns:a16="http://schemas.microsoft.com/office/drawing/2014/main" id="{89ADB5CE-FCD8-4BEA-ADFE-2A95A8626B01}"/>
              </a:ext>
            </a:extLst>
          </p:cNvPr>
          <p:cNvSpPr>
            <a:spLocks xmlns:a="http://schemas.openxmlformats.org/drawingml/2006/main" noGrp="1"/>
          </p:cNvSpPr>
          <p:nvPr/>
        </p:nvSpPr>
        <p:spPr>
          <a:xfrm xmlns:a="http://schemas.openxmlformats.org/drawingml/2006/main">
            <a:off x="514350" y="112395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Aici sunt gestionate fisele cadrelor didactice, evaluarile, declaratiile, mobilitatea si gradatiile de merit. Toate resursele folosesc aceeasi logica de lista, filtru si wizard.</a:t>
            </a:r>
          </a:p>
        </p:txBody>
      </p:sp>
      <p:sp>
        <p:nvSpPr>
          <p:cNvPr id="6" name="">
            <a:extLst xmlns:a="http://schemas.openxmlformats.org/drawingml/2006/main">
              <a:ext uri="{FF2B5EF4-FFF2-40B4-BE49-F238E27FC236}">
                <a16:creationId xmlns:a16="http://schemas.microsoft.com/office/drawing/2014/main" id="{187A002B-B6E0-431E-935D-F2ABD53A4CAD}"/>
              </a:ext>
            </a:extLst>
          </p:cNvPr>
          <p:cNvSpPr>
            <a:spLocks xmlns:a="http://schemas.openxmlformats.org/drawingml/2006/main" noGrp="1"/>
          </p:cNvSpPr>
          <p:nvPr/>
        </p:nvSpPr>
        <p:spPr>
          <a:xfrm xmlns:a="http://schemas.openxmlformats.org/drawingml/2006/main">
            <a:off x="514350" y="1809750"/>
            <a:ext cx="11163300" cy="2990850"/>
          </a:xfrm>
          <a:prstGeom xmlns:a="http://schemas.openxmlformats.org/drawingml/2006/main" prst="roundRect">
            <a:avLst>
              <a:gd name="adj" fmla="val 5096"/>
            </a:avLst>
          </a:prstGeom>
          <a:solidFill xmlns:a="http://schemas.openxmlformats.org/drawingml/2006/main">
            <a:srgbClr val="F8FAFC"/>
          </a:solidFill>
          <a:ln xmlns:a="http://schemas.openxmlformats.org/drawingml/2006/main" w="9525">
            <a:solidFill>
              <a:srgbClr val="E2E8F0"/>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1c39797332e447c0"/>
          <a:stretch xmlns:a="http://schemas.openxmlformats.org/drawingml/2006/main"/>
        </p:blipFill>
        <p:spPr>
          <a:xfrm xmlns:a="http://schemas.openxmlformats.org/drawingml/2006/main">
            <a:off x="3640667" y="1924050"/>
            <a:ext cx="4910667" cy="2762250"/>
          </a:xfrm>
          <a:prstGeom xmlns:a="http://schemas.openxmlformats.org/drawingml/2006/main" prst="roundRect">
            <a:avLst>
              <a:gd name="adj" fmla="val 4138"/>
            </a:avLst>
          </a:prstGeom>
        </p:spPr>
      </p:pic>
      <p:sp>
        <p:nvSpPr>
          <p:cNvPr id="8" name="">
            <a:extLst xmlns:a="http://schemas.openxmlformats.org/drawingml/2006/main">
              <a:ext uri="{FF2B5EF4-FFF2-40B4-BE49-F238E27FC236}">
                <a16:creationId xmlns:a16="http://schemas.microsoft.com/office/drawing/2014/main" id="{B0731644-0E96-4B9F-AAC4-35068416586D}"/>
              </a:ext>
            </a:extLst>
          </p:cNvPr>
          <p:cNvSpPr>
            <a:spLocks xmlns:a="http://schemas.openxmlformats.org/drawingml/2006/main" noGrp="1"/>
          </p:cNvSpPr>
          <p:nvPr/>
        </p:nvSpPr>
        <p:spPr>
          <a:xfrm xmlns:a="http://schemas.openxmlformats.org/drawingml/2006/main">
            <a:off x="514350" y="4972050"/>
            <a:ext cx="5334000" cy="12954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E2E8F0"/>
            </a:solidFill>
            <a:prstDash val="solid"/>
          </a:ln>
        </p:spPr>
      </p:sp>
      <p:sp>
        <p:nvSpPr>
          <p:cNvPr id="9" name="">
            <a:extLst xmlns:a="http://schemas.openxmlformats.org/drawingml/2006/main">
              <a:ext uri="{FF2B5EF4-FFF2-40B4-BE49-F238E27FC236}">
                <a16:creationId xmlns:a16="http://schemas.microsoft.com/office/drawing/2014/main" id="{5DAFACE9-1042-4A0D-8895-4C52B36E6E0C}"/>
              </a:ext>
            </a:extLst>
          </p:cNvPr>
          <p:cNvSpPr>
            <a:spLocks xmlns:a="http://schemas.openxmlformats.org/drawingml/2006/main" noGrp="1"/>
          </p:cNvSpPr>
          <p:nvPr/>
        </p:nvSpPr>
        <p:spPr>
          <a:xfrm xmlns:a="http://schemas.openxmlformats.org/drawingml/2006/main">
            <a:off x="666750" y="510540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Cum lucrezi</a:t>
            </a:r>
          </a:p>
        </p:txBody>
      </p:sp>
      <p:sp>
        <p:nvSpPr>
          <p:cNvPr id="10" name="">
            <a:extLst xmlns:a="http://schemas.openxmlformats.org/drawingml/2006/main">
              <a:ext uri="{FF2B5EF4-FFF2-40B4-BE49-F238E27FC236}">
                <a16:creationId xmlns:a16="http://schemas.microsoft.com/office/drawing/2014/main" id="{210568CC-8BF0-4C2E-986A-37708068CCB0}"/>
              </a:ext>
            </a:extLst>
          </p:cNvPr>
          <p:cNvSpPr>
            <a:spLocks xmlns:a="http://schemas.openxmlformats.org/drawingml/2006/main" noGrp="1"/>
          </p:cNvSpPr>
          <p:nvPr/>
        </p:nvSpPr>
        <p:spPr>
          <a:xfrm xmlns:a="http://schemas.openxmlformats.org/drawingml/2006/main">
            <a:off x="666750" y="5467350"/>
            <a:ext cx="5029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Deschizi resursa de lucru din taburile sau cardurile disponibile.</a:t>
            </a:r>
          </a:p>
          <a:p xmlns:a="http://schemas.openxmlformats.org/drawingml/2006/main">
            <a:pPr>
              <a:defRPr sz="1125">
                <a:solidFill>
                  <a:srgbClr val="314158"/>
                </a:solidFill>
              </a:defRPr>
            </a:pPr>
            <a:r>
              <a:rPr sz="1125">
                <a:solidFill>
                  <a:srgbClr val="314158"/>
                </a:solidFill>
              </a:rPr>
              <a:t>• Folosesti filtrarea si detaliul pentru consultare.</a:t>
            </a:r>
          </a:p>
          <a:p xmlns:a="http://schemas.openxmlformats.org/drawingml/2006/main">
            <a:pPr>
              <a:defRPr sz="1125">
                <a:solidFill>
                  <a:srgbClr val="314158"/>
                </a:solidFill>
              </a:defRPr>
            </a:pPr>
            <a:r>
              <a:rPr sz="1125">
                <a:solidFill>
                  <a:srgbClr val="314158"/>
                </a:solidFill>
              </a:rPr>
              <a:t>• Pornesti wizard-ul dedicat atunci cand creezi o inregistrare noua.</a:t>
            </a:r>
          </a:p>
        </p:txBody>
      </p:sp>
      <p:sp>
        <p:nvSpPr>
          <p:cNvPr id="11" name="">
            <a:extLst xmlns:a="http://schemas.openxmlformats.org/drawingml/2006/main">
              <a:ext uri="{FF2B5EF4-FFF2-40B4-BE49-F238E27FC236}">
                <a16:creationId xmlns:a16="http://schemas.microsoft.com/office/drawing/2014/main" id="{72A1110D-DD32-4A61-80D3-EAE3FDB022CE}"/>
              </a:ext>
            </a:extLst>
          </p:cNvPr>
          <p:cNvSpPr>
            <a:spLocks xmlns:a="http://schemas.openxmlformats.org/drawingml/2006/main" noGrp="1"/>
          </p:cNvSpPr>
          <p:nvPr/>
        </p:nvSpPr>
        <p:spPr>
          <a:xfrm xmlns:a="http://schemas.openxmlformats.org/drawingml/2006/main">
            <a:off x="6343650" y="4972050"/>
            <a:ext cx="533400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E2E8F0"/>
            </a:solidFill>
            <a:prstDash val="solid"/>
          </a:ln>
        </p:spPr>
      </p:sp>
      <p:sp>
        <p:nvSpPr>
          <p:cNvPr id="12" name="">
            <a:extLst xmlns:a="http://schemas.openxmlformats.org/drawingml/2006/main">
              <a:ext uri="{FF2B5EF4-FFF2-40B4-BE49-F238E27FC236}">
                <a16:creationId xmlns:a16="http://schemas.microsoft.com/office/drawing/2014/main" id="{9AEEEF5D-7DE0-4896-805F-1CB7EB35A11A}"/>
              </a:ext>
            </a:extLst>
          </p:cNvPr>
          <p:cNvSpPr>
            <a:spLocks xmlns:a="http://schemas.openxmlformats.org/drawingml/2006/main" noGrp="1"/>
          </p:cNvSpPr>
          <p:nvPr/>
        </p:nvSpPr>
        <p:spPr>
          <a:xfrm xmlns:a="http://schemas.openxmlformats.org/drawingml/2006/main">
            <a:off x="6496050" y="5105400"/>
            <a:ext cx="5029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Ce obtii: Zona de personal ramane coerenta indiferent de subprocesul folosit.</a:t>
            </a:r>
          </a:p>
        </p:txBody>
      </p:sp>
      <p:sp>
        <p:nvSpPr>
          <p:cNvPr id="13" name="">
            <a:extLst xmlns:a="http://schemas.openxmlformats.org/drawingml/2006/main">
              <a:ext uri="{FF2B5EF4-FFF2-40B4-BE49-F238E27FC236}">
                <a16:creationId xmlns:a16="http://schemas.microsoft.com/office/drawing/2014/main" id="{8A90D144-55F6-4D09-9F64-5B71E445467C}"/>
              </a:ext>
            </a:extLst>
          </p:cNvPr>
          <p:cNvSpPr>
            <a:spLocks xmlns:a="http://schemas.openxmlformats.org/drawingml/2006/main" noGrp="1"/>
          </p:cNvSpPr>
          <p:nvPr/>
        </p:nvSpPr>
        <p:spPr>
          <a:xfrm xmlns:a="http://schemas.openxmlformats.org/drawingml/2006/main">
            <a:off x="6343650" y="5734050"/>
            <a:ext cx="5334000" cy="5334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30FED809-B87D-4F23-B126-E3E65DF4B1FD}"/>
              </a:ext>
            </a:extLst>
          </p:cNvPr>
          <p:cNvSpPr>
            <a:spLocks xmlns:a="http://schemas.openxmlformats.org/drawingml/2006/main" noGrp="1"/>
          </p:cNvSpPr>
          <p:nvPr/>
        </p:nvSpPr>
        <p:spPr>
          <a:xfrm xmlns:a="http://schemas.openxmlformats.org/drawingml/2006/main">
            <a:off x="6496050" y="5867400"/>
            <a:ext cx="502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citesti captura: Captura prezinta ecranul real folosit de utilizator in zona personal, cu zonele de lista, filtrare, completare si actiune vizibile exact asa cum apar in aplicatie.</a:t>
            </a:r>
          </a:p>
        </p:txBody>
      </p:sp>
      <p:sp>
        <p:nvSpPr>
          <p:cNvPr id="15" name="">
            <a:extLst xmlns:a="http://schemas.openxmlformats.org/drawingml/2006/main">
              <a:ext uri="{FF2B5EF4-FFF2-40B4-BE49-F238E27FC236}">
                <a16:creationId xmlns:a16="http://schemas.microsoft.com/office/drawing/2014/main" id="{AD72752A-34BD-4056-BE55-3091BE5E4DBD}"/>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6" name="">
            <a:extLst xmlns:a="http://schemas.openxmlformats.org/drawingml/2006/main">
              <a:ext uri="{FF2B5EF4-FFF2-40B4-BE49-F238E27FC236}">
                <a16:creationId xmlns:a16="http://schemas.microsoft.com/office/drawing/2014/main" id="{A42EC172-AC7C-46A0-83CB-92B2FFCFA394}"/>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Personal educational - ecran principal</a:t>
            </a:r>
          </a:p>
        </p:txBody>
      </p:sp>
    </p:spTree>
    <p:extLst>
      <p:ext uri="{BB962C8B-B14F-4D97-AF65-F5344CB8AC3E}">
        <p14:creationId xmlns:p14="http://schemas.microsoft.com/office/powerpoint/2010/main" val="178249142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55011D0-3FE5-4A39-8539-927E939A8DE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203E6C95-5B94-4869-B221-C3361FC1CD6C}"/>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Fisa de personal</a:t>
            </a:r>
          </a:p>
        </p:txBody>
      </p:sp>
      <p:sp>
        <p:nvSpPr>
          <p:cNvPr id="3" name="">
            <a:extLst xmlns:a="http://schemas.openxmlformats.org/drawingml/2006/main">
              <a:ext uri="{FF2B5EF4-FFF2-40B4-BE49-F238E27FC236}">
                <a16:creationId xmlns:a16="http://schemas.microsoft.com/office/drawing/2014/main" id="{D08C6B67-0591-460D-B71F-D0BE3FD4EB82}"/>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Wizard cadru didactic</a:t>
            </a:r>
          </a:p>
        </p:txBody>
      </p:sp>
      <p:sp>
        <p:nvSpPr>
          <p:cNvPr id="4" name="">
            <a:extLst xmlns:a="http://schemas.openxmlformats.org/drawingml/2006/main">
              <a:ext uri="{FF2B5EF4-FFF2-40B4-BE49-F238E27FC236}">
                <a16:creationId xmlns:a16="http://schemas.microsoft.com/office/drawing/2014/main" id="{FC812215-8D33-4A54-ADAE-E19454F7E83F}"/>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31</a:t>
            </a:r>
          </a:p>
        </p:txBody>
      </p:sp>
      <p:sp>
        <p:nvSpPr>
          <p:cNvPr id="5" name="">
            <a:extLst xmlns:a="http://schemas.openxmlformats.org/drawingml/2006/main">
              <a:ext uri="{FF2B5EF4-FFF2-40B4-BE49-F238E27FC236}">
                <a16:creationId xmlns:a16="http://schemas.microsoft.com/office/drawing/2014/main" id="{A50C0659-B09F-4E2D-B0AA-61C8B7E9D0FB}"/>
              </a:ext>
            </a:extLst>
          </p:cNvPr>
          <p:cNvSpPr>
            <a:spLocks xmlns:a="http://schemas.openxmlformats.org/drawingml/2006/main" noGrp="1"/>
          </p:cNvSpPr>
          <p:nvPr/>
        </p:nvSpPr>
        <p:spPr>
          <a:xfrm xmlns:a="http://schemas.openxmlformats.org/drawingml/2006/main">
            <a:off x="514350" y="114300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Fisa cadrului didactic este punctul de plecare pentru celelalte fluxuri: evaluare, portofoliu, mobilitate si alte trasee administrative.</a:t>
            </a:r>
          </a:p>
        </p:txBody>
      </p:sp>
      <p:sp>
        <p:nvSpPr>
          <p:cNvPr id="6" name="">
            <a:extLst xmlns:a="http://schemas.openxmlformats.org/drawingml/2006/main">
              <a:ext uri="{FF2B5EF4-FFF2-40B4-BE49-F238E27FC236}">
                <a16:creationId xmlns:a16="http://schemas.microsoft.com/office/drawing/2014/main" id="{22E50CA2-F267-4A66-BDF0-779242B8D2D3}"/>
              </a:ext>
            </a:extLst>
          </p:cNvPr>
          <p:cNvSpPr>
            <a:spLocks xmlns:a="http://schemas.openxmlformats.org/drawingml/2006/main" noGrp="1"/>
          </p:cNvSpPr>
          <p:nvPr/>
        </p:nvSpPr>
        <p:spPr>
          <a:xfrm xmlns:a="http://schemas.openxmlformats.org/drawingml/2006/main">
            <a:off x="514350" y="1981200"/>
            <a:ext cx="4095750" cy="224790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0E2AB7A6-8FC2-472A-B09A-30A9AE22385E}"/>
              </a:ext>
            </a:extLst>
          </p:cNvPr>
          <p:cNvSpPr>
            <a:spLocks xmlns:a="http://schemas.openxmlformats.org/drawingml/2006/main" noGrp="1"/>
          </p:cNvSpPr>
          <p:nvPr/>
        </p:nvSpPr>
        <p:spPr>
          <a:xfrm xmlns:a="http://schemas.openxmlformats.org/drawingml/2006/main">
            <a:off x="666750" y="21145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Ce face utilizatorul</a:t>
            </a:r>
          </a:p>
        </p:txBody>
      </p:sp>
      <p:sp>
        <p:nvSpPr>
          <p:cNvPr id="8" name="">
            <a:extLst xmlns:a="http://schemas.openxmlformats.org/drawingml/2006/main">
              <a:ext uri="{FF2B5EF4-FFF2-40B4-BE49-F238E27FC236}">
                <a16:creationId xmlns:a16="http://schemas.microsoft.com/office/drawing/2014/main" id="{350A7E0E-7708-4E8E-B66C-346C70A11FCC}"/>
              </a:ext>
            </a:extLst>
          </p:cNvPr>
          <p:cNvSpPr>
            <a:spLocks xmlns:a="http://schemas.openxmlformats.org/drawingml/2006/main" noGrp="1"/>
          </p:cNvSpPr>
          <p:nvPr/>
        </p:nvSpPr>
        <p:spPr>
          <a:xfrm xmlns:a="http://schemas.openxmlformats.org/drawingml/2006/main">
            <a:off x="666750" y="2476500"/>
            <a:ext cx="37909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Completezi datele de baza, functia si tipul de incadrare.</a:t>
            </a:r>
          </a:p>
          <a:p xmlns:a="http://schemas.openxmlformats.org/drawingml/2006/main">
            <a:pPr>
              <a:defRPr sz="1125">
                <a:solidFill>
                  <a:srgbClr val="314158"/>
                </a:solidFill>
              </a:defRPr>
            </a:pPr>
            <a:r>
              <a:rPr sz="1125">
                <a:solidFill>
                  <a:srgbClr val="314158"/>
                </a:solidFill>
              </a:rPr>
              <a:t>• Stabilesti starea profesionala si legatura cu portofoliul.</a:t>
            </a:r>
          </a:p>
          <a:p xmlns:a="http://schemas.openxmlformats.org/drawingml/2006/main">
            <a:pPr>
              <a:defRPr sz="1125">
                <a:solidFill>
                  <a:srgbClr val="314158"/>
                </a:solidFill>
              </a:defRPr>
            </a:pPr>
            <a:r>
              <a:rPr sz="1125">
                <a:solidFill>
                  <a:srgbClr val="314158"/>
                </a:solidFill>
              </a:rPr>
              <a:t>• Salvezi fisa pentru a o putea folosi in restul modulului.</a:t>
            </a:r>
          </a:p>
        </p:txBody>
      </p:sp>
      <p:sp>
        <p:nvSpPr>
          <p:cNvPr id="9" name="">
            <a:extLst xmlns:a="http://schemas.openxmlformats.org/drawingml/2006/main">
              <a:ext uri="{FF2B5EF4-FFF2-40B4-BE49-F238E27FC236}">
                <a16:creationId xmlns:a16="http://schemas.microsoft.com/office/drawing/2014/main" id="{48E2B5D6-E2BC-4E7F-8C52-F50E41D3921D}"/>
              </a:ext>
            </a:extLst>
          </p:cNvPr>
          <p:cNvSpPr>
            <a:spLocks xmlns:a="http://schemas.openxmlformats.org/drawingml/2006/main" noGrp="1"/>
          </p:cNvSpPr>
          <p:nvPr/>
        </p:nvSpPr>
        <p:spPr>
          <a:xfrm xmlns:a="http://schemas.openxmlformats.org/drawingml/2006/main">
            <a:off x="514350" y="4381500"/>
            <a:ext cx="4095750" cy="11430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BE5A746A-B7DF-43E9-BA64-32792A530B07}"/>
              </a:ext>
            </a:extLst>
          </p:cNvPr>
          <p:cNvSpPr>
            <a:spLocks xmlns:a="http://schemas.openxmlformats.org/drawingml/2006/main" noGrp="1"/>
          </p:cNvSpPr>
          <p:nvPr/>
        </p:nvSpPr>
        <p:spPr>
          <a:xfrm xmlns:a="http://schemas.openxmlformats.org/drawingml/2006/main">
            <a:off x="666750" y="451485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Cum se foloseste ecranul</a:t>
            </a:r>
          </a:p>
        </p:txBody>
      </p:sp>
      <p:sp>
        <p:nvSpPr>
          <p:cNvPr id="11" name="">
            <a:extLst xmlns:a="http://schemas.openxmlformats.org/drawingml/2006/main">
              <a:ext uri="{FF2B5EF4-FFF2-40B4-BE49-F238E27FC236}">
                <a16:creationId xmlns:a16="http://schemas.microsoft.com/office/drawing/2014/main" id="{0714ADB0-0637-4D6E-9385-7C9C5EC959A5}"/>
              </a:ext>
            </a:extLst>
          </p:cNvPr>
          <p:cNvSpPr>
            <a:spLocks xmlns:a="http://schemas.openxmlformats.org/drawingml/2006/main" noGrp="1"/>
          </p:cNvSpPr>
          <p:nvPr/>
        </p:nvSpPr>
        <p:spPr>
          <a:xfrm xmlns:a="http://schemas.openxmlformats.org/drawingml/2006/main">
            <a:off x="666750" y="4876800"/>
            <a:ext cx="3790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Utilizatorul porneste din acest ecran, completeaza informatiile necesare si verifica sumarul inainte de a salva sau de a trimite fluxul mai departe. La final, ai o baza unica pentru istoricul si traseele cadrului didactic.</a:t>
            </a:r>
          </a:p>
        </p:txBody>
      </p:sp>
      <p:sp>
        <p:nvSpPr>
          <p:cNvPr id="12" name="">
            <a:extLst xmlns:a="http://schemas.openxmlformats.org/drawingml/2006/main">
              <a:ext uri="{FF2B5EF4-FFF2-40B4-BE49-F238E27FC236}">
                <a16:creationId xmlns:a16="http://schemas.microsoft.com/office/drawing/2014/main" id="{901875E2-9C61-4836-AB3C-1E9A051A16C4}"/>
              </a:ext>
            </a:extLst>
          </p:cNvPr>
          <p:cNvSpPr>
            <a:spLocks xmlns:a="http://schemas.openxmlformats.org/drawingml/2006/main" noGrp="1"/>
          </p:cNvSpPr>
          <p:nvPr/>
        </p:nvSpPr>
        <p:spPr>
          <a:xfrm xmlns:a="http://schemas.openxmlformats.org/drawingml/2006/main">
            <a:off x="514350" y="5657850"/>
            <a:ext cx="409575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81861F96-9429-4570-B844-B7D386E2091E}"/>
              </a:ext>
            </a:extLst>
          </p:cNvPr>
          <p:cNvSpPr>
            <a:spLocks xmlns:a="http://schemas.openxmlformats.org/drawingml/2006/main" noGrp="1"/>
          </p:cNvSpPr>
          <p:nvPr/>
        </p:nvSpPr>
        <p:spPr>
          <a:xfrm xmlns:a="http://schemas.openxmlformats.org/drawingml/2006/main">
            <a:off x="666750" y="5791200"/>
            <a:ext cx="3790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Rezultat final: Ai o baza unica pentru istoricul si traseele cadrului didactic.</a:t>
            </a:r>
          </a:p>
        </p:txBody>
      </p:sp>
      <p:sp>
        <p:nvSpPr>
          <p:cNvPr id="14" name="">
            <a:extLst xmlns:a="http://schemas.openxmlformats.org/drawingml/2006/main">
              <a:ext uri="{FF2B5EF4-FFF2-40B4-BE49-F238E27FC236}">
                <a16:creationId xmlns:a16="http://schemas.microsoft.com/office/drawing/2014/main" id="{B2544AEC-CD2A-45FE-B8B0-4895950F0932}"/>
              </a:ext>
            </a:extLst>
          </p:cNvPr>
          <p:cNvSpPr>
            <a:spLocks xmlns:a="http://schemas.openxmlformats.org/drawingml/2006/main" noGrp="1"/>
          </p:cNvSpPr>
          <p:nvPr/>
        </p:nvSpPr>
        <p:spPr>
          <a:xfrm xmlns:a="http://schemas.openxmlformats.org/drawingml/2006/main">
            <a:off x="4895850" y="1981200"/>
            <a:ext cx="6610350" cy="37338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9e08626b4e514993"/>
          <a:stretch xmlns:a="http://schemas.openxmlformats.org/drawingml/2006/main"/>
        </p:blipFill>
        <p:spPr>
          <a:xfrm xmlns:a="http://schemas.openxmlformats.org/drawingml/2006/main">
            <a:off x="5085292" y="2095500"/>
            <a:ext cx="6231467" cy="3505200"/>
          </a:xfrm>
          <a:prstGeom xmlns:a="http://schemas.openxmlformats.org/drawingml/2006/main" prst="roundRect">
            <a:avLst>
              <a:gd name="adj" fmla="val 3261"/>
            </a:avLst>
          </a:prstGeom>
        </p:spPr>
      </p:pic>
      <p:sp>
        <p:nvSpPr>
          <p:cNvPr id="16" name="">
            <a:extLst xmlns:a="http://schemas.openxmlformats.org/drawingml/2006/main">
              <a:ext uri="{FF2B5EF4-FFF2-40B4-BE49-F238E27FC236}">
                <a16:creationId xmlns:a16="http://schemas.microsoft.com/office/drawing/2014/main" id="{F21A34D3-032D-46D5-B87C-D3C43CC28BC7}"/>
              </a:ext>
            </a:extLst>
          </p:cNvPr>
          <p:cNvSpPr>
            <a:spLocks xmlns:a="http://schemas.openxmlformats.org/drawingml/2006/main" noGrp="1"/>
          </p:cNvSpPr>
          <p:nvPr/>
        </p:nvSpPr>
        <p:spPr>
          <a:xfrm xmlns:a="http://schemas.openxmlformats.org/drawingml/2006/main">
            <a:off x="4895850" y="5772150"/>
            <a:ext cx="6610350" cy="476250"/>
          </a:xfrm>
          <a:prstGeom xmlns:a="http://schemas.openxmlformats.org/drawingml/2006/main" prst="roundRect">
            <a:avLst>
              <a:gd name="adj" fmla="val 32000"/>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3D75507E-06FE-4E01-8A1A-C64C03DE8DBE}"/>
              </a:ext>
            </a:extLst>
          </p:cNvPr>
          <p:cNvSpPr>
            <a:spLocks xmlns:a="http://schemas.openxmlformats.org/drawingml/2006/main" noGrp="1"/>
          </p:cNvSpPr>
          <p:nvPr/>
        </p:nvSpPr>
        <p:spPr>
          <a:xfrm xmlns:a="http://schemas.openxmlformats.org/drawingml/2006/main">
            <a:off x="5048250" y="5905500"/>
            <a:ext cx="6305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Ce observi in captura: Captura prezinta ecranul real folosit de utilizator in wizard cadru didactic, cu zonele de lista, filtrare, completare si actiune vizibile exact asa cum apar in aplicatie.</a:t>
            </a:r>
          </a:p>
        </p:txBody>
      </p:sp>
      <p:sp>
        <p:nvSpPr>
          <p:cNvPr id="18" name="">
            <a:extLst xmlns:a="http://schemas.openxmlformats.org/drawingml/2006/main">
              <a:ext uri="{FF2B5EF4-FFF2-40B4-BE49-F238E27FC236}">
                <a16:creationId xmlns:a16="http://schemas.microsoft.com/office/drawing/2014/main" id="{B847D7B9-CD96-41BF-8B7A-15B67950FB23}"/>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9" name="">
            <a:extLst xmlns:a="http://schemas.openxmlformats.org/drawingml/2006/main">
              <a:ext uri="{FF2B5EF4-FFF2-40B4-BE49-F238E27FC236}">
                <a16:creationId xmlns:a16="http://schemas.microsoft.com/office/drawing/2014/main" id="{692F053F-B3DE-4265-BB8F-955F754B3FCF}"/>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Personal - wizard cadru didactic</a:t>
            </a:r>
          </a:p>
        </p:txBody>
      </p:sp>
    </p:spTree>
    <p:extLst>
      <p:ext uri="{BB962C8B-B14F-4D97-AF65-F5344CB8AC3E}">
        <p14:creationId xmlns:p14="http://schemas.microsoft.com/office/powerpoint/2010/main" val="56495012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CE0726C-90CF-4793-A032-4D4A6DC49F3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689E4C11-C3BC-436C-9B14-26348F8D10EB}"/>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Evaluare profesionala</a:t>
            </a:r>
          </a:p>
        </p:txBody>
      </p:sp>
      <p:sp>
        <p:nvSpPr>
          <p:cNvPr id="3" name="">
            <a:extLst xmlns:a="http://schemas.openxmlformats.org/drawingml/2006/main">
              <a:ext uri="{FF2B5EF4-FFF2-40B4-BE49-F238E27FC236}">
                <a16:creationId xmlns:a16="http://schemas.microsoft.com/office/drawing/2014/main" id="{5F8F67F8-1471-4972-BE63-24DF5EB22544}"/>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Wizard evaluare anuala</a:t>
            </a:r>
          </a:p>
        </p:txBody>
      </p:sp>
      <p:sp>
        <p:nvSpPr>
          <p:cNvPr id="4" name="">
            <a:extLst xmlns:a="http://schemas.openxmlformats.org/drawingml/2006/main">
              <a:ext uri="{FF2B5EF4-FFF2-40B4-BE49-F238E27FC236}">
                <a16:creationId xmlns:a16="http://schemas.microsoft.com/office/drawing/2014/main" id="{9A275732-15E2-4984-9281-B50156FC2DC5}"/>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32</a:t>
            </a:r>
          </a:p>
        </p:txBody>
      </p:sp>
      <p:sp>
        <p:nvSpPr>
          <p:cNvPr id="5" name="">
            <a:extLst xmlns:a="http://schemas.openxmlformats.org/drawingml/2006/main">
              <a:ext uri="{FF2B5EF4-FFF2-40B4-BE49-F238E27FC236}">
                <a16:creationId xmlns:a16="http://schemas.microsoft.com/office/drawing/2014/main" id="{54DFA6C6-F896-43C4-8B91-36AD7A402FB7}"/>
              </a:ext>
            </a:extLst>
          </p:cNvPr>
          <p:cNvSpPr>
            <a:spLocks xmlns:a="http://schemas.openxmlformats.org/drawingml/2006/main" noGrp="1"/>
          </p:cNvSpPr>
          <p:nvPr/>
        </p:nvSpPr>
        <p:spPr>
          <a:xfrm xmlns:a="http://schemas.openxmlformats.org/drawingml/2006/main">
            <a:off x="514350" y="114300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Evaluarea anuala este ghidata pas cu pas, astfel incat datele despre calificativ, criterii si traseu procedural sa fie usor de introdus si urmarit.</a:t>
            </a:r>
          </a:p>
        </p:txBody>
      </p:sp>
      <p:sp>
        <p:nvSpPr>
          <p:cNvPr id="6" name="">
            <a:extLst xmlns:a="http://schemas.openxmlformats.org/drawingml/2006/main">
              <a:ext uri="{FF2B5EF4-FFF2-40B4-BE49-F238E27FC236}">
                <a16:creationId xmlns:a16="http://schemas.microsoft.com/office/drawing/2014/main" id="{CE3A5CB3-89CF-4616-92E6-6685FB9D459A}"/>
              </a:ext>
            </a:extLst>
          </p:cNvPr>
          <p:cNvSpPr>
            <a:spLocks xmlns:a="http://schemas.openxmlformats.org/drawingml/2006/main" noGrp="1"/>
          </p:cNvSpPr>
          <p:nvPr/>
        </p:nvSpPr>
        <p:spPr>
          <a:xfrm xmlns:a="http://schemas.openxmlformats.org/drawingml/2006/main">
            <a:off x="514350" y="1981200"/>
            <a:ext cx="4095750" cy="224790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FF47FD98-9ED7-4D94-917D-40577E5B8681}"/>
              </a:ext>
            </a:extLst>
          </p:cNvPr>
          <p:cNvSpPr>
            <a:spLocks xmlns:a="http://schemas.openxmlformats.org/drawingml/2006/main" noGrp="1"/>
          </p:cNvSpPr>
          <p:nvPr/>
        </p:nvSpPr>
        <p:spPr>
          <a:xfrm xmlns:a="http://schemas.openxmlformats.org/drawingml/2006/main">
            <a:off x="666750" y="21145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Ce face utilizatorul</a:t>
            </a:r>
          </a:p>
        </p:txBody>
      </p:sp>
      <p:sp>
        <p:nvSpPr>
          <p:cNvPr id="8" name="">
            <a:extLst xmlns:a="http://schemas.openxmlformats.org/drawingml/2006/main">
              <a:ext uri="{FF2B5EF4-FFF2-40B4-BE49-F238E27FC236}">
                <a16:creationId xmlns:a16="http://schemas.microsoft.com/office/drawing/2014/main" id="{9B17E332-A50E-4309-956C-F2C6B2F11632}"/>
              </a:ext>
            </a:extLst>
          </p:cNvPr>
          <p:cNvSpPr>
            <a:spLocks xmlns:a="http://schemas.openxmlformats.org/drawingml/2006/main" noGrp="1"/>
          </p:cNvSpPr>
          <p:nvPr/>
        </p:nvSpPr>
        <p:spPr>
          <a:xfrm xmlns:a="http://schemas.openxmlformats.org/drawingml/2006/main">
            <a:off x="666750" y="2476500"/>
            <a:ext cx="37909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Selectezi cadrul didactic si anul scolar.</a:t>
            </a:r>
          </a:p>
          <a:p xmlns:a="http://schemas.openxmlformats.org/drawingml/2006/main">
            <a:pPr>
              <a:defRPr sz="1125">
                <a:solidFill>
                  <a:srgbClr val="314158"/>
                </a:solidFill>
              </a:defRPr>
            </a:pPr>
            <a:r>
              <a:rPr sz="1125">
                <a:solidFill>
                  <a:srgbClr val="314158"/>
                </a:solidFill>
              </a:rPr>
              <a:t>• Completezi criteriile, punctajele si rezumatul evaluarii.</a:t>
            </a:r>
          </a:p>
          <a:p xmlns:a="http://schemas.openxmlformats.org/drawingml/2006/main">
            <a:pPr>
              <a:defRPr sz="1125">
                <a:solidFill>
                  <a:srgbClr val="314158"/>
                </a:solidFill>
              </a:defRPr>
            </a:pPr>
            <a:r>
              <a:rPr sz="1125">
                <a:solidFill>
                  <a:srgbClr val="314158"/>
                </a:solidFill>
              </a:rPr>
              <a:t>• Salvezi pentru a continua cu finalizarea si comunicarea rezultatului.</a:t>
            </a:r>
          </a:p>
        </p:txBody>
      </p:sp>
      <p:sp>
        <p:nvSpPr>
          <p:cNvPr id="9" name="">
            <a:extLst xmlns:a="http://schemas.openxmlformats.org/drawingml/2006/main">
              <a:ext uri="{FF2B5EF4-FFF2-40B4-BE49-F238E27FC236}">
                <a16:creationId xmlns:a16="http://schemas.microsoft.com/office/drawing/2014/main" id="{A5EBE4C7-A591-4A23-BEE1-C2B4044EF110}"/>
              </a:ext>
            </a:extLst>
          </p:cNvPr>
          <p:cNvSpPr>
            <a:spLocks xmlns:a="http://schemas.openxmlformats.org/drawingml/2006/main" noGrp="1"/>
          </p:cNvSpPr>
          <p:nvPr/>
        </p:nvSpPr>
        <p:spPr>
          <a:xfrm xmlns:a="http://schemas.openxmlformats.org/drawingml/2006/main">
            <a:off x="514350" y="4381500"/>
            <a:ext cx="4095750" cy="11430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07946314-FF84-4099-9192-ABF42D01322B}"/>
              </a:ext>
            </a:extLst>
          </p:cNvPr>
          <p:cNvSpPr>
            <a:spLocks xmlns:a="http://schemas.openxmlformats.org/drawingml/2006/main" noGrp="1"/>
          </p:cNvSpPr>
          <p:nvPr/>
        </p:nvSpPr>
        <p:spPr>
          <a:xfrm xmlns:a="http://schemas.openxmlformats.org/drawingml/2006/main">
            <a:off x="666750" y="451485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Cum se foloseste ecranul</a:t>
            </a:r>
          </a:p>
        </p:txBody>
      </p:sp>
      <p:sp>
        <p:nvSpPr>
          <p:cNvPr id="11" name="">
            <a:extLst xmlns:a="http://schemas.openxmlformats.org/drawingml/2006/main">
              <a:ext uri="{FF2B5EF4-FFF2-40B4-BE49-F238E27FC236}">
                <a16:creationId xmlns:a16="http://schemas.microsoft.com/office/drawing/2014/main" id="{3A994CA3-512A-4C92-B8A6-0944CD0FC079}"/>
              </a:ext>
            </a:extLst>
          </p:cNvPr>
          <p:cNvSpPr>
            <a:spLocks xmlns:a="http://schemas.openxmlformats.org/drawingml/2006/main" noGrp="1"/>
          </p:cNvSpPr>
          <p:nvPr/>
        </p:nvSpPr>
        <p:spPr>
          <a:xfrm xmlns:a="http://schemas.openxmlformats.org/drawingml/2006/main">
            <a:off x="666750" y="4876800"/>
            <a:ext cx="3790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Utilizatorul porneste din acest ecran, completeaza informatiile necesare si verifica sumarul inainte de a salva sau de a trimite fluxul mai departe. La final, evaluarea are baza completa pentru calificativ, aprobare si istoric.</a:t>
            </a:r>
          </a:p>
        </p:txBody>
      </p:sp>
      <p:sp>
        <p:nvSpPr>
          <p:cNvPr id="12" name="">
            <a:extLst xmlns:a="http://schemas.openxmlformats.org/drawingml/2006/main">
              <a:ext uri="{FF2B5EF4-FFF2-40B4-BE49-F238E27FC236}">
                <a16:creationId xmlns:a16="http://schemas.microsoft.com/office/drawing/2014/main" id="{1044D522-A498-45A6-92AB-BBB9E74FF920}"/>
              </a:ext>
            </a:extLst>
          </p:cNvPr>
          <p:cNvSpPr>
            <a:spLocks xmlns:a="http://schemas.openxmlformats.org/drawingml/2006/main" noGrp="1"/>
          </p:cNvSpPr>
          <p:nvPr/>
        </p:nvSpPr>
        <p:spPr>
          <a:xfrm xmlns:a="http://schemas.openxmlformats.org/drawingml/2006/main">
            <a:off x="514350" y="5657850"/>
            <a:ext cx="409575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B29F8A56-2A3A-4E2F-83BB-48DF532D21B9}"/>
              </a:ext>
            </a:extLst>
          </p:cNvPr>
          <p:cNvSpPr>
            <a:spLocks xmlns:a="http://schemas.openxmlformats.org/drawingml/2006/main" noGrp="1"/>
          </p:cNvSpPr>
          <p:nvPr/>
        </p:nvSpPr>
        <p:spPr>
          <a:xfrm xmlns:a="http://schemas.openxmlformats.org/drawingml/2006/main">
            <a:off x="666750" y="5791200"/>
            <a:ext cx="3790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Rezultat final: Evaluarea are baza completa pentru calificativ, aprobare si istoric.</a:t>
            </a:r>
          </a:p>
        </p:txBody>
      </p:sp>
      <p:sp>
        <p:nvSpPr>
          <p:cNvPr id="14" name="">
            <a:extLst xmlns:a="http://schemas.openxmlformats.org/drawingml/2006/main">
              <a:ext uri="{FF2B5EF4-FFF2-40B4-BE49-F238E27FC236}">
                <a16:creationId xmlns:a16="http://schemas.microsoft.com/office/drawing/2014/main" id="{C5AA17B7-E915-4068-974D-EEDC8A8EABC8}"/>
              </a:ext>
            </a:extLst>
          </p:cNvPr>
          <p:cNvSpPr>
            <a:spLocks xmlns:a="http://schemas.openxmlformats.org/drawingml/2006/main" noGrp="1"/>
          </p:cNvSpPr>
          <p:nvPr/>
        </p:nvSpPr>
        <p:spPr>
          <a:xfrm xmlns:a="http://schemas.openxmlformats.org/drawingml/2006/main">
            <a:off x="4895850" y="1981200"/>
            <a:ext cx="6610350" cy="37338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553a550d7989445f"/>
          <a:stretch xmlns:a="http://schemas.openxmlformats.org/drawingml/2006/main"/>
        </p:blipFill>
        <p:spPr>
          <a:xfrm xmlns:a="http://schemas.openxmlformats.org/drawingml/2006/main">
            <a:off x="5085292" y="2095500"/>
            <a:ext cx="6231467" cy="3505200"/>
          </a:xfrm>
          <a:prstGeom xmlns:a="http://schemas.openxmlformats.org/drawingml/2006/main" prst="roundRect">
            <a:avLst>
              <a:gd name="adj" fmla="val 3261"/>
            </a:avLst>
          </a:prstGeom>
        </p:spPr>
      </p:pic>
      <p:sp>
        <p:nvSpPr>
          <p:cNvPr id="16" name="">
            <a:extLst xmlns:a="http://schemas.openxmlformats.org/drawingml/2006/main">
              <a:ext uri="{FF2B5EF4-FFF2-40B4-BE49-F238E27FC236}">
                <a16:creationId xmlns:a16="http://schemas.microsoft.com/office/drawing/2014/main" id="{E3C6C06A-0A82-4F50-928C-87830BD17B0D}"/>
              </a:ext>
            </a:extLst>
          </p:cNvPr>
          <p:cNvSpPr>
            <a:spLocks xmlns:a="http://schemas.openxmlformats.org/drawingml/2006/main" noGrp="1"/>
          </p:cNvSpPr>
          <p:nvPr/>
        </p:nvSpPr>
        <p:spPr>
          <a:xfrm xmlns:a="http://schemas.openxmlformats.org/drawingml/2006/main">
            <a:off x="4895850" y="5772150"/>
            <a:ext cx="6610350" cy="476250"/>
          </a:xfrm>
          <a:prstGeom xmlns:a="http://schemas.openxmlformats.org/drawingml/2006/main" prst="roundRect">
            <a:avLst>
              <a:gd name="adj" fmla="val 32000"/>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4F915DAC-EC26-466B-BAF4-D4B736F174E6}"/>
              </a:ext>
            </a:extLst>
          </p:cNvPr>
          <p:cNvSpPr>
            <a:spLocks xmlns:a="http://schemas.openxmlformats.org/drawingml/2006/main" noGrp="1"/>
          </p:cNvSpPr>
          <p:nvPr/>
        </p:nvSpPr>
        <p:spPr>
          <a:xfrm xmlns:a="http://schemas.openxmlformats.org/drawingml/2006/main">
            <a:off x="5048250" y="5905500"/>
            <a:ext cx="6305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Ce observi in captura: Captura prezinta ecranul real folosit de utilizator in wizard evaluare anuala, cu zonele de lista, filtrare, completare si actiune vizibile exact asa cum apar in aplicatie.</a:t>
            </a:r>
          </a:p>
        </p:txBody>
      </p:sp>
      <p:sp>
        <p:nvSpPr>
          <p:cNvPr id="18" name="">
            <a:extLst xmlns:a="http://schemas.openxmlformats.org/drawingml/2006/main">
              <a:ext uri="{FF2B5EF4-FFF2-40B4-BE49-F238E27FC236}">
                <a16:creationId xmlns:a16="http://schemas.microsoft.com/office/drawing/2014/main" id="{EE90CB84-75CF-4919-89A3-9BCE9F45118D}"/>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9" name="">
            <a:extLst xmlns:a="http://schemas.openxmlformats.org/drawingml/2006/main">
              <a:ext uri="{FF2B5EF4-FFF2-40B4-BE49-F238E27FC236}">
                <a16:creationId xmlns:a16="http://schemas.microsoft.com/office/drawing/2014/main" id="{BD56678E-FAFC-4608-B9AA-B594B9F3FA17}"/>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Evaluare anuala - deschidere</a:t>
            </a:r>
          </a:p>
        </p:txBody>
      </p:sp>
    </p:spTree>
    <p:extLst>
      <p:ext uri="{BB962C8B-B14F-4D97-AF65-F5344CB8AC3E}">
        <p14:creationId xmlns:p14="http://schemas.microsoft.com/office/powerpoint/2010/main" val="127543732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2002337-8EF4-46C7-BE9F-E97076CD5B5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FAE26C7B-ED8A-4F4D-AF35-2F338AE2A641}"/>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Rezultat si dovada</a:t>
            </a:r>
          </a:p>
        </p:txBody>
      </p:sp>
      <p:sp>
        <p:nvSpPr>
          <p:cNvPr id="3" name="">
            <a:extLst xmlns:a="http://schemas.openxmlformats.org/drawingml/2006/main">
              <a:ext uri="{FF2B5EF4-FFF2-40B4-BE49-F238E27FC236}">
                <a16:creationId xmlns:a16="http://schemas.microsoft.com/office/drawing/2014/main" id="{BF7F4FCA-6D9E-4BAC-8141-1FB8DC47E5DF}"/>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Comunicarea rezultatului evaluarii</a:t>
            </a:r>
          </a:p>
        </p:txBody>
      </p:sp>
      <p:sp>
        <p:nvSpPr>
          <p:cNvPr id="4" name="">
            <a:extLst xmlns:a="http://schemas.openxmlformats.org/drawingml/2006/main">
              <a:ext uri="{FF2B5EF4-FFF2-40B4-BE49-F238E27FC236}">
                <a16:creationId xmlns:a16="http://schemas.microsoft.com/office/drawing/2014/main" id="{629BC846-6322-4377-9448-81C0EB29BE26}"/>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33</a:t>
            </a:r>
          </a:p>
        </p:txBody>
      </p:sp>
      <p:sp>
        <p:nvSpPr>
          <p:cNvPr id="5" name="">
            <a:extLst xmlns:a="http://schemas.openxmlformats.org/drawingml/2006/main">
              <a:ext uri="{FF2B5EF4-FFF2-40B4-BE49-F238E27FC236}">
                <a16:creationId xmlns:a16="http://schemas.microsoft.com/office/drawing/2014/main" id="{1B37AFB6-72A4-451A-AEF6-3B87CEB2134C}"/>
              </a:ext>
            </a:extLst>
          </p:cNvPr>
          <p:cNvSpPr>
            <a:spLocks xmlns:a="http://schemas.openxmlformats.org/drawingml/2006/main" noGrp="1"/>
          </p:cNvSpPr>
          <p:nvPr/>
        </p:nvSpPr>
        <p:spPr>
          <a:xfrm xmlns:a="http://schemas.openxmlformats.org/drawingml/2006/main">
            <a:off x="514350" y="1181100"/>
            <a:ext cx="10858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314158"/>
                </a:solidFill>
              </a:defRPr>
            </a:pPr>
            <a:r>
              <a:rPr sz="1275">
                <a:solidFill>
                  <a:srgbClr val="314158"/>
                </a:solidFill>
              </a:rPr>
              <a:t>Dupa finalizare, rezultatul evaluarii poate fi comunicat cadrului didactic si pastrat in evidenta ca document oficial, impreuna cu eventualele contestatii si rezolvari.</a:t>
            </a:r>
          </a:p>
        </p:txBody>
      </p:sp>
      <p:sp>
        <p:nvSpPr>
          <p:cNvPr id="6" name="">
            <a:extLst xmlns:a="http://schemas.openxmlformats.org/drawingml/2006/main">
              <a:ext uri="{FF2B5EF4-FFF2-40B4-BE49-F238E27FC236}">
                <a16:creationId xmlns:a16="http://schemas.microsoft.com/office/drawing/2014/main" id="{5D1B8195-8E5F-4880-9D45-C50363986C90}"/>
              </a:ext>
            </a:extLst>
          </p:cNvPr>
          <p:cNvSpPr>
            <a:spLocks xmlns:a="http://schemas.openxmlformats.org/drawingml/2006/main" noGrp="1"/>
          </p:cNvSpPr>
          <p:nvPr/>
        </p:nvSpPr>
        <p:spPr>
          <a:xfrm xmlns:a="http://schemas.openxmlformats.org/drawingml/2006/main">
            <a:off x="514350"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412DF04C-8D73-4BD6-A447-4B861A5D1C1B}"/>
              </a:ext>
            </a:extLst>
          </p:cNvPr>
          <p:cNvSpPr>
            <a:spLocks xmlns:a="http://schemas.openxmlformats.org/drawingml/2006/main" noGrp="1"/>
          </p:cNvSpPr>
          <p:nvPr/>
        </p:nvSpPr>
        <p:spPr>
          <a:xfrm xmlns:a="http://schemas.openxmlformats.org/drawingml/2006/main">
            <a:off x="666750" y="23431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Finalizare</a:t>
            </a:r>
          </a:p>
        </p:txBody>
      </p:sp>
      <p:sp>
        <p:nvSpPr>
          <p:cNvPr id="8" name="">
            <a:extLst xmlns:a="http://schemas.openxmlformats.org/drawingml/2006/main">
              <a:ext uri="{FF2B5EF4-FFF2-40B4-BE49-F238E27FC236}">
                <a16:creationId xmlns:a16="http://schemas.microsoft.com/office/drawing/2014/main" id="{EFEC920A-7C8A-47BD-8E0C-E6CF03819F76}"/>
              </a:ext>
            </a:extLst>
          </p:cNvPr>
          <p:cNvSpPr>
            <a:spLocks xmlns:a="http://schemas.openxmlformats.org/drawingml/2006/main" noGrp="1"/>
          </p:cNvSpPr>
          <p:nvPr/>
        </p:nvSpPr>
        <p:spPr>
          <a:xfrm xmlns:a="http://schemas.openxmlformats.org/drawingml/2006/main">
            <a:off x="666750"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Evaluatorul inchide evaluarea cu punctajul si calificativul final.</a:t>
            </a:r>
          </a:p>
        </p:txBody>
      </p:sp>
      <p:sp>
        <p:nvSpPr>
          <p:cNvPr id="9" name="">
            <a:extLst xmlns:a="http://schemas.openxmlformats.org/drawingml/2006/main">
              <a:ext uri="{FF2B5EF4-FFF2-40B4-BE49-F238E27FC236}">
                <a16:creationId xmlns:a16="http://schemas.microsoft.com/office/drawing/2014/main" id="{BD9CEE3D-9372-4077-A5CE-C79F248CBEED}"/>
              </a:ext>
            </a:extLst>
          </p:cNvPr>
          <p:cNvSpPr>
            <a:spLocks xmlns:a="http://schemas.openxmlformats.org/drawingml/2006/main" noGrp="1"/>
          </p:cNvSpPr>
          <p:nvPr/>
        </p:nvSpPr>
        <p:spPr>
          <a:xfrm xmlns:a="http://schemas.openxmlformats.org/drawingml/2006/main">
            <a:off x="6086475"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86E4E88D-A2BF-40BA-9656-9323F373FCA6}"/>
              </a:ext>
            </a:extLst>
          </p:cNvPr>
          <p:cNvSpPr>
            <a:spLocks xmlns:a="http://schemas.openxmlformats.org/drawingml/2006/main" noGrp="1"/>
          </p:cNvSpPr>
          <p:nvPr/>
        </p:nvSpPr>
        <p:spPr>
          <a:xfrm xmlns:a="http://schemas.openxmlformats.org/drawingml/2006/main">
            <a:off x="6238875" y="234315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Comunicare</a:t>
            </a:r>
          </a:p>
        </p:txBody>
      </p:sp>
      <p:sp>
        <p:nvSpPr>
          <p:cNvPr id="11" name="">
            <a:extLst xmlns:a="http://schemas.openxmlformats.org/drawingml/2006/main">
              <a:ext uri="{FF2B5EF4-FFF2-40B4-BE49-F238E27FC236}">
                <a16:creationId xmlns:a16="http://schemas.microsoft.com/office/drawing/2014/main" id="{1DA697D8-E54E-44DA-99B4-71409AE038B4}"/>
              </a:ext>
            </a:extLst>
          </p:cNvPr>
          <p:cNvSpPr>
            <a:spLocks xmlns:a="http://schemas.openxmlformats.org/drawingml/2006/main" noGrp="1"/>
          </p:cNvSpPr>
          <p:nvPr/>
        </p:nvSpPr>
        <p:spPr>
          <a:xfrm xmlns:a="http://schemas.openxmlformats.org/drawingml/2006/main">
            <a:off x="6238875"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Rezultatul poate fi emis ca document si asociat cu dosarul de personal.</a:t>
            </a:r>
          </a:p>
        </p:txBody>
      </p:sp>
      <p:sp>
        <p:nvSpPr>
          <p:cNvPr id="12" name="">
            <a:extLst xmlns:a="http://schemas.openxmlformats.org/drawingml/2006/main">
              <a:ext uri="{FF2B5EF4-FFF2-40B4-BE49-F238E27FC236}">
                <a16:creationId xmlns:a16="http://schemas.microsoft.com/office/drawing/2014/main" id="{696EB965-6A35-4AF1-AEE4-A09D1FB9661A}"/>
              </a:ext>
            </a:extLst>
          </p:cNvPr>
          <p:cNvSpPr>
            <a:spLocks xmlns:a="http://schemas.openxmlformats.org/drawingml/2006/main" noGrp="1"/>
          </p:cNvSpPr>
          <p:nvPr/>
        </p:nvSpPr>
        <p:spPr>
          <a:xfrm xmlns:a="http://schemas.openxmlformats.org/drawingml/2006/main">
            <a:off x="514350" y="401955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07586BA8-2368-42ED-A9D2-C1A73BB1EF1F}"/>
              </a:ext>
            </a:extLst>
          </p:cNvPr>
          <p:cNvSpPr>
            <a:spLocks xmlns:a="http://schemas.openxmlformats.org/drawingml/2006/main" noGrp="1"/>
          </p:cNvSpPr>
          <p:nvPr/>
        </p:nvSpPr>
        <p:spPr>
          <a:xfrm xmlns:a="http://schemas.openxmlformats.org/drawingml/2006/main">
            <a:off x="666750" y="415290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Contestatie</a:t>
            </a:r>
          </a:p>
        </p:txBody>
      </p:sp>
      <p:sp>
        <p:nvSpPr>
          <p:cNvPr id="14" name="">
            <a:extLst xmlns:a="http://schemas.openxmlformats.org/drawingml/2006/main">
              <a:ext uri="{FF2B5EF4-FFF2-40B4-BE49-F238E27FC236}">
                <a16:creationId xmlns:a16="http://schemas.microsoft.com/office/drawing/2014/main" id="{E5806359-306D-4576-8F6B-2A933253B53C}"/>
              </a:ext>
            </a:extLst>
          </p:cNvPr>
          <p:cNvSpPr>
            <a:spLocks xmlns:a="http://schemas.openxmlformats.org/drawingml/2006/main" noGrp="1"/>
          </p:cNvSpPr>
          <p:nvPr/>
        </p:nvSpPr>
        <p:spPr>
          <a:xfrm xmlns:a="http://schemas.openxmlformats.org/drawingml/2006/main">
            <a:off x="666750" y="451485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Daca apare o contestatie, aceasta ramane legata de evaluare si de rezultatul final.</a:t>
            </a:r>
          </a:p>
        </p:txBody>
      </p:sp>
      <p:sp>
        <p:nvSpPr>
          <p:cNvPr id="15" name="">
            <a:extLst xmlns:a="http://schemas.openxmlformats.org/drawingml/2006/main">
              <a:ext uri="{FF2B5EF4-FFF2-40B4-BE49-F238E27FC236}">
                <a16:creationId xmlns:a16="http://schemas.microsoft.com/office/drawing/2014/main" id="{80B91DF7-1658-46F8-BF4C-7E07B43C138D}"/>
              </a:ext>
            </a:extLst>
          </p:cNvPr>
          <p:cNvSpPr>
            <a:spLocks xmlns:a="http://schemas.openxmlformats.org/drawingml/2006/main" noGrp="1"/>
          </p:cNvSpPr>
          <p:nvPr/>
        </p:nvSpPr>
        <p:spPr>
          <a:xfrm xmlns:a="http://schemas.openxmlformats.org/drawingml/2006/main">
            <a:off x="514350" y="5676900"/>
            <a:ext cx="1085850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71B664D6-9777-40EB-A570-7A1C3B5551EB}"/>
              </a:ext>
            </a:extLst>
          </p:cNvPr>
          <p:cNvSpPr>
            <a:spLocks xmlns:a="http://schemas.openxmlformats.org/drawingml/2006/main" noGrp="1"/>
          </p:cNvSpPr>
          <p:nvPr/>
        </p:nvSpPr>
        <p:spPr>
          <a:xfrm xmlns:a="http://schemas.openxmlformats.org/drawingml/2006/main">
            <a:off x="666750" y="5810250"/>
            <a:ext cx="1055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se foloseste in practica: Dupa finalizare, rezultatul evaluarii poate fi comunicat cadrului didactic si pastrat in evidenta ca document oficial, impreuna cu eventualele contestatii si rezolvari. Finalizare: Evaluatorul inchide evaluarea cu punctajul si calificativul final. Comunicare: Rezultatul poate fi emis ca document si asociat cu dosarul de personal. Contestatie: Daca apare o contestatie, aceasta ramane legata de evaluare si de rezultatul final.</a:t>
            </a:r>
          </a:p>
        </p:txBody>
      </p:sp>
      <p:sp>
        <p:nvSpPr>
          <p:cNvPr id="17" name="">
            <a:extLst xmlns:a="http://schemas.openxmlformats.org/drawingml/2006/main">
              <a:ext uri="{FF2B5EF4-FFF2-40B4-BE49-F238E27FC236}">
                <a16:creationId xmlns:a16="http://schemas.microsoft.com/office/drawing/2014/main" id="{8D18D5C8-4FFB-43AA-B81F-FC7EEB3A09C8}"/>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8" name="">
            <a:extLst xmlns:a="http://schemas.openxmlformats.org/drawingml/2006/main">
              <a:ext uri="{FF2B5EF4-FFF2-40B4-BE49-F238E27FC236}">
                <a16:creationId xmlns:a16="http://schemas.microsoft.com/office/drawing/2014/main" id="{147F7BD8-3077-4E77-856C-F5707BC9FAFC}"/>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Evaluare - comunicarea rezultatului</a:t>
            </a:r>
          </a:p>
        </p:txBody>
      </p:sp>
    </p:spTree>
    <p:extLst>
      <p:ext uri="{BB962C8B-B14F-4D97-AF65-F5344CB8AC3E}">
        <p14:creationId xmlns:p14="http://schemas.microsoft.com/office/powerpoint/2010/main" val="41201124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179F298-1782-4ACC-A2FD-149B89ABF0F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E8DC5E19-3E11-4D3D-B3D4-EE543A17A95D}"/>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Declaratii si documente asumate</a:t>
            </a:r>
          </a:p>
        </p:txBody>
      </p:sp>
      <p:sp>
        <p:nvSpPr>
          <p:cNvPr id="3" name="">
            <a:extLst xmlns:a="http://schemas.openxmlformats.org/drawingml/2006/main">
              <a:ext uri="{FF2B5EF4-FFF2-40B4-BE49-F238E27FC236}">
                <a16:creationId xmlns:a16="http://schemas.microsoft.com/office/drawing/2014/main" id="{66077FF5-7E1F-4C7A-9A8C-989E8A5AF095}"/>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Wizard declaratie</a:t>
            </a:r>
          </a:p>
        </p:txBody>
      </p:sp>
      <p:sp>
        <p:nvSpPr>
          <p:cNvPr id="4" name="">
            <a:extLst xmlns:a="http://schemas.openxmlformats.org/drawingml/2006/main">
              <a:ext uri="{FF2B5EF4-FFF2-40B4-BE49-F238E27FC236}">
                <a16:creationId xmlns:a16="http://schemas.microsoft.com/office/drawing/2014/main" id="{719F797E-9772-4AC9-B2D7-5D1D2974266A}"/>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34</a:t>
            </a:r>
          </a:p>
        </p:txBody>
      </p:sp>
      <p:sp>
        <p:nvSpPr>
          <p:cNvPr id="5" name="">
            <a:extLst xmlns:a="http://schemas.openxmlformats.org/drawingml/2006/main">
              <a:ext uri="{FF2B5EF4-FFF2-40B4-BE49-F238E27FC236}">
                <a16:creationId xmlns:a16="http://schemas.microsoft.com/office/drawing/2014/main" id="{17F3B47C-3078-4246-BE67-0880AAE761A2}"/>
              </a:ext>
            </a:extLst>
          </p:cNvPr>
          <p:cNvSpPr>
            <a:spLocks xmlns:a="http://schemas.openxmlformats.org/drawingml/2006/main" noGrp="1"/>
          </p:cNvSpPr>
          <p:nvPr/>
        </p:nvSpPr>
        <p:spPr>
          <a:xfrm xmlns:a="http://schemas.openxmlformats.org/drawingml/2006/main">
            <a:off x="514350" y="114300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Declaratiile sunt inregistrate simplu, cu tip, data, valabilitate si traseu de verificare. Utilizatorul vede usor ce este depus, validat sau expirat.</a:t>
            </a:r>
          </a:p>
        </p:txBody>
      </p:sp>
      <p:sp>
        <p:nvSpPr>
          <p:cNvPr id="6" name="">
            <a:extLst xmlns:a="http://schemas.openxmlformats.org/drawingml/2006/main">
              <a:ext uri="{FF2B5EF4-FFF2-40B4-BE49-F238E27FC236}">
                <a16:creationId xmlns:a16="http://schemas.microsoft.com/office/drawing/2014/main" id="{D1A3D85D-7EA1-4BB2-A80B-248BF1FE7E68}"/>
              </a:ext>
            </a:extLst>
          </p:cNvPr>
          <p:cNvSpPr>
            <a:spLocks xmlns:a="http://schemas.openxmlformats.org/drawingml/2006/main" noGrp="1"/>
          </p:cNvSpPr>
          <p:nvPr/>
        </p:nvSpPr>
        <p:spPr>
          <a:xfrm xmlns:a="http://schemas.openxmlformats.org/drawingml/2006/main">
            <a:off x="514350" y="1981200"/>
            <a:ext cx="4095750" cy="224790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1E5E456D-9370-4C74-897B-519CA8DB37CA}"/>
              </a:ext>
            </a:extLst>
          </p:cNvPr>
          <p:cNvSpPr>
            <a:spLocks xmlns:a="http://schemas.openxmlformats.org/drawingml/2006/main" noGrp="1"/>
          </p:cNvSpPr>
          <p:nvPr/>
        </p:nvSpPr>
        <p:spPr>
          <a:xfrm xmlns:a="http://schemas.openxmlformats.org/drawingml/2006/main">
            <a:off x="666750" y="21145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Ce face utilizatorul</a:t>
            </a:r>
          </a:p>
        </p:txBody>
      </p:sp>
      <p:sp>
        <p:nvSpPr>
          <p:cNvPr id="8" name="">
            <a:extLst xmlns:a="http://schemas.openxmlformats.org/drawingml/2006/main">
              <a:ext uri="{FF2B5EF4-FFF2-40B4-BE49-F238E27FC236}">
                <a16:creationId xmlns:a16="http://schemas.microsoft.com/office/drawing/2014/main" id="{67995E25-2910-4B01-8D0D-085D8CF4CDC5}"/>
              </a:ext>
            </a:extLst>
          </p:cNvPr>
          <p:cNvSpPr>
            <a:spLocks xmlns:a="http://schemas.openxmlformats.org/drawingml/2006/main" noGrp="1"/>
          </p:cNvSpPr>
          <p:nvPr/>
        </p:nvSpPr>
        <p:spPr>
          <a:xfrm xmlns:a="http://schemas.openxmlformats.org/drawingml/2006/main">
            <a:off x="666750" y="2476500"/>
            <a:ext cx="37909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Alegi tipul declaratiei si cadrul didactic.</a:t>
            </a:r>
          </a:p>
          <a:p xmlns:a="http://schemas.openxmlformats.org/drawingml/2006/main">
            <a:pPr>
              <a:defRPr sz="1125">
                <a:solidFill>
                  <a:srgbClr val="314158"/>
                </a:solidFill>
              </a:defRPr>
            </a:pPr>
            <a:r>
              <a:rPr sz="1125">
                <a:solidFill>
                  <a:srgbClr val="314158"/>
                </a:solidFill>
              </a:rPr>
              <a:t>• Completezi datele de depunere si valabilitate.</a:t>
            </a:r>
          </a:p>
          <a:p xmlns:a="http://schemas.openxmlformats.org/drawingml/2006/main">
            <a:pPr>
              <a:defRPr sz="1125">
                <a:solidFill>
                  <a:srgbClr val="314158"/>
                </a:solidFill>
              </a:defRPr>
            </a:pPr>
            <a:r>
              <a:rPr sz="1125">
                <a:solidFill>
                  <a:srgbClr val="314158"/>
                </a:solidFill>
              </a:rPr>
              <a:t>• Salvezi declaratia pentru evidenta si audit.</a:t>
            </a:r>
          </a:p>
        </p:txBody>
      </p:sp>
      <p:sp>
        <p:nvSpPr>
          <p:cNvPr id="9" name="">
            <a:extLst xmlns:a="http://schemas.openxmlformats.org/drawingml/2006/main">
              <a:ext uri="{FF2B5EF4-FFF2-40B4-BE49-F238E27FC236}">
                <a16:creationId xmlns:a16="http://schemas.microsoft.com/office/drawing/2014/main" id="{75A21505-F54C-45FC-A4FE-DE6699DD6550}"/>
              </a:ext>
            </a:extLst>
          </p:cNvPr>
          <p:cNvSpPr>
            <a:spLocks xmlns:a="http://schemas.openxmlformats.org/drawingml/2006/main" noGrp="1"/>
          </p:cNvSpPr>
          <p:nvPr/>
        </p:nvSpPr>
        <p:spPr>
          <a:xfrm xmlns:a="http://schemas.openxmlformats.org/drawingml/2006/main">
            <a:off x="514350" y="4381500"/>
            <a:ext cx="4095750" cy="11430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C2509E5D-8CA4-4A58-9EFA-2A17E33EED1C}"/>
              </a:ext>
            </a:extLst>
          </p:cNvPr>
          <p:cNvSpPr>
            <a:spLocks xmlns:a="http://schemas.openxmlformats.org/drawingml/2006/main" noGrp="1"/>
          </p:cNvSpPr>
          <p:nvPr/>
        </p:nvSpPr>
        <p:spPr>
          <a:xfrm xmlns:a="http://schemas.openxmlformats.org/drawingml/2006/main">
            <a:off x="666750" y="451485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Cum se foloseste ecranul</a:t>
            </a:r>
          </a:p>
        </p:txBody>
      </p:sp>
      <p:sp>
        <p:nvSpPr>
          <p:cNvPr id="11" name="">
            <a:extLst xmlns:a="http://schemas.openxmlformats.org/drawingml/2006/main">
              <a:ext uri="{FF2B5EF4-FFF2-40B4-BE49-F238E27FC236}">
                <a16:creationId xmlns:a16="http://schemas.microsoft.com/office/drawing/2014/main" id="{5B230CD9-3574-41FC-8B2A-D85332C3F3E8}"/>
              </a:ext>
            </a:extLst>
          </p:cNvPr>
          <p:cNvSpPr>
            <a:spLocks xmlns:a="http://schemas.openxmlformats.org/drawingml/2006/main" noGrp="1"/>
          </p:cNvSpPr>
          <p:nvPr/>
        </p:nvSpPr>
        <p:spPr>
          <a:xfrm xmlns:a="http://schemas.openxmlformats.org/drawingml/2006/main">
            <a:off x="666750" y="4876800"/>
            <a:ext cx="3790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Utilizatorul porneste din acest ecran, completeaza informatiile necesare si verifica sumarul inainte de a salva sau de a trimite fluxul mai departe. La final, documentele asumate raman centralizate si usor de reinnoit la timp.</a:t>
            </a:r>
          </a:p>
        </p:txBody>
      </p:sp>
      <p:sp>
        <p:nvSpPr>
          <p:cNvPr id="12" name="">
            <a:extLst xmlns:a="http://schemas.openxmlformats.org/drawingml/2006/main">
              <a:ext uri="{FF2B5EF4-FFF2-40B4-BE49-F238E27FC236}">
                <a16:creationId xmlns:a16="http://schemas.microsoft.com/office/drawing/2014/main" id="{F641B847-0A9E-48EB-94A8-7C0CD0022ED7}"/>
              </a:ext>
            </a:extLst>
          </p:cNvPr>
          <p:cNvSpPr>
            <a:spLocks xmlns:a="http://schemas.openxmlformats.org/drawingml/2006/main" noGrp="1"/>
          </p:cNvSpPr>
          <p:nvPr/>
        </p:nvSpPr>
        <p:spPr>
          <a:xfrm xmlns:a="http://schemas.openxmlformats.org/drawingml/2006/main">
            <a:off x="514350" y="5657850"/>
            <a:ext cx="409575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CAF4207E-3FD7-4877-8CFF-42B3FC880021}"/>
              </a:ext>
            </a:extLst>
          </p:cNvPr>
          <p:cNvSpPr>
            <a:spLocks xmlns:a="http://schemas.openxmlformats.org/drawingml/2006/main" noGrp="1"/>
          </p:cNvSpPr>
          <p:nvPr/>
        </p:nvSpPr>
        <p:spPr>
          <a:xfrm xmlns:a="http://schemas.openxmlformats.org/drawingml/2006/main">
            <a:off x="666750" y="5791200"/>
            <a:ext cx="3790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Rezultat final: Documentele asumate raman centralizate si usor de reinnoit la timp.</a:t>
            </a:r>
          </a:p>
        </p:txBody>
      </p:sp>
      <p:sp>
        <p:nvSpPr>
          <p:cNvPr id="14" name="">
            <a:extLst xmlns:a="http://schemas.openxmlformats.org/drawingml/2006/main">
              <a:ext uri="{FF2B5EF4-FFF2-40B4-BE49-F238E27FC236}">
                <a16:creationId xmlns:a16="http://schemas.microsoft.com/office/drawing/2014/main" id="{690C68DE-6D65-4DCC-82D7-71C789D86269}"/>
              </a:ext>
            </a:extLst>
          </p:cNvPr>
          <p:cNvSpPr>
            <a:spLocks xmlns:a="http://schemas.openxmlformats.org/drawingml/2006/main" noGrp="1"/>
          </p:cNvSpPr>
          <p:nvPr/>
        </p:nvSpPr>
        <p:spPr>
          <a:xfrm xmlns:a="http://schemas.openxmlformats.org/drawingml/2006/main">
            <a:off x="4895850" y="1981200"/>
            <a:ext cx="6610350" cy="37338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2f06a680c05b413d"/>
          <a:stretch xmlns:a="http://schemas.openxmlformats.org/drawingml/2006/main"/>
        </p:blipFill>
        <p:spPr>
          <a:xfrm xmlns:a="http://schemas.openxmlformats.org/drawingml/2006/main">
            <a:off x="5085292" y="2095500"/>
            <a:ext cx="6231467" cy="3505200"/>
          </a:xfrm>
          <a:prstGeom xmlns:a="http://schemas.openxmlformats.org/drawingml/2006/main" prst="roundRect">
            <a:avLst>
              <a:gd name="adj" fmla="val 3261"/>
            </a:avLst>
          </a:prstGeom>
        </p:spPr>
      </p:pic>
      <p:sp>
        <p:nvSpPr>
          <p:cNvPr id="16" name="">
            <a:extLst xmlns:a="http://schemas.openxmlformats.org/drawingml/2006/main">
              <a:ext uri="{FF2B5EF4-FFF2-40B4-BE49-F238E27FC236}">
                <a16:creationId xmlns:a16="http://schemas.microsoft.com/office/drawing/2014/main" id="{A2CBF9CA-E91A-44C8-9A79-2E637489DF3D}"/>
              </a:ext>
            </a:extLst>
          </p:cNvPr>
          <p:cNvSpPr>
            <a:spLocks xmlns:a="http://schemas.openxmlformats.org/drawingml/2006/main" noGrp="1"/>
          </p:cNvSpPr>
          <p:nvPr/>
        </p:nvSpPr>
        <p:spPr>
          <a:xfrm xmlns:a="http://schemas.openxmlformats.org/drawingml/2006/main">
            <a:off x="4895850" y="5772150"/>
            <a:ext cx="6610350" cy="476250"/>
          </a:xfrm>
          <a:prstGeom xmlns:a="http://schemas.openxmlformats.org/drawingml/2006/main" prst="roundRect">
            <a:avLst>
              <a:gd name="adj" fmla="val 32000"/>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D64039ED-41B3-4AD8-9C3F-D39E9E838DBF}"/>
              </a:ext>
            </a:extLst>
          </p:cNvPr>
          <p:cNvSpPr>
            <a:spLocks xmlns:a="http://schemas.openxmlformats.org/drawingml/2006/main" noGrp="1"/>
          </p:cNvSpPr>
          <p:nvPr/>
        </p:nvSpPr>
        <p:spPr>
          <a:xfrm xmlns:a="http://schemas.openxmlformats.org/drawingml/2006/main">
            <a:off x="5048250" y="5905500"/>
            <a:ext cx="6305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Ce observi in captura: Captura prezinta ecranul real folosit de utilizator in wizard declaratie, cu zonele de lista, filtrare, completare si actiune vizibile exact asa cum apar in aplicatie.</a:t>
            </a:r>
          </a:p>
        </p:txBody>
      </p:sp>
      <p:sp>
        <p:nvSpPr>
          <p:cNvPr id="18" name="">
            <a:extLst xmlns:a="http://schemas.openxmlformats.org/drawingml/2006/main">
              <a:ext uri="{FF2B5EF4-FFF2-40B4-BE49-F238E27FC236}">
                <a16:creationId xmlns:a16="http://schemas.microsoft.com/office/drawing/2014/main" id="{5CA2AA15-29F2-4B90-B4DA-B5C95A53EB31}"/>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9" name="">
            <a:extLst xmlns:a="http://schemas.openxmlformats.org/drawingml/2006/main">
              <a:ext uri="{FF2B5EF4-FFF2-40B4-BE49-F238E27FC236}">
                <a16:creationId xmlns:a16="http://schemas.microsoft.com/office/drawing/2014/main" id="{A9F400A8-EB18-48CB-9A6A-B47E9ADB98CA}"/>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Declaratii</a:t>
            </a:r>
          </a:p>
        </p:txBody>
      </p:sp>
    </p:spTree>
    <p:extLst>
      <p:ext uri="{BB962C8B-B14F-4D97-AF65-F5344CB8AC3E}">
        <p14:creationId xmlns:p14="http://schemas.microsoft.com/office/powerpoint/2010/main" val="327033231"/>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F3ABF1A-DC33-4F17-B716-B28CE2F96F7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3D918C3C-F4A0-4062-A9CA-F23B64B2035F}"/>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Mobilitate</a:t>
            </a:r>
          </a:p>
        </p:txBody>
      </p:sp>
      <p:sp>
        <p:nvSpPr>
          <p:cNvPr id="3" name="">
            <a:extLst xmlns:a="http://schemas.openxmlformats.org/drawingml/2006/main">
              <a:ext uri="{FF2B5EF4-FFF2-40B4-BE49-F238E27FC236}">
                <a16:creationId xmlns:a16="http://schemas.microsoft.com/office/drawing/2014/main" id="{B54F8F44-5E6E-4BFF-8485-D23D890BF185}"/>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Wizard mobilitate - deschidere caz</a:t>
            </a:r>
          </a:p>
        </p:txBody>
      </p:sp>
      <p:sp>
        <p:nvSpPr>
          <p:cNvPr id="4" name="">
            <a:extLst xmlns:a="http://schemas.openxmlformats.org/drawingml/2006/main">
              <a:ext uri="{FF2B5EF4-FFF2-40B4-BE49-F238E27FC236}">
                <a16:creationId xmlns:a16="http://schemas.microsoft.com/office/drawing/2014/main" id="{FA2B6693-90CD-40D6-84F0-600ACA83687D}"/>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35</a:t>
            </a:r>
          </a:p>
        </p:txBody>
      </p:sp>
      <p:sp>
        <p:nvSpPr>
          <p:cNvPr id="5" name="">
            <a:extLst xmlns:a="http://schemas.openxmlformats.org/drawingml/2006/main">
              <a:ext uri="{FF2B5EF4-FFF2-40B4-BE49-F238E27FC236}">
                <a16:creationId xmlns:a16="http://schemas.microsoft.com/office/drawing/2014/main" id="{FA2CD191-51E5-4DE3-A58C-C5C11AF97A71}"/>
              </a:ext>
            </a:extLst>
          </p:cNvPr>
          <p:cNvSpPr>
            <a:spLocks xmlns:a="http://schemas.openxmlformats.org/drawingml/2006/main" noGrp="1"/>
          </p:cNvSpPr>
          <p:nvPr/>
        </p:nvSpPr>
        <p:spPr>
          <a:xfrm xmlns:a="http://schemas.openxmlformats.org/drawingml/2006/main">
            <a:off x="514350" y="114300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Cazurile de mobilitate sunt gestionate ca dosare distincte, cu tip de solicitare, etapa, documente si analiza administrativa.</a:t>
            </a:r>
          </a:p>
        </p:txBody>
      </p:sp>
      <p:sp>
        <p:nvSpPr>
          <p:cNvPr id="6" name="">
            <a:extLst xmlns:a="http://schemas.openxmlformats.org/drawingml/2006/main">
              <a:ext uri="{FF2B5EF4-FFF2-40B4-BE49-F238E27FC236}">
                <a16:creationId xmlns:a16="http://schemas.microsoft.com/office/drawing/2014/main" id="{9B46CB3D-90FE-4768-93F8-23FDCF56784A}"/>
              </a:ext>
            </a:extLst>
          </p:cNvPr>
          <p:cNvSpPr>
            <a:spLocks xmlns:a="http://schemas.openxmlformats.org/drawingml/2006/main" noGrp="1"/>
          </p:cNvSpPr>
          <p:nvPr/>
        </p:nvSpPr>
        <p:spPr>
          <a:xfrm xmlns:a="http://schemas.openxmlformats.org/drawingml/2006/main">
            <a:off x="514350" y="1981200"/>
            <a:ext cx="4095750" cy="224790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9F0AECF6-330A-4C21-A717-B7AB18743536}"/>
              </a:ext>
            </a:extLst>
          </p:cNvPr>
          <p:cNvSpPr>
            <a:spLocks xmlns:a="http://schemas.openxmlformats.org/drawingml/2006/main" noGrp="1"/>
          </p:cNvSpPr>
          <p:nvPr/>
        </p:nvSpPr>
        <p:spPr>
          <a:xfrm xmlns:a="http://schemas.openxmlformats.org/drawingml/2006/main">
            <a:off x="666750" y="21145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Ce face utilizatorul</a:t>
            </a:r>
          </a:p>
        </p:txBody>
      </p:sp>
      <p:sp>
        <p:nvSpPr>
          <p:cNvPr id="8" name="">
            <a:extLst xmlns:a="http://schemas.openxmlformats.org/drawingml/2006/main">
              <a:ext uri="{FF2B5EF4-FFF2-40B4-BE49-F238E27FC236}">
                <a16:creationId xmlns:a16="http://schemas.microsoft.com/office/drawing/2014/main" id="{1635E6F1-4E39-47DB-A24C-B165A335DE0E}"/>
              </a:ext>
            </a:extLst>
          </p:cNvPr>
          <p:cNvSpPr>
            <a:spLocks xmlns:a="http://schemas.openxmlformats.org/drawingml/2006/main" noGrp="1"/>
          </p:cNvSpPr>
          <p:nvPr/>
        </p:nvSpPr>
        <p:spPr>
          <a:xfrm xmlns:a="http://schemas.openxmlformats.org/drawingml/2006/main">
            <a:off x="666750" y="2476500"/>
            <a:ext cx="37909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Selectezi cadrul didactic si tipul solicitarii.</a:t>
            </a:r>
          </a:p>
          <a:p xmlns:a="http://schemas.openxmlformats.org/drawingml/2006/main">
            <a:pPr>
              <a:defRPr sz="1125">
                <a:solidFill>
                  <a:srgbClr val="314158"/>
                </a:solidFill>
              </a:defRPr>
            </a:pPr>
            <a:r>
              <a:rPr sz="1125">
                <a:solidFill>
                  <a:srgbClr val="314158"/>
                </a:solidFill>
              </a:rPr>
              <a:t>• Completezi unitatea sursa, destinatia si etapa curenta.</a:t>
            </a:r>
          </a:p>
          <a:p xmlns:a="http://schemas.openxmlformats.org/drawingml/2006/main">
            <a:pPr>
              <a:defRPr sz="1125">
                <a:solidFill>
                  <a:srgbClr val="314158"/>
                </a:solidFill>
              </a:defRPr>
            </a:pPr>
            <a:r>
              <a:rPr sz="1125">
                <a:solidFill>
                  <a:srgbClr val="314158"/>
                </a:solidFill>
              </a:rPr>
              <a:t>• Salvezi dosarul pentru a putea adauga documente si decizii.</a:t>
            </a:r>
          </a:p>
        </p:txBody>
      </p:sp>
      <p:sp>
        <p:nvSpPr>
          <p:cNvPr id="9" name="">
            <a:extLst xmlns:a="http://schemas.openxmlformats.org/drawingml/2006/main">
              <a:ext uri="{FF2B5EF4-FFF2-40B4-BE49-F238E27FC236}">
                <a16:creationId xmlns:a16="http://schemas.microsoft.com/office/drawing/2014/main" id="{DA5201A3-6156-49E5-9AC5-0F6C93ACB0BB}"/>
              </a:ext>
            </a:extLst>
          </p:cNvPr>
          <p:cNvSpPr>
            <a:spLocks xmlns:a="http://schemas.openxmlformats.org/drawingml/2006/main" noGrp="1"/>
          </p:cNvSpPr>
          <p:nvPr/>
        </p:nvSpPr>
        <p:spPr>
          <a:xfrm xmlns:a="http://schemas.openxmlformats.org/drawingml/2006/main">
            <a:off x="514350" y="4381500"/>
            <a:ext cx="4095750" cy="11430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A17DA7DD-995C-4592-9995-C64D83EC7CC0}"/>
              </a:ext>
            </a:extLst>
          </p:cNvPr>
          <p:cNvSpPr>
            <a:spLocks xmlns:a="http://schemas.openxmlformats.org/drawingml/2006/main" noGrp="1"/>
          </p:cNvSpPr>
          <p:nvPr/>
        </p:nvSpPr>
        <p:spPr>
          <a:xfrm xmlns:a="http://schemas.openxmlformats.org/drawingml/2006/main">
            <a:off x="666750" y="451485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Cum se foloseste ecranul</a:t>
            </a:r>
          </a:p>
        </p:txBody>
      </p:sp>
      <p:sp>
        <p:nvSpPr>
          <p:cNvPr id="11" name="">
            <a:extLst xmlns:a="http://schemas.openxmlformats.org/drawingml/2006/main">
              <a:ext uri="{FF2B5EF4-FFF2-40B4-BE49-F238E27FC236}">
                <a16:creationId xmlns:a16="http://schemas.microsoft.com/office/drawing/2014/main" id="{48DF29B8-54ED-492A-B9DA-1B07C12804B5}"/>
              </a:ext>
            </a:extLst>
          </p:cNvPr>
          <p:cNvSpPr>
            <a:spLocks xmlns:a="http://schemas.openxmlformats.org/drawingml/2006/main" noGrp="1"/>
          </p:cNvSpPr>
          <p:nvPr/>
        </p:nvSpPr>
        <p:spPr>
          <a:xfrm xmlns:a="http://schemas.openxmlformats.org/drawingml/2006/main">
            <a:off x="666750" y="4876800"/>
            <a:ext cx="3790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Utilizatorul porneste din acest ecran, completeaza informatiile necesare si verifica sumarul inainte de a salva sau de a trimite fluxul mai departe. La final, cazul de mobilitate devine usor de urmarit de la depunere pana la decizie.</a:t>
            </a:r>
          </a:p>
        </p:txBody>
      </p:sp>
      <p:sp>
        <p:nvSpPr>
          <p:cNvPr id="12" name="">
            <a:extLst xmlns:a="http://schemas.openxmlformats.org/drawingml/2006/main">
              <a:ext uri="{FF2B5EF4-FFF2-40B4-BE49-F238E27FC236}">
                <a16:creationId xmlns:a16="http://schemas.microsoft.com/office/drawing/2014/main" id="{D1F48748-FA1D-4DA6-AC8B-02B71FC88B71}"/>
              </a:ext>
            </a:extLst>
          </p:cNvPr>
          <p:cNvSpPr>
            <a:spLocks xmlns:a="http://schemas.openxmlformats.org/drawingml/2006/main" noGrp="1"/>
          </p:cNvSpPr>
          <p:nvPr/>
        </p:nvSpPr>
        <p:spPr>
          <a:xfrm xmlns:a="http://schemas.openxmlformats.org/drawingml/2006/main">
            <a:off x="514350" y="5657850"/>
            <a:ext cx="409575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B7701D88-99A1-4F45-9778-A5945E7AE1CA}"/>
              </a:ext>
            </a:extLst>
          </p:cNvPr>
          <p:cNvSpPr>
            <a:spLocks xmlns:a="http://schemas.openxmlformats.org/drawingml/2006/main" noGrp="1"/>
          </p:cNvSpPr>
          <p:nvPr/>
        </p:nvSpPr>
        <p:spPr>
          <a:xfrm xmlns:a="http://schemas.openxmlformats.org/drawingml/2006/main">
            <a:off x="666750" y="5791200"/>
            <a:ext cx="3790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Rezultat final: Cazul de mobilitate devine usor de urmarit de la depunere pana la decizie.</a:t>
            </a:r>
          </a:p>
        </p:txBody>
      </p:sp>
      <p:sp>
        <p:nvSpPr>
          <p:cNvPr id="14" name="">
            <a:extLst xmlns:a="http://schemas.openxmlformats.org/drawingml/2006/main">
              <a:ext uri="{FF2B5EF4-FFF2-40B4-BE49-F238E27FC236}">
                <a16:creationId xmlns:a16="http://schemas.microsoft.com/office/drawing/2014/main" id="{17873F61-C902-48EB-B854-993A12BE7398}"/>
              </a:ext>
            </a:extLst>
          </p:cNvPr>
          <p:cNvSpPr>
            <a:spLocks xmlns:a="http://schemas.openxmlformats.org/drawingml/2006/main" noGrp="1"/>
          </p:cNvSpPr>
          <p:nvPr/>
        </p:nvSpPr>
        <p:spPr>
          <a:xfrm xmlns:a="http://schemas.openxmlformats.org/drawingml/2006/main">
            <a:off x="4895850" y="1981200"/>
            <a:ext cx="6610350" cy="37338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a6ef51f721504856"/>
          <a:stretch xmlns:a="http://schemas.openxmlformats.org/drawingml/2006/main"/>
        </p:blipFill>
        <p:spPr>
          <a:xfrm xmlns:a="http://schemas.openxmlformats.org/drawingml/2006/main">
            <a:off x="5085292" y="2095500"/>
            <a:ext cx="6231467" cy="3505200"/>
          </a:xfrm>
          <a:prstGeom xmlns:a="http://schemas.openxmlformats.org/drawingml/2006/main" prst="roundRect">
            <a:avLst>
              <a:gd name="adj" fmla="val 3261"/>
            </a:avLst>
          </a:prstGeom>
        </p:spPr>
      </p:pic>
      <p:sp>
        <p:nvSpPr>
          <p:cNvPr id="16" name="">
            <a:extLst xmlns:a="http://schemas.openxmlformats.org/drawingml/2006/main">
              <a:ext uri="{FF2B5EF4-FFF2-40B4-BE49-F238E27FC236}">
                <a16:creationId xmlns:a16="http://schemas.microsoft.com/office/drawing/2014/main" id="{B8BDD110-892B-4055-B996-EB175B88B4FF}"/>
              </a:ext>
            </a:extLst>
          </p:cNvPr>
          <p:cNvSpPr>
            <a:spLocks xmlns:a="http://schemas.openxmlformats.org/drawingml/2006/main" noGrp="1"/>
          </p:cNvSpPr>
          <p:nvPr/>
        </p:nvSpPr>
        <p:spPr>
          <a:xfrm xmlns:a="http://schemas.openxmlformats.org/drawingml/2006/main">
            <a:off x="4895850" y="5772150"/>
            <a:ext cx="6610350" cy="476250"/>
          </a:xfrm>
          <a:prstGeom xmlns:a="http://schemas.openxmlformats.org/drawingml/2006/main" prst="roundRect">
            <a:avLst>
              <a:gd name="adj" fmla="val 32000"/>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8804902F-121E-4427-99FD-7E7DD9D1B345}"/>
              </a:ext>
            </a:extLst>
          </p:cNvPr>
          <p:cNvSpPr>
            <a:spLocks xmlns:a="http://schemas.openxmlformats.org/drawingml/2006/main" noGrp="1"/>
          </p:cNvSpPr>
          <p:nvPr/>
        </p:nvSpPr>
        <p:spPr>
          <a:xfrm xmlns:a="http://schemas.openxmlformats.org/drawingml/2006/main">
            <a:off x="5048250" y="5905500"/>
            <a:ext cx="6305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Ce observi in captura: Captura prezinta ecranul real folosit de utilizator in wizard mobilitate - deschidere caz, cu zonele de lista, filtrare, completare si actiune vizibile exact asa cum apar in aplicatie.</a:t>
            </a:r>
          </a:p>
        </p:txBody>
      </p:sp>
      <p:sp>
        <p:nvSpPr>
          <p:cNvPr id="18" name="">
            <a:extLst xmlns:a="http://schemas.openxmlformats.org/drawingml/2006/main">
              <a:ext uri="{FF2B5EF4-FFF2-40B4-BE49-F238E27FC236}">
                <a16:creationId xmlns:a16="http://schemas.microsoft.com/office/drawing/2014/main" id="{B952424E-45B7-4A96-ACDD-4AFDA8AF815F}"/>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9" name="">
            <a:extLst xmlns:a="http://schemas.openxmlformats.org/drawingml/2006/main">
              <a:ext uri="{FF2B5EF4-FFF2-40B4-BE49-F238E27FC236}">
                <a16:creationId xmlns:a16="http://schemas.microsoft.com/office/drawing/2014/main" id="{5B678654-5C4E-4960-AC90-DB84EBC83E65}"/>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Mobilitate - deschiderea cazului</a:t>
            </a:r>
          </a:p>
        </p:txBody>
      </p:sp>
    </p:spTree>
    <p:extLst>
      <p:ext uri="{BB962C8B-B14F-4D97-AF65-F5344CB8AC3E}">
        <p14:creationId xmlns:p14="http://schemas.microsoft.com/office/powerpoint/2010/main" val="113433947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3137580-92DE-4C9E-A097-8D03E810FB2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6158EDE7-56CB-4638-8618-ECC79BA11575}"/>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Mobilitate</a:t>
            </a:r>
          </a:p>
        </p:txBody>
      </p:sp>
      <p:sp>
        <p:nvSpPr>
          <p:cNvPr id="3" name="">
            <a:extLst xmlns:a="http://schemas.openxmlformats.org/drawingml/2006/main">
              <a:ext uri="{FF2B5EF4-FFF2-40B4-BE49-F238E27FC236}">
                <a16:creationId xmlns:a16="http://schemas.microsoft.com/office/drawing/2014/main" id="{EEDEE372-A1A7-4E74-9A49-93AF933F1E46}"/>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Mobilitate - decizie si comunicare</a:t>
            </a:r>
          </a:p>
        </p:txBody>
      </p:sp>
      <p:sp>
        <p:nvSpPr>
          <p:cNvPr id="4" name="">
            <a:extLst xmlns:a="http://schemas.openxmlformats.org/drawingml/2006/main">
              <a:ext uri="{FF2B5EF4-FFF2-40B4-BE49-F238E27FC236}">
                <a16:creationId xmlns:a16="http://schemas.microsoft.com/office/drawing/2014/main" id="{77EC1E84-C6EC-4540-91F8-D1DE291591AE}"/>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36</a:t>
            </a:r>
          </a:p>
        </p:txBody>
      </p:sp>
      <p:sp>
        <p:nvSpPr>
          <p:cNvPr id="5" name="">
            <a:extLst xmlns:a="http://schemas.openxmlformats.org/drawingml/2006/main">
              <a:ext uri="{FF2B5EF4-FFF2-40B4-BE49-F238E27FC236}">
                <a16:creationId xmlns:a16="http://schemas.microsoft.com/office/drawing/2014/main" id="{927BB3FF-5AB9-44A7-807C-FF4EFF6152B9}"/>
              </a:ext>
            </a:extLst>
          </p:cNvPr>
          <p:cNvSpPr>
            <a:spLocks xmlns:a="http://schemas.openxmlformats.org/drawingml/2006/main" noGrp="1"/>
          </p:cNvSpPr>
          <p:nvPr/>
        </p:nvSpPr>
        <p:spPr>
          <a:xfrm xmlns:a="http://schemas.openxmlformats.org/drawingml/2006/main">
            <a:off x="514350" y="1181100"/>
            <a:ext cx="10858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314158"/>
                </a:solidFill>
              </a:defRPr>
            </a:pPr>
            <a:r>
              <a:rPr sz="1275">
                <a:solidFill>
                  <a:srgbClr val="314158"/>
                </a:solidFill>
              </a:rPr>
              <a:t>Dupa analiza si punctaj, sistemul pastreaza traseul de decizie si documentele rezultate, astfel incat comunicarea finala sa fie clara si demonstrabila.</a:t>
            </a:r>
          </a:p>
        </p:txBody>
      </p:sp>
      <p:sp>
        <p:nvSpPr>
          <p:cNvPr id="6" name="">
            <a:extLst xmlns:a="http://schemas.openxmlformats.org/drawingml/2006/main">
              <a:ext uri="{FF2B5EF4-FFF2-40B4-BE49-F238E27FC236}">
                <a16:creationId xmlns:a16="http://schemas.microsoft.com/office/drawing/2014/main" id="{C1D70DF4-9846-4F09-AE7A-26B9C41082AB}"/>
              </a:ext>
            </a:extLst>
          </p:cNvPr>
          <p:cNvSpPr>
            <a:spLocks xmlns:a="http://schemas.openxmlformats.org/drawingml/2006/main" noGrp="1"/>
          </p:cNvSpPr>
          <p:nvPr/>
        </p:nvSpPr>
        <p:spPr>
          <a:xfrm xmlns:a="http://schemas.openxmlformats.org/drawingml/2006/main">
            <a:off x="514350"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81514BDF-C186-484D-8C48-A6292233C481}"/>
              </a:ext>
            </a:extLst>
          </p:cNvPr>
          <p:cNvSpPr>
            <a:spLocks xmlns:a="http://schemas.openxmlformats.org/drawingml/2006/main" noGrp="1"/>
          </p:cNvSpPr>
          <p:nvPr/>
        </p:nvSpPr>
        <p:spPr>
          <a:xfrm xmlns:a="http://schemas.openxmlformats.org/drawingml/2006/main">
            <a:off x="666750" y="23431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Analiza</a:t>
            </a:r>
          </a:p>
        </p:txBody>
      </p:sp>
      <p:sp>
        <p:nvSpPr>
          <p:cNvPr id="8" name="">
            <a:extLst xmlns:a="http://schemas.openxmlformats.org/drawingml/2006/main">
              <a:ext uri="{FF2B5EF4-FFF2-40B4-BE49-F238E27FC236}">
                <a16:creationId xmlns:a16="http://schemas.microsoft.com/office/drawing/2014/main" id="{E3BEE8AC-28F9-4AB1-A915-CA23D9A041CB}"/>
              </a:ext>
            </a:extLst>
          </p:cNvPr>
          <p:cNvSpPr>
            <a:spLocks xmlns:a="http://schemas.openxmlformats.org/drawingml/2006/main" noGrp="1"/>
          </p:cNvSpPr>
          <p:nvPr/>
        </p:nvSpPr>
        <p:spPr>
          <a:xfrm xmlns:a="http://schemas.openxmlformats.org/drawingml/2006/main">
            <a:off x="666750"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Se adauga documentele, criteriile si observatiile necesare.</a:t>
            </a:r>
          </a:p>
        </p:txBody>
      </p:sp>
      <p:sp>
        <p:nvSpPr>
          <p:cNvPr id="9" name="">
            <a:extLst xmlns:a="http://schemas.openxmlformats.org/drawingml/2006/main">
              <a:ext uri="{FF2B5EF4-FFF2-40B4-BE49-F238E27FC236}">
                <a16:creationId xmlns:a16="http://schemas.microsoft.com/office/drawing/2014/main" id="{A061B31C-D25A-4AE5-A80F-62D3C5A1AC39}"/>
              </a:ext>
            </a:extLst>
          </p:cNvPr>
          <p:cNvSpPr>
            <a:spLocks xmlns:a="http://schemas.openxmlformats.org/drawingml/2006/main" noGrp="1"/>
          </p:cNvSpPr>
          <p:nvPr/>
        </p:nvSpPr>
        <p:spPr>
          <a:xfrm xmlns:a="http://schemas.openxmlformats.org/drawingml/2006/main">
            <a:off x="6086475"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17228CA4-B838-4DD4-8005-4ECCF6A56840}"/>
              </a:ext>
            </a:extLst>
          </p:cNvPr>
          <p:cNvSpPr>
            <a:spLocks xmlns:a="http://schemas.openxmlformats.org/drawingml/2006/main" noGrp="1"/>
          </p:cNvSpPr>
          <p:nvPr/>
        </p:nvSpPr>
        <p:spPr>
          <a:xfrm xmlns:a="http://schemas.openxmlformats.org/drawingml/2006/main">
            <a:off x="6238875" y="234315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Decizie</a:t>
            </a:r>
          </a:p>
        </p:txBody>
      </p:sp>
      <p:sp>
        <p:nvSpPr>
          <p:cNvPr id="11" name="">
            <a:extLst xmlns:a="http://schemas.openxmlformats.org/drawingml/2006/main">
              <a:ext uri="{FF2B5EF4-FFF2-40B4-BE49-F238E27FC236}">
                <a16:creationId xmlns:a16="http://schemas.microsoft.com/office/drawing/2014/main" id="{4B271441-7FD1-4C80-AE88-574426B48C54}"/>
              </a:ext>
            </a:extLst>
          </p:cNvPr>
          <p:cNvSpPr>
            <a:spLocks xmlns:a="http://schemas.openxmlformats.org/drawingml/2006/main" noGrp="1"/>
          </p:cNvSpPr>
          <p:nvPr/>
        </p:nvSpPr>
        <p:spPr>
          <a:xfrm xmlns:a="http://schemas.openxmlformats.org/drawingml/2006/main">
            <a:off x="6238875"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Rezultatul final este salvat in dosar si poate produce un document oficial.</a:t>
            </a:r>
          </a:p>
        </p:txBody>
      </p:sp>
      <p:sp>
        <p:nvSpPr>
          <p:cNvPr id="12" name="">
            <a:extLst xmlns:a="http://schemas.openxmlformats.org/drawingml/2006/main">
              <a:ext uri="{FF2B5EF4-FFF2-40B4-BE49-F238E27FC236}">
                <a16:creationId xmlns:a16="http://schemas.microsoft.com/office/drawing/2014/main" id="{36225D24-A849-40CD-AF43-D856E79B72DF}"/>
              </a:ext>
            </a:extLst>
          </p:cNvPr>
          <p:cNvSpPr>
            <a:spLocks xmlns:a="http://schemas.openxmlformats.org/drawingml/2006/main" noGrp="1"/>
          </p:cNvSpPr>
          <p:nvPr/>
        </p:nvSpPr>
        <p:spPr>
          <a:xfrm xmlns:a="http://schemas.openxmlformats.org/drawingml/2006/main">
            <a:off x="514350" y="401955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16E30C1E-5399-4DD4-AAAB-BF5B38C9CEDD}"/>
              </a:ext>
            </a:extLst>
          </p:cNvPr>
          <p:cNvSpPr>
            <a:spLocks xmlns:a="http://schemas.openxmlformats.org/drawingml/2006/main" noGrp="1"/>
          </p:cNvSpPr>
          <p:nvPr/>
        </p:nvSpPr>
        <p:spPr>
          <a:xfrm xmlns:a="http://schemas.openxmlformats.org/drawingml/2006/main">
            <a:off x="666750" y="415290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Comunicare</a:t>
            </a:r>
          </a:p>
        </p:txBody>
      </p:sp>
      <p:sp>
        <p:nvSpPr>
          <p:cNvPr id="14" name="">
            <a:extLst xmlns:a="http://schemas.openxmlformats.org/drawingml/2006/main">
              <a:ext uri="{FF2B5EF4-FFF2-40B4-BE49-F238E27FC236}">
                <a16:creationId xmlns:a16="http://schemas.microsoft.com/office/drawing/2014/main" id="{EB150E71-AAB4-4F78-AE14-7B6F3AF1954D}"/>
              </a:ext>
            </a:extLst>
          </p:cNvPr>
          <p:cNvSpPr>
            <a:spLocks xmlns:a="http://schemas.openxmlformats.org/drawingml/2006/main" noGrp="1"/>
          </p:cNvSpPr>
          <p:nvPr/>
        </p:nvSpPr>
        <p:spPr>
          <a:xfrm xmlns:a="http://schemas.openxmlformats.org/drawingml/2006/main">
            <a:off x="666750" y="451485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Rezultatul este usor de transmis si de regasit ulterior.</a:t>
            </a:r>
          </a:p>
        </p:txBody>
      </p:sp>
      <p:sp>
        <p:nvSpPr>
          <p:cNvPr id="15" name="">
            <a:extLst xmlns:a="http://schemas.openxmlformats.org/drawingml/2006/main">
              <a:ext uri="{FF2B5EF4-FFF2-40B4-BE49-F238E27FC236}">
                <a16:creationId xmlns:a16="http://schemas.microsoft.com/office/drawing/2014/main" id="{FC4B17A8-2861-4D06-835C-1D1E31C7C7B0}"/>
              </a:ext>
            </a:extLst>
          </p:cNvPr>
          <p:cNvSpPr>
            <a:spLocks xmlns:a="http://schemas.openxmlformats.org/drawingml/2006/main" noGrp="1"/>
          </p:cNvSpPr>
          <p:nvPr/>
        </p:nvSpPr>
        <p:spPr>
          <a:xfrm xmlns:a="http://schemas.openxmlformats.org/drawingml/2006/main">
            <a:off x="514350" y="5676900"/>
            <a:ext cx="1085850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7D5989CB-D399-4CC8-A59B-390235292DE8}"/>
              </a:ext>
            </a:extLst>
          </p:cNvPr>
          <p:cNvSpPr>
            <a:spLocks xmlns:a="http://schemas.openxmlformats.org/drawingml/2006/main" noGrp="1"/>
          </p:cNvSpPr>
          <p:nvPr/>
        </p:nvSpPr>
        <p:spPr>
          <a:xfrm xmlns:a="http://schemas.openxmlformats.org/drawingml/2006/main">
            <a:off x="666750" y="5810250"/>
            <a:ext cx="1055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se foloseste in practica: Dupa analiza si punctaj, sistemul pastreaza traseul de decizie si documentele rezultate, astfel incat comunicarea finala sa fie clara si demonstrabila. Analiza: Se adauga documentele, criteriile si observatiile necesare. Decizie: Rezultatul final este salvat in dosar si poate produce un document oficial. Comunicare: Rezultatul este usor de transmis si de regasit ulterior.</a:t>
            </a:r>
          </a:p>
        </p:txBody>
      </p:sp>
      <p:sp>
        <p:nvSpPr>
          <p:cNvPr id="17" name="">
            <a:extLst xmlns:a="http://schemas.openxmlformats.org/drawingml/2006/main">
              <a:ext uri="{FF2B5EF4-FFF2-40B4-BE49-F238E27FC236}">
                <a16:creationId xmlns:a16="http://schemas.microsoft.com/office/drawing/2014/main" id="{C2B4636C-8678-45E7-ADCF-A4B8CD62E9D3}"/>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8" name="">
            <a:extLst xmlns:a="http://schemas.openxmlformats.org/drawingml/2006/main">
              <a:ext uri="{FF2B5EF4-FFF2-40B4-BE49-F238E27FC236}">
                <a16:creationId xmlns:a16="http://schemas.microsoft.com/office/drawing/2014/main" id="{BA8F3167-8718-46D0-AF69-D9E75013399B}"/>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Mobilitate - etapa finala</a:t>
            </a:r>
          </a:p>
        </p:txBody>
      </p:sp>
    </p:spTree>
    <p:extLst>
      <p:ext uri="{BB962C8B-B14F-4D97-AF65-F5344CB8AC3E}">
        <p14:creationId xmlns:p14="http://schemas.microsoft.com/office/powerpoint/2010/main" val="199074106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DD7B657-D826-472F-BB9E-8974FAF17A3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6751C969-4BDA-459F-8258-733B3AC24F5E}"/>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Gradatii</a:t>
            </a:r>
          </a:p>
        </p:txBody>
      </p:sp>
      <p:sp>
        <p:nvSpPr>
          <p:cNvPr id="3" name="">
            <a:extLst xmlns:a="http://schemas.openxmlformats.org/drawingml/2006/main">
              <a:ext uri="{FF2B5EF4-FFF2-40B4-BE49-F238E27FC236}">
                <a16:creationId xmlns:a16="http://schemas.microsoft.com/office/drawing/2014/main" id="{75BFFC2E-4E49-41DA-AA4F-53908CF398F3}"/>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Wizard gradatie de merit</a:t>
            </a:r>
          </a:p>
        </p:txBody>
      </p:sp>
      <p:sp>
        <p:nvSpPr>
          <p:cNvPr id="4" name="">
            <a:extLst xmlns:a="http://schemas.openxmlformats.org/drawingml/2006/main">
              <a:ext uri="{FF2B5EF4-FFF2-40B4-BE49-F238E27FC236}">
                <a16:creationId xmlns:a16="http://schemas.microsoft.com/office/drawing/2014/main" id="{615B1D4B-F720-4621-9B04-80C2D9A26AAC}"/>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37</a:t>
            </a:r>
          </a:p>
        </p:txBody>
      </p:sp>
      <p:sp>
        <p:nvSpPr>
          <p:cNvPr id="5" name="">
            <a:extLst xmlns:a="http://schemas.openxmlformats.org/drawingml/2006/main">
              <a:ext uri="{FF2B5EF4-FFF2-40B4-BE49-F238E27FC236}">
                <a16:creationId xmlns:a16="http://schemas.microsoft.com/office/drawing/2014/main" id="{AB6BDAC6-5FCD-4CB1-9CE8-2FE451669CEB}"/>
              </a:ext>
            </a:extLst>
          </p:cNvPr>
          <p:cNvSpPr>
            <a:spLocks xmlns:a="http://schemas.openxmlformats.org/drawingml/2006/main" noGrp="1"/>
          </p:cNvSpPr>
          <p:nvPr/>
        </p:nvSpPr>
        <p:spPr>
          <a:xfrm xmlns:a="http://schemas.openxmlformats.org/drawingml/2006/main">
            <a:off x="514350" y="114300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Gradatia de merit este tratata ca dosar cu punctaj, comisie, documente si rezultat final. Fluxul este usor de urmarit si pentru utilizator, si pentru management.</a:t>
            </a:r>
          </a:p>
        </p:txBody>
      </p:sp>
      <p:sp>
        <p:nvSpPr>
          <p:cNvPr id="6" name="">
            <a:extLst xmlns:a="http://schemas.openxmlformats.org/drawingml/2006/main">
              <a:ext uri="{FF2B5EF4-FFF2-40B4-BE49-F238E27FC236}">
                <a16:creationId xmlns:a16="http://schemas.microsoft.com/office/drawing/2014/main" id="{E8A7CC14-E13A-42AE-AA0F-2867A6605136}"/>
              </a:ext>
            </a:extLst>
          </p:cNvPr>
          <p:cNvSpPr>
            <a:spLocks xmlns:a="http://schemas.openxmlformats.org/drawingml/2006/main" noGrp="1"/>
          </p:cNvSpPr>
          <p:nvPr/>
        </p:nvSpPr>
        <p:spPr>
          <a:xfrm xmlns:a="http://schemas.openxmlformats.org/drawingml/2006/main">
            <a:off x="514350" y="1981200"/>
            <a:ext cx="4095750" cy="224790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AD55FC6F-83E9-4FE0-81D7-7BFAFAD1BACC}"/>
              </a:ext>
            </a:extLst>
          </p:cNvPr>
          <p:cNvSpPr>
            <a:spLocks xmlns:a="http://schemas.openxmlformats.org/drawingml/2006/main" noGrp="1"/>
          </p:cNvSpPr>
          <p:nvPr/>
        </p:nvSpPr>
        <p:spPr>
          <a:xfrm xmlns:a="http://schemas.openxmlformats.org/drawingml/2006/main">
            <a:off x="666750" y="21145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Ce face utilizatorul</a:t>
            </a:r>
          </a:p>
        </p:txBody>
      </p:sp>
      <p:sp>
        <p:nvSpPr>
          <p:cNvPr id="8" name="">
            <a:extLst xmlns:a="http://schemas.openxmlformats.org/drawingml/2006/main">
              <a:ext uri="{FF2B5EF4-FFF2-40B4-BE49-F238E27FC236}">
                <a16:creationId xmlns:a16="http://schemas.microsoft.com/office/drawing/2014/main" id="{580FF1B0-6878-4454-9E68-4836B265CDDB}"/>
              </a:ext>
            </a:extLst>
          </p:cNvPr>
          <p:cNvSpPr>
            <a:spLocks xmlns:a="http://schemas.openxmlformats.org/drawingml/2006/main" noGrp="1"/>
          </p:cNvSpPr>
          <p:nvPr/>
        </p:nvSpPr>
        <p:spPr>
          <a:xfrm xmlns:a="http://schemas.openxmlformats.org/drawingml/2006/main">
            <a:off x="666750" y="2476500"/>
            <a:ext cx="37909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Completezi datele candidatului si categoria.</a:t>
            </a:r>
          </a:p>
          <a:p xmlns:a="http://schemas.openxmlformats.org/drawingml/2006/main">
            <a:pPr>
              <a:defRPr sz="1125">
                <a:solidFill>
                  <a:srgbClr val="314158"/>
                </a:solidFill>
              </a:defRPr>
            </a:pPr>
            <a:r>
              <a:rPr sz="1125">
                <a:solidFill>
                  <a:srgbClr val="314158"/>
                </a:solidFill>
              </a:rPr>
              <a:t>• Introduci punctajul si comisia responsabila.</a:t>
            </a:r>
          </a:p>
          <a:p xmlns:a="http://schemas.openxmlformats.org/drawingml/2006/main">
            <a:pPr>
              <a:defRPr sz="1125">
                <a:solidFill>
                  <a:srgbClr val="314158"/>
                </a:solidFill>
              </a:defRPr>
            </a:pPr>
            <a:r>
              <a:rPr sz="1125">
                <a:solidFill>
                  <a:srgbClr val="314158"/>
                </a:solidFill>
              </a:rPr>
              <a:t>• Pastrezi dosarul pentru evaluare, aprobare si finantare.</a:t>
            </a:r>
          </a:p>
        </p:txBody>
      </p:sp>
      <p:sp>
        <p:nvSpPr>
          <p:cNvPr id="9" name="">
            <a:extLst xmlns:a="http://schemas.openxmlformats.org/drawingml/2006/main">
              <a:ext uri="{FF2B5EF4-FFF2-40B4-BE49-F238E27FC236}">
                <a16:creationId xmlns:a16="http://schemas.microsoft.com/office/drawing/2014/main" id="{F49DC740-7487-4230-8388-647B8BCC073C}"/>
              </a:ext>
            </a:extLst>
          </p:cNvPr>
          <p:cNvSpPr>
            <a:spLocks xmlns:a="http://schemas.openxmlformats.org/drawingml/2006/main" noGrp="1"/>
          </p:cNvSpPr>
          <p:nvPr/>
        </p:nvSpPr>
        <p:spPr>
          <a:xfrm xmlns:a="http://schemas.openxmlformats.org/drawingml/2006/main">
            <a:off x="514350" y="4381500"/>
            <a:ext cx="4095750" cy="11430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A722B8A1-DE7C-45A3-9ABA-CA8D00BCCF22}"/>
              </a:ext>
            </a:extLst>
          </p:cNvPr>
          <p:cNvSpPr>
            <a:spLocks xmlns:a="http://schemas.openxmlformats.org/drawingml/2006/main" noGrp="1"/>
          </p:cNvSpPr>
          <p:nvPr/>
        </p:nvSpPr>
        <p:spPr>
          <a:xfrm xmlns:a="http://schemas.openxmlformats.org/drawingml/2006/main">
            <a:off x="666750" y="451485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Cum se foloseste ecranul</a:t>
            </a:r>
          </a:p>
        </p:txBody>
      </p:sp>
      <p:sp>
        <p:nvSpPr>
          <p:cNvPr id="11" name="">
            <a:extLst xmlns:a="http://schemas.openxmlformats.org/drawingml/2006/main">
              <a:ext uri="{FF2B5EF4-FFF2-40B4-BE49-F238E27FC236}">
                <a16:creationId xmlns:a16="http://schemas.microsoft.com/office/drawing/2014/main" id="{71E1FF18-1C57-4C68-8100-F11E213B8573}"/>
              </a:ext>
            </a:extLst>
          </p:cNvPr>
          <p:cNvSpPr>
            <a:spLocks xmlns:a="http://schemas.openxmlformats.org/drawingml/2006/main" noGrp="1"/>
          </p:cNvSpPr>
          <p:nvPr/>
        </p:nvSpPr>
        <p:spPr>
          <a:xfrm xmlns:a="http://schemas.openxmlformats.org/drawingml/2006/main">
            <a:off x="666750" y="4876800"/>
            <a:ext cx="3790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Utilizatorul porneste din acest ecran, completeaza informatiile necesare si verifica sumarul inainte de a salva sau de a trimite fluxul mai departe. La final, ai un dosar coerent, usor de verificat si de raportat.</a:t>
            </a:r>
          </a:p>
        </p:txBody>
      </p:sp>
      <p:sp>
        <p:nvSpPr>
          <p:cNvPr id="12" name="">
            <a:extLst xmlns:a="http://schemas.openxmlformats.org/drawingml/2006/main">
              <a:ext uri="{FF2B5EF4-FFF2-40B4-BE49-F238E27FC236}">
                <a16:creationId xmlns:a16="http://schemas.microsoft.com/office/drawing/2014/main" id="{379B011A-52C1-4DBA-A05E-FC39A4DF8566}"/>
              </a:ext>
            </a:extLst>
          </p:cNvPr>
          <p:cNvSpPr>
            <a:spLocks xmlns:a="http://schemas.openxmlformats.org/drawingml/2006/main" noGrp="1"/>
          </p:cNvSpPr>
          <p:nvPr/>
        </p:nvSpPr>
        <p:spPr>
          <a:xfrm xmlns:a="http://schemas.openxmlformats.org/drawingml/2006/main">
            <a:off x="514350" y="5657850"/>
            <a:ext cx="409575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39BDE054-1C13-4E38-8CCC-C82AD96879A1}"/>
              </a:ext>
            </a:extLst>
          </p:cNvPr>
          <p:cNvSpPr>
            <a:spLocks xmlns:a="http://schemas.openxmlformats.org/drawingml/2006/main" noGrp="1"/>
          </p:cNvSpPr>
          <p:nvPr/>
        </p:nvSpPr>
        <p:spPr>
          <a:xfrm xmlns:a="http://schemas.openxmlformats.org/drawingml/2006/main">
            <a:off x="666750" y="5791200"/>
            <a:ext cx="3790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Rezultat final: Ai un dosar coerent, usor de verificat si de raportat.</a:t>
            </a:r>
          </a:p>
        </p:txBody>
      </p:sp>
      <p:sp>
        <p:nvSpPr>
          <p:cNvPr id="14" name="">
            <a:extLst xmlns:a="http://schemas.openxmlformats.org/drawingml/2006/main">
              <a:ext uri="{FF2B5EF4-FFF2-40B4-BE49-F238E27FC236}">
                <a16:creationId xmlns:a16="http://schemas.microsoft.com/office/drawing/2014/main" id="{000E3275-749F-4788-9968-61CCBF660414}"/>
              </a:ext>
            </a:extLst>
          </p:cNvPr>
          <p:cNvSpPr>
            <a:spLocks xmlns:a="http://schemas.openxmlformats.org/drawingml/2006/main" noGrp="1"/>
          </p:cNvSpPr>
          <p:nvPr/>
        </p:nvSpPr>
        <p:spPr>
          <a:xfrm xmlns:a="http://schemas.openxmlformats.org/drawingml/2006/main">
            <a:off x="4895850" y="1981200"/>
            <a:ext cx="6610350" cy="37338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8c60c422bab547c3"/>
          <a:stretch xmlns:a="http://schemas.openxmlformats.org/drawingml/2006/main"/>
        </p:blipFill>
        <p:spPr>
          <a:xfrm xmlns:a="http://schemas.openxmlformats.org/drawingml/2006/main">
            <a:off x="5085292" y="2095500"/>
            <a:ext cx="6231467" cy="3505200"/>
          </a:xfrm>
          <a:prstGeom xmlns:a="http://schemas.openxmlformats.org/drawingml/2006/main" prst="roundRect">
            <a:avLst>
              <a:gd name="adj" fmla="val 3261"/>
            </a:avLst>
          </a:prstGeom>
        </p:spPr>
      </p:pic>
      <p:sp>
        <p:nvSpPr>
          <p:cNvPr id="16" name="">
            <a:extLst xmlns:a="http://schemas.openxmlformats.org/drawingml/2006/main">
              <a:ext uri="{FF2B5EF4-FFF2-40B4-BE49-F238E27FC236}">
                <a16:creationId xmlns:a16="http://schemas.microsoft.com/office/drawing/2014/main" id="{170FA227-BAE7-4C8E-9BFB-5D74E7790087}"/>
              </a:ext>
            </a:extLst>
          </p:cNvPr>
          <p:cNvSpPr>
            <a:spLocks xmlns:a="http://schemas.openxmlformats.org/drawingml/2006/main" noGrp="1"/>
          </p:cNvSpPr>
          <p:nvPr/>
        </p:nvSpPr>
        <p:spPr>
          <a:xfrm xmlns:a="http://schemas.openxmlformats.org/drawingml/2006/main">
            <a:off x="4895850" y="5772150"/>
            <a:ext cx="6610350" cy="476250"/>
          </a:xfrm>
          <a:prstGeom xmlns:a="http://schemas.openxmlformats.org/drawingml/2006/main" prst="roundRect">
            <a:avLst>
              <a:gd name="adj" fmla="val 32000"/>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B10B8915-2A5B-478B-BA4B-53D15BBC4370}"/>
              </a:ext>
            </a:extLst>
          </p:cNvPr>
          <p:cNvSpPr>
            <a:spLocks xmlns:a="http://schemas.openxmlformats.org/drawingml/2006/main" noGrp="1"/>
          </p:cNvSpPr>
          <p:nvPr/>
        </p:nvSpPr>
        <p:spPr>
          <a:xfrm xmlns:a="http://schemas.openxmlformats.org/drawingml/2006/main">
            <a:off x="5048250" y="5905500"/>
            <a:ext cx="6305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Ce observi in captura: Captura prezinta ecranul real folosit de utilizator in wizard gradatie de merit, cu zonele de lista, filtrare, completare si actiune vizibile exact asa cum apar in aplicatie.</a:t>
            </a:r>
          </a:p>
        </p:txBody>
      </p:sp>
      <p:sp>
        <p:nvSpPr>
          <p:cNvPr id="18" name="">
            <a:extLst xmlns:a="http://schemas.openxmlformats.org/drawingml/2006/main">
              <a:ext uri="{FF2B5EF4-FFF2-40B4-BE49-F238E27FC236}">
                <a16:creationId xmlns:a16="http://schemas.microsoft.com/office/drawing/2014/main" id="{B8F893F7-6992-4C89-849D-83EA5AAA6A91}"/>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9" name="">
            <a:extLst xmlns:a="http://schemas.openxmlformats.org/drawingml/2006/main">
              <a:ext uri="{FF2B5EF4-FFF2-40B4-BE49-F238E27FC236}">
                <a16:creationId xmlns:a16="http://schemas.microsoft.com/office/drawing/2014/main" id="{DDFA6D02-9B1F-463D-A1ED-21EA891A4DB4}"/>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Gradatie de merit</a:t>
            </a:r>
          </a:p>
        </p:txBody>
      </p:sp>
    </p:spTree>
    <p:extLst>
      <p:ext uri="{BB962C8B-B14F-4D97-AF65-F5344CB8AC3E}">
        <p14:creationId xmlns:p14="http://schemas.microsoft.com/office/powerpoint/2010/main" val="839837454"/>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123C60A-85F3-4BFA-A857-B425DB46F10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9628EEBC-FF14-4F3E-8E59-256D66F6904B}"/>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Portofolii</a:t>
            </a:r>
          </a:p>
        </p:txBody>
      </p:sp>
      <p:sp>
        <p:nvSpPr>
          <p:cNvPr id="3" name="">
            <a:extLst xmlns:a="http://schemas.openxmlformats.org/drawingml/2006/main">
              <a:ext uri="{FF2B5EF4-FFF2-40B4-BE49-F238E27FC236}">
                <a16:creationId xmlns:a16="http://schemas.microsoft.com/office/drawing/2014/main" id="{CF2CB746-D8E5-4208-B820-75CFE7AF3368}"/>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Portofolii profesionale - vedere de ansamblu</a:t>
            </a:r>
          </a:p>
        </p:txBody>
      </p:sp>
      <p:sp>
        <p:nvSpPr>
          <p:cNvPr id="4" name="">
            <a:extLst xmlns:a="http://schemas.openxmlformats.org/drawingml/2006/main">
              <a:ext uri="{FF2B5EF4-FFF2-40B4-BE49-F238E27FC236}">
                <a16:creationId xmlns:a16="http://schemas.microsoft.com/office/drawing/2014/main" id="{1E14168B-6422-48EC-8DE0-03C585CD685D}"/>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38</a:t>
            </a:r>
          </a:p>
        </p:txBody>
      </p:sp>
      <p:sp>
        <p:nvSpPr>
          <p:cNvPr id="5" name="">
            <a:extLst xmlns:a="http://schemas.openxmlformats.org/drawingml/2006/main">
              <a:ext uri="{FF2B5EF4-FFF2-40B4-BE49-F238E27FC236}">
                <a16:creationId xmlns:a16="http://schemas.microsoft.com/office/drawing/2014/main" id="{B5307E62-FCF6-4260-A8C2-2CCF0BAA95E1}"/>
              </a:ext>
            </a:extLst>
          </p:cNvPr>
          <p:cNvSpPr>
            <a:spLocks xmlns:a="http://schemas.openxmlformats.org/drawingml/2006/main" noGrp="1"/>
          </p:cNvSpPr>
          <p:nvPr/>
        </p:nvSpPr>
        <p:spPr>
          <a:xfrm xmlns:a="http://schemas.openxmlformats.org/drawingml/2006/main">
            <a:off x="514350" y="112395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Zona de portofolii permite lucrul atat pe lista institutionala de portofolii, cat si pe structura-cadru a portofoliului profesional.</a:t>
            </a:r>
          </a:p>
        </p:txBody>
      </p:sp>
      <p:sp>
        <p:nvSpPr>
          <p:cNvPr id="6" name="">
            <a:extLst xmlns:a="http://schemas.openxmlformats.org/drawingml/2006/main">
              <a:ext uri="{FF2B5EF4-FFF2-40B4-BE49-F238E27FC236}">
                <a16:creationId xmlns:a16="http://schemas.microsoft.com/office/drawing/2014/main" id="{CDA08E9B-7C82-4BBF-ADA8-4E43EF1BE354}"/>
              </a:ext>
            </a:extLst>
          </p:cNvPr>
          <p:cNvSpPr>
            <a:spLocks xmlns:a="http://schemas.openxmlformats.org/drawingml/2006/main" noGrp="1"/>
          </p:cNvSpPr>
          <p:nvPr/>
        </p:nvSpPr>
        <p:spPr>
          <a:xfrm xmlns:a="http://schemas.openxmlformats.org/drawingml/2006/main">
            <a:off x="514350" y="1809750"/>
            <a:ext cx="11163300" cy="2990850"/>
          </a:xfrm>
          <a:prstGeom xmlns:a="http://schemas.openxmlformats.org/drawingml/2006/main" prst="roundRect">
            <a:avLst>
              <a:gd name="adj" fmla="val 5096"/>
            </a:avLst>
          </a:prstGeom>
          <a:solidFill xmlns:a="http://schemas.openxmlformats.org/drawingml/2006/main">
            <a:srgbClr val="F8FAFC"/>
          </a:solidFill>
          <a:ln xmlns:a="http://schemas.openxmlformats.org/drawingml/2006/main" w="9525">
            <a:solidFill>
              <a:srgbClr val="E2E8F0"/>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6e3d645f457f45f6"/>
          <a:stretch xmlns:a="http://schemas.openxmlformats.org/drawingml/2006/main"/>
        </p:blipFill>
        <p:spPr>
          <a:xfrm xmlns:a="http://schemas.openxmlformats.org/drawingml/2006/main">
            <a:off x="3640667" y="1924050"/>
            <a:ext cx="4910667" cy="2762250"/>
          </a:xfrm>
          <a:prstGeom xmlns:a="http://schemas.openxmlformats.org/drawingml/2006/main" prst="roundRect">
            <a:avLst>
              <a:gd name="adj" fmla="val 4138"/>
            </a:avLst>
          </a:prstGeom>
        </p:spPr>
      </p:pic>
      <p:sp>
        <p:nvSpPr>
          <p:cNvPr id="8" name="">
            <a:extLst xmlns:a="http://schemas.openxmlformats.org/drawingml/2006/main">
              <a:ext uri="{FF2B5EF4-FFF2-40B4-BE49-F238E27FC236}">
                <a16:creationId xmlns:a16="http://schemas.microsoft.com/office/drawing/2014/main" id="{8F83A9C1-E316-4028-A6E5-6F0873100FFD}"/>
              </a:ext>
            </a:extLst>
          </p:cNvPr>
          <p:cNvSpPr>
            <a:spLocks xmlns:a="http://schemas.openxmlformats.org/drawingml/2006/main" noGrp="1"/>
          </p:cNvSpPr>
          <p:nvPr/>
        </p:nvSpPr>
        <p:spPr>
          <a:xfrm xmlns:a="http://schemas.openxmlformats.org/drawingml/2006/main">
            <a:off x="514350" y="4972050"/>
            <a:ext cx="5334000" cy="12954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E2E8F0"/>
            </a:solidFill>
            <a:prstDash val="solid"/>
          </a:ln>
        </p:spPr>
      </p:sp>
      <p:sp>
        <p:nvSpPr>
          <p:cNvPr id="9" name="">
            <a:extLst xmlns:a="http://schemas.openxmlformats.org/drawingml/2006/main">
              <a:ext uri="{FF2B5EF4-FFF2-40B4-BE49-F238E27FC236}">
                <a16:creationId xmlns:a16="http://schemas.microsoft.com/office/drawing/2014/main" id="{BEB9CA17-A1AD-49EC-AEEB-21E5E850CCE7}"/>
              </a:ext>
            </a:extLst>
          </p:cNvPr>
          <p:cNvSpPr>
            <a:spLocks xmlns:a="http://schemas.openxmlformats.org/drawingml/2006/main" noGrp="1"/>
          </p:cNvSpPr>
          <p:nvPr/>
        </p:nvSpPr>
        <p:spPr>
          <a:xfrm xmlns:a="http://schemas.openxmlformats.org/drawingml/2006/main">
            <a:off x="666750" y="510540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Cum lucrezi</a:t>
            </a:r>
          </a:p>
        </p:txBody>
      </p:sp>
      <p:sp>
        <p:nvSpPr>
          <p:cNvPr id="10" name="">
            <a:extLst xmlns:a="http://schemas.openxmlformats.org/drawingml/2006/main">
              <a:ext uri="{FF2B5EF4-FFF2-40B4-BE49-F238E27FC236}">
                <a16:creationId xmlns:a16="http://schemas.microsoft.com/office/drawing/2014/main" id="{0B620703-0D59-4299-BE87-1CB2B0B493A4}"/>
              </a:ext>
            </a:extLst>
          </p:cNvPr>
          <p:cNvSpPr>
            <a:spLocks xmlns:a="http://schemas.openxmlformats.org/drawingml/2006/main" noGrp="1"/>
          </p:cNvSpPr>
          <p:nvPr/>
        </p:nvSpPr>
        <p:spPr>
          <a:xfrm xmlns:a="http://schemas.openxmlformats.org/drawingml/2006/main">
            <a:off x="666750" y="5467350"/>
            <a:ext cx="5029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Consulti lista portofoliilor si starea lor curenta.</a:t>
            </a:r>
          </a:p>
          <a:p xmlns:a="http://schemas.openxmlformats.org/drawingml/2006/main">
            <a:pPr>
              <a:defRPr sz="1125">
                <a:solidFill>
                  <a:srgbClr val="314158"/>
                </a:solidFill>
              </a:defRPr>
            </a:pPr>
            <a:r>
              <a:rPr sz="1125">
                <a:solidFill>
                  <a:srgbClr val="314158"/>
                </a:solidFill>
              </a:rPr>
              <a:t>• Deschizi structura-cadru pentru a vedea sectiunile si regulile de retentie.</a:t>
            </a:r>
          </a:p>
          <a:p xmlns:a="http://schemas.openxmlformats.org/drawingml/2006/main">
            <a:pPr>
              <a:defRPr sz="1125">
                <a:solidFill>
                  <a:srgbClr val="314158"/>
                </a:solidFill>
              </a:defRPr>
            </a:pPr>
            <a:r>
              <a:rPr sz="1125">
                <a:solidFill>
                  <a:srgbClr val="314158"/>
                </a:solidFill>
              </a:rPr>
              <a:t>• Pornesti wizard-ul de creare atunci cand trebuie deschis un portofoliu nou.</a:t>
            </a:r>
          </a:p>
        </p:txBody>
      </p:sp>
      <p:sp>
        <p:nvSpPr>
          <p:cNvPr id="11" name="">
            <a:extLst xmlns:a="http://schemas.openxmlformats.org/drawingml/2006/main">
              <a:ext uri="{FF2B5EF4-FFF2-40B4-BE49-F238E27FC236}">
                <a16:creationId xmlns:a16="http://schemas.microsoft.com/office/drawing/2014/main" id="{8653D9B9-6842-486E-869C-05476D2C40D6}"/>
              </a:ext>
            </a:extLst>
          </p:cNvPr>
          <p:cNvSpPr>
            <a:spLocks xmlns:a="http://schemas.openxmlformats.org/drawingml/2006/main" noGrp="1"/>
          </p:cNvSpPr>
          <p:nvPr/>
        </p:nvSpPr>
        <p:spPr>
          <a:xfrm xmlns:a="http://schemas.openxmlformats.org/drawingml/2006/main">
            <a:off x="6343650" y="4972050"/>
            <a:ext cx="533400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E2E8F0"/>
            </a:solidFill>
            <a:prstDash val="solid"/>
          </a:ln>
        </p:spPr>
      </p:sp>
      <p:sp>
        <p:nvSpPr>
          <p:cNvPr id="12" name="">
            <a:extLst xmlns:a="http://schemas.openxmlformats.org/drawingml/2006/main">
              <a:ext uri="{FF2B5EF4-FFF2-40B4-BE49-F238E27FC236}">
                <a16:creationId xmlns:a16="http://schemas.microsoft.com/office/drawing/2014/main" id="{91891647-3A03-45ED-82E0-8A969B4AE1C8}"/>
              </a:ext>
            </a:extLst>
          </p:cNvPr>
          <p:cNvSpPr>
            <a:spLocks xmlns:a="http://schemas.openxmlformats.org/drawingml/2006/main" noGrp="1"/>
          </p:cNvSpPr>
          <p:nvPr/>
        </p:nvSpPr>
        <p:spPr>
          <a:xfrm xmlns:a="http://schemas.openxmlformats.org/drawingml/2006/main">
            <a:off x="6496050" y="5105400"/>
            <a:ext cx="5029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Ce obtii: Portofoliile sunt tratate unitar, cu evidenta, structura si transfer.</a:t>
            </a:r>
          </a:p>
        </p:txBody>
      </p:sp>
      <p:sp>
        <p:nvSpPr>
          <p:cNvPr id="13" name="">
            <a:extLst xmlns:a="http://schemas.openxmlformats.org/drawingml/2006/main">
              <a:ext uri="{FF2B5EF4-FFF2-40B4-BE49-F238E27FC236}">
                <a16:creationId xmlns:a16="http://schemas.microsoft.com/office/drawing/2014/main" id="{4408114D-D943-4409-A93D-0DDF50D159D0}"/>
              </a:ext>
            </a:extLst>
          </p:cNvPr>
          <p:cNvSpPr>
            <a:spLocks xmlns:a="http://schemas.openxmlformats.org/drawingml/2006/main" noGrp="1"/>
          </p:cNvSpPr>
          <p:nvPr/>
        </p:nvSpPr>
        <p:spPr>
          <a:xfrm xmlns:a="http://schemas.openxmlformats.org/drawingml/2006/main">
            <a:off x="6343650" y="5734050"/>
            <a:ext cx="5334000" cy="5334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DB083C54-99E0-4FD1-B5FD-04855BBBB5EB}"/>
              </a:ext>
            </a:extLst>
          </p:cNvPr>
          <p:cNvSpPr>
            <a:spLocks xmlns:a="http://schemas.openxmlformats.org/drawingml/2006/main" noGrp="1"/>
          </p:cNvSpPr>
          <p:nvPr/>
        </p:nvSpPr>
        <p:spPr>
          <a:xfrm xmlns:a="http://schemas.openxmlformats.org/drawingml/2006/main">
            <a:off x="6496050" y="5867400"/>
            <a:ext cx="502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citesti captura: Captura prezinta ecranul real folosit de utilizator in portofolii profesionale - vedere de ansamblu, cu zonele de lista, filtrare, completare si actiune vizibile exact asa cum apar in aplicatie.</a:t>
            </a:r>
          </a:p>
        </p:txBody>
      </p:sp>
      <p:sp>
        <p:nvSpPr>
          <p:cNvPr id="15" name="">
            <a:extLst xmlns:a="http://schemas.openxmlformats.org/drawingml/2006/main">
              <a:ext uri="{FF2B5EF4-FFF2-40B4-BE49-F238E27FC236}">
                <a16:creationId xmlns:a16="http://schemas.microsoft.com/office/drawing/2014/main" id="{2AAABAF1-1D86-47BF-A351-7B1F1A7E24CB}"/>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6" name="">
            <a:extLst xmlns:a="http://schemas.openxmlformats.org/drawingml/2006/main">
              <a:ext uri="{FF2B5EF4-FFF2-40B4-BE49-F238E27FC236}">
                <a16:creationId xmlns:a16="http://schemas.microsoft.com/office/drawing/2014/main" id="{53629159-3E62-4EC8-B784-1643A8FF6E8D}"/>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Portofolii profesionale</a:t>
            </a:r>
          </a:p>
        </p:txBody>
      </p:sp>
    </p:spTree>
    <p:extLst>
      <p:ext uri="{BB962C8B-B14F-4D97-AF65-F5344CB8AC3E}">
        <p14:creationId xmlns:p14="http://schemas.microsoft.com/office/powerpoint/2010/main" val="771188434"/>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A2C5FE0-429A-4E7E-8A4F-A4CF0F657C7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9210862D-058E-4DF4-9FE2-CF4C9F5DDD4B}"/>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Experienta profesor</a:t>
            </a:r>
          </a:p>
        </p:txBody>
      </p:sp>
      <p:sp>
        <p:nvSpPr>
          <p:cNvPr id="3" name="">
            <a:extLst xmlns:a="http://schemas.openxmlformats.org/drawingml/2006/main">
              <a:ext uri="{FF2B5EF4-FFF2-40B4-BE49-F238E27FC236}">
                <a16:creationId xmlns:a16="http://schemas.microsoft.com/office/drawing/2014/main" id="{537A93B0-2522-4270-8EAE-AFE2C65BE2D8}"/>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Portofoliul meu</a:t>
            </a:r>
          </a:p>
        </p:txBody>
      </p:sp>
      <p:sp>
        <p:nvSpPr>
          <p:cNvPr id="4" name="">
            <a:extLst xmlns:a="http://schemas.openxmlformats.org/drawingml/2006/main">
              <a:ext uri="{FF2B5EF4-FFF2-40B4-BE49-F238E27FC236}">
                <a16:creationId xmlns:a16="http://schemas.microsoft.com/office/drawing/2014/main" id="{F6F37336-85E9-4DEF-B9B7-367DF3E8BD5D}"/>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39</a:t>
            </a:r>
          </a:p>
        </p:txBody>
      </p:sp>
      <p:sp>
        <p:nvSpPr>
          <p:cNvPr id="5" name="">
            <a:extLst xmlns:a="http://schemas.openxmlformats.org/drawingml/2006/main">
              <a:ext uri="{FF2B5EF4-FFF2-40B4-BE49-F238E27FC236}">
                <a16:creationId xmlns:a16="http://schemas.microsoft.com/office/drawing/2014/main" id="{E3DA96D9-FC51-46BB-BA5D-A7B02650B36C}"/>
              </a:ext>
            </a:extLst>
          </p:cNvPr>
          <p:cNvSpPr>
            <a:spLocks xmlns:a="http://schemas.openxmlformats.org/drawingml/2006/main" noGrp="1"/>
          </p:cNvSpPr>
          <p:nvPr/>
        </p:nvSpPr>
        <p:spPr>
          <a:xfrm xmlns:a="http://schemas.openxmlformats.org/drawingml/2006/main">
            <a:off x="514350" y="114300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Profesorul lucreaza direct in propriul portofoliu, unde vede starea, sectiunile, obligatiile si actiunile posibile pe portofoliul personal.</a:t>
            </a:r>
          </a:p>
        </p:txBody>
      </p:sp>
      <p:sp>
        <p:nvSpPr>
          <p:cNvPr id="6" name="">
            <a:extLst xmlns:a="http://schemas.openxmlformats.org/drawingml/2006/main">
              <a:ext uri="{FF2B5EF4-FFF2-40B4-BE49-F238E27FC236}">
                <a16:creationId xmlns:a16="http://schemas.microsoft.com/office/drawing/2014/main" id="{740918EB-53AE-49CF-9629-B9122F0F3F90}"/>
              </a:ext>
            </a:extLst>
          </p:cNvPr>
          <p:cNvSpPr>
            <a:spLocks xmlns:a="http://schemas.openxmlformats.org/drawingml/2006/main" noGrp="1"/>
          </p:cNvSpPr>
          <p:nvPr/>
        </p:nvSpPr>
        <p:spPr>
          <a:xfrm xmlns:a="http://schemas.openxmlformats.org/drawingml/2006/main">
            <a:off x="514350" y="1981200"/>
            <a:ext cx="4095750" cy="224790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5BD72210-3FD0-47C4-A101-C700E4F79823}"/>
              </a:ext>
            </a:extLst>
          </p:cNvPr>
          <p:cNvSpPr>
            <a:spLocks xmlns:a="http://schemas.openxmlformats.org/drawingml/2006/main" noGrp="1"/>
          </p:cNvSpPr>
          <p:nvPr/>
        </p:nvSpPr>
        <p:spPr>
          <a:xfrm xmlns:a="http://schemas.openxmlformats.org/drawingml/2006/main">
            <a:off x="666750" y="21145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Ce face utilizatorul</a:t>
            </a:r>
          </a:p>
        </p:txBody>
      </p:sp>
      <p:sp>
        <p:nvSpPr>
          <p:cNvPr id="8" name="">
            <a:extLst xmlns:a="http://schemas.openxmlformats.org/drawingml/2006/main">
              <a:ext uri="{FF2B5EF4-FFF2-40B4-BE49-F238E27FC236}">
                <a16:creationId xmlns:a16="http://schemas.microsoft.com/office/drawing/2014/main" id="{A8C6883B-7ED9-4D06-BA48-5FCAA628A4CD}"/>
              </a:ext>
            </a:extLst>
          </p:cNvPr>
          <p:cNvSpPr>
            <a:spLocks xmlns:a="http://schemas.openxmlformats.org/drawingml/2006/main" noGrp="1"/>
          </p:cNvSpPr>
          <p:nvPr/>
        </p:nvSpPr>
        <p:spPr>
          <a:xfrm xmlns:a="http://schemas.openxmlformats.org/drawingml/2006/main">
            <a:off x="666750" y="2476500"/>
            <a:ext cx="37909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Deschizi portofoliul din cockpitul profesorului.</a:t>
            </a:r>
          </a:p>
          <a:p xmlns:a="http://schemas.openxmlformats.org/drawingml/2006/main">
            <a:pPr>
              <a:defRPr sz="1125">
                <a:solidFill>
                  <a:srgbClr val="314158"/>
                </a:solidFill>
              </a:defRPr>
            </a:pPr>
            <a:r>
              <a:rPr sz="1125">
                <a:solidFill>
                  <a:srgbClr val="314158"/>
                </a:solidFill>
              </a:rPr>
              <a:t>• Verifici starea curenta si sectiunile disponibile.</a:t>
            </a:r>
          </a:p>
          <a:p xmlns:a="http://schemas.openxmlformats.org/drawingml/2006/main">
            <a:pPr>
              <a:defRPr sz="1125">
                <a:solidFill>
                  <a:srgbClr val="314158"/>
                </a:solidFill>
              </a:defRPr>
            </a:pPr>
            <a:r>
              <a:rPr sz="1125">
                <a:solidFill>
                  <a:srgbClr val="314158"/>
                </a:solidFill>
              </a:rPr>
              <a:t>• Trimiti la verificare, validezi sau revii la completare, in functie de etapa.</a:t>
            </a:r>
          </a:p>
        </p:txBody>
      </p:sp>
      <p:sp>
        <p:nvSpPr>
          <p:cNvPr id="9" name="">
            <a:extLst xmlns:a="http://schemas.openxmlformats.org/drawingml/2006/main">
              <a:ext uri="{FF2B5EF4-FFF2-40B4-BE49-F238E27FC236}">
                <a16:creationId xmlns:a16="http://schemas.microsoft.com/office/drawing/2014/main" id="{19E5F770-1A93-4D38-9592-B5189B7AD8B1}"/>
              </a:ext>
            </a:extLst>
          </p:cNvPr>
          <p:cNvSpPr>
            <a:spLocks xmlns:a="http://schemas.openxmlformats.org/drawingml/2006/main" noGrp="1"/>
          </p:cNvSpPr>
          <p:nvPr/>
        </p:nvSpPr>
        <p:spPr>
          <a:xfrm xmlns:a="http://schemas.openxmlformats.org/drawingml/2006/main">
            <a:off x="514350" y="4381500"/>
            <a:ext cx="4095750" cy="11430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629F34F8-ADCD-467F-AC38-38EBE3B15C80}"/>
              </a:ext>
            </a:extLst>
          </p:cNvPr>
          <p:cNvSpPr>
            <a:spLocks xmlns:a="http://schemas.openxmlformats.org/drawingml/2006/main" noGrp="1"/>
          </p:cNvSpPr>
          <p:nvPr/>
        </p:nvSpPr>
        <p:spPr>
          <a:xfrm xmlns:a="http://schemas.openxmlformats.org/drawingml/2006/main">
            <a:off x="666750" y="451485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Cum se foloseste ecranul</a:t>
            </a:r>
          </a:p>
        </p:txBody>
      </p:sp>
      <p:sp>
        <p:nvSpPr>
          <p:cNvPr id="11" name="">
            <a:extLst xmlns:a="http://schemas.openxmlformats.org/drawingml/2006/main">
              <a:ext uri="{FF2B5EF4-FFF2-40B4-BE49-F238E27FC236}">
                <a16:creationId xmlns:a16="http://schemas.microsoft.com/office/drawing/2014/main" id="{173C2764-AC07-418A-B186-CDBE3E2ADAD6}"/>
              </a:ext>
            </a:extLst>
          </p:cNvPr>
          <p:cNvSpPr>
            <a:spLocks xmlns:a="http://schemas.openxmlformats.org/drawingml/2006/main" noGrp="1"/>
          </p:cNvSpPr>
          <p:nvPr/>
        </p:nvSpPr>
        <p:spPr>
          <a:xfrm xmlns:a="http://schemas.openxmlformats.org/drawingml/2006/main">
            <a:off x="666750" y="4876800"/>
            <a:ext cx="3790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Utilizatorul porneste din acest ecran, completeaza informatiile necesare si verifica sumarul inainte de a salva sau de a trimite fluxul mai departe. La final, portofoliul personal devine usor de actualizat si de urmarit pe parcursul anului.</a:t>
            </a:r>
          </a:p>
        </p:txBody>
      </p:sp>
      <p:sp>
        <p:nvSpPr>
          <p:cNvPr id="12" name="">
            <a:extLst xmlns:a="http://schemas.openxmlformats.org/drawingml/2006/main">
              <a:ext uri="{FF2B5EF4-FFF2-40B4-BE49-F238E27FC236}">
                <a16:creationId xmlns:a16="http://schemas.microsoft.com/office/drawing/2014/main" id="{DD1AC085-D0D7-488F-838E-B86347E78E8B}"/>
              </a:ext>
            </a:extLst>
          </p:cNvPr>
          <p:cNvSpPr>
            <a:spLocks xmlns:a="http://schemas.openxmlformats.org/drawingml/2006/main" noGrp="1"/>
          </p:cNvSpPr>
          <p:nvPr/>
        </p:nvSpPr>
        <p:spPr>
          <a:xfrm xmlns:a="http://schemas.openxmlformats.org/drawingml/2006/main">
            <a:off x="514350" y="5657850"/>
            <a:ext cx="409575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793630F1-4335-4C33-B385-48F7EF0AA7EF}"/>
              </a:ext>
            </a:extLst>
          </p:cNvPr>
          <p:cNvSpPr>
            <a:spLocks xmlns:a="http://schemas.openxmlformats.org/drawingml/2006/main" noGrp="1"/>
          </p:cNvSpPr>
          <p:nvPr/>
        </p:nvSpPr>
        <p:spPr>
          <a:xfrm xmlns:a="http://schemas.openxmlformats.org/drawingml/2006/main">
            <a:off x="666750" y="5791200"/>
            <a:ext cx="3790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Rezultat final: Portofoliul personal devine usor de actualizat si de urmarit pe parcursul anului.</a:t>
            </a:r>
          </a:p>
        </p:txBody>
      </p:sp>
      <p:sp>
        <p:nvSpPr>
          <p:cNvPr id="14" name="">
            <a:extLst xmlns:a="http://schemas.openxmlformats.org/drawingml/2006/main">
              <a:ext uri="{FF2B5EF4-FFF2-40B4-BE49-F238E27FC236}">
                <a16:creationId xmlns:a16="http://schemas.microsoft.com/office/drawing/2014/main" id="{8940FCE5-F1FD-4417-BF82-FAD0AE5A986E}"/>
              </a:ext>
            </a:extLst>
          </p:cNvPr>
          <p:cNvSpPr>
            <a:spLocks xmlns:a="http://schemas.openxmlformats.org/drawingml/2006/main" noGrp="1"/>
          </p:cNvSpPr>
          <p:nvPr/>
        </p:nvSpPr>
        <p:spPr>
          <a:xfrm xmlns:a="http://schemas.openxmlformats.org/drawingml/2006/main">
            <a:off x="4895850" y="1981200"/>
            <a:ext cx="6610350" cy="37338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e6765593528b41a5"/>
          <a:stretch xmlns:a="http://schemas.openxmlformats.org/drawingml/2006/main"/>
        </p:blipFill>
        <p:spPr>
          <a:xfrm xmlns:a="http://schemas.openxmlformats.org/drawingml/2006/main">
            <a:off x="5085292" y="2095500"/>
            <a:ext cx="6231467" cy="3505200"/>
          </a:xfrm>
          <a:prstGeom xmlns:a="http://schemas.openxmlformats.org/drawingml/2006/main" prst="roundRect">
            <a:avLst>
              <a:gd name="adj" fmla="val 3261"/>
            </a:avLst>
          </a:prstGeom>
        </p:spPr>
      </p:pic>
      <p:sp>
        <p:nvSpPr>
          <p:cNvPr id="16" name="">
            <a:extLst xmlns:a="http://schemas.openxmlformats.org/drawingml/2006/main">
              <a:ext uri="{FF2B5EF4-FFF2-40B4-BE49-F238E27FC236}">
                <a16:creationId xmlns:a16="http://schemas.microsoft.com/office/drawing/2014/main" id="{9222193C-5E99-49DA-8398-E7ABA3D1E694}"/>
              </a:ext>
            </a:extLst>
          </p:cNvPr>
          <p:cNvSpPr>
            <a:spLocks xmlns:a="http://schemas.openxmlformats.org/drawingml/2006/main" noGrp="1"/>
          </p:cNvSpPr>
          <p:nvPr/>
        </p:nvSpPr>
        <p:spPr>
          <a:xfrm xmlns:a="http://schemas.openxmlformats.org/drawingml/2006/main">
            <a:off x="4895850" y="5772150"/>
            <a:ext cx="6610350" cy="476250"/>
          </a:xfrm>
          <a:prstGeom xmlns:a="http://schemas.openxmlformats.org/drawingml/2006/main" prst="roundRect">
            <a:avLst>
              <a:gd name="adj" fmla="val 32000"/>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804F0E45-5C12-4893-BBE0-04DF5A9CBA91}"/>
              </a:ext>
            </a:extLst>
          </p:cNvPr>
          <p:cNvSpPr>
            <a:spLocks xmlns:a="http://schemas.openxmlformats.org/drawingml/2006/main" noGrp="1"/>
          </p:cNvSpPr>
          <p:nvPr/>
        </p:nvSpPr>
        <p:spPr>
          <a:xfrm xmlns:a="http://schemas.openxmlformats.org/drawingml/2006/main">
            <a:off x="5048250" y="5905500"/>
            <a:ext cx="6305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Ce observi in captura: Captura prezinta ecranul real folosit de utilizator in portofoliul meu, cu zonele de lista, filtrare, completare si actiune vizibile exact asa cum apar in aplicatie.</a:t>
            </a:r>
          </a:p>
        </p:txBody>
      </p:sp>
      <p:sp>
        <p:nvSpPr>
          <p:cNvPr id="18" name="">
            <a:extLst xmlns:a="http://schemas.openxmlformats.org/drawingml/2006/main">
              <a:ext uri="{FF2B5EF4-FFF2-40B4-BE49-F238E27FC236}">
                <a16:creationId xmlns:a16="http://schemas.microsoft.com/office/drawing/2014/main" id="{80BB3167-4094-44C5-A5EC-A25867D1C1F0}"/>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9" name="">
            <a:extLst xmlns:a="http://schemas.openxmlformats.org/drawingml/2006/main">
              <a:ext uri="{FF2B5EF4-FFF2-40B4-BE49-F238E27FC236}">
                <a16:creationId xmlns:a16="http://schemas.microsoft.com/office/drawing/2014/main" id="{ED2D0DAA-E4A7-4910-B58B-FC6915494B5A}"/>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Portofoliul profesorului</a:t>
            </a:r>
          </a:p>
        </p:txBody>
      </p:sp>
    </p:spTree>
    <p:extLst>
      <p:ext uri="{BB962C8B-B14F-4D97-AF65-F5344CB8AC3E}">
        <p14:creationId xmlns:p14="http://schemas.microsoft.com/office/powerpoint/2010/main" val="1207284655"/>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1DB807B-F34E-48D8-829D-C7AD8439250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B2007C2E-2C8E-45F8-884A-3882919032C1}"/>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Portofolii</a:t>
            </a:r>
          </a:p>
        </p:txBody>
      </p:sp>
      <p:sp>
        <p:nvSpPr>
          <p:cNvPr id="3" name="">
            <a:extLst xmlns:a="http://schemas.openxmlformats.org/drawingml/2006/main">
              <a:ext uri="{FF2B5EF4-FFF2-40B4-BE49-F238E27FC236}">
                <a16:creationId xmlns:a16="http://schemas.microsoft.com/office/drawing/2014/main" id="{4563EC85-DFC9-4C0F-98EC-AF205FD34A98}"/>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Workflow-ul de completare a portofoliului</a:t>
            </a:r>
          </a:p>
        </p:txBody>
      </p:sp>
      <p:sp>
        <p:nvSpPr>
          <p:cNvPr id="4" name="">
            <a:extLst xmlns:a="http://schemas.openxmlformats.org/drawingml/2006/main">
              <a:ext uri="{FF2B5EF4-FFF2-40B4-BE49-F238E27FC236}">
                <a16:creationId xmlns:a16="http://schemas.microsoft.com/office/drawing/2014/main" id="{CF97EDDD-1274-4C75-9115-D1213E99B364}"/>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40</a:t>
            </a:r>
          </a:p>
        </p:txBody>
      </p:sp>
      <p:sp>
        <p:nvSpPr>
          <p:cNvPr id="5" name="">
            <a:extLst xmlns:a="http://schemas.openxmlformats.org/drawingml/2006/main">
              <a:ext uri="{FF2B5EF4-FFF2-40B4-BE49-F238E27FC236}">
                <a16:creationId xmlns:a16="http://schemas.microsoft.com/office/drawing/2014/main" id="{05218EC8-56BE-4A67-B59D-11D7B5C1C1FE}"/>
              </a:ext>
            </a:extLst>
          </p:cNvPr>
          <p:cNvSpPr>
            <a:spLocks xmlns:a="http://schemas.openxmlformats.org/drawingml/2006/main" noGrp="1"/>
          </p:cNvSpPr>
          <p:nvPr/>
        </p:nvSpPr>
        <p:spPr>
          <a:xfrm xmlns:a="http://schemas.openxmlformats.org/drawingml/2006/main">
            <a:off x="514350" y="114300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Workflow-ul de portofoliu este gandit ca un ghid de lucru. Utilizatorul vede ce are de facut, ce documente conteaza si cand poate trece mai departe.</a:t>
            </a:r>
          </a:p>
        </p:txBody>
      </p:sp>
      <p:sp>
        <p:nvSpPr>
          <p:cNvPr id="6" name="">
            <a:extLst xmlns:a="http://schemas.openxmlformats.org/drawingml/2006/main">
              <a:ext uri="{FF2B5EF4-FFF2-40B4-BE49-F238E27FC236}">
                <a16:creationId xmlns:a16="http://schemas.microsoft.com/office/drawing/2014/main" id="{4504C310-2240-4F9A-B67B-A0571A92987E}"/>
              </a:ext>
            </a:extLst>
          </p:cNvPr>
          <p:cNvSpPr>
            <a:spLocks xmlns:a="http://schemas.openxmlformats.org/drawingml/2006/main" noGrp="1"/>
          </p:cNvSpPr>
          <p:nvPr/>
        </p:nvSpPr>
        <p:spPr>
          <a:xfrm xmlns:a="http://schemas.openxmlformats.org/drawingml/2006/main">
            <a:off x="514350" y="1981200"/>
            <a:ext cx="4095750" cy="224790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168AA959-3EA2-43DC-B9B8-1502EBB29D83}"/>
              </a:ext>
            </a:extLst>
          </p:cNvPr>
          <p:cNvSpPr>
            <a:spLocks xmlns:a="http://schemas.openxmlformats.org/drawingml/2006/main" noGrp="1"/>
          </p:cNvSpPr>
          <p:nvPr/>
        </p:nvSpPr>
        <p:spPr>
          <a:xfrm xmlns:a="http://schemas.openxmlformats.org/drawingml/2006/main">
            <a:off x="666750" y="21145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Ce face utilizatorul</a:t>
            </a:r>
          </a:p>
        </p:txBody>
      </p:sp>
      <p:sp>
        <p:nvSpPr>
          <p:cNvPr id="8" name="">
            <a:extLst xmlns:a="http://schemas.openxmlformats.org/drawingml/2006/main">
              <a:ext uri="{FF2B5EF4-FFF2-40B4-BE49-F238E27FC236}">
                <a16:creationId xmlns:a16="http://schemas.microsoft.com/office/drawing/2014/main" id="{FC24B724-869C-47E8-9C55-BC921ABD69D4}"/>
              </a:ext>
            </a:extLst>
          </p:cNvPr>
          <p:cNvSpPr>
            <a:spLocks xmlns:a="http://schemas.openxmlformats.org/drawingml/2006/main" noGrp="1"/>
          </p:cNvSpPr>
          <p:nvPr/>
        </p:nvSpPr>
        <p:spPr>
          <a:xfrm xmlns:a="http://schemas.openxmlformats.org/drawingml/2006/main">
            <a:off x="666750" y="2476500"/>
            <a:ext cx="37909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Parcurgi pasii de completare in ordinea propusa de sistem.</a:t>
            </a:r>
          </a:p>
          <a:p xmlns:a="http://schemas.openxmlformats.org/drawingml/2006/main">
            <a:pPr>
              <a:defRPr sz="1125">
                <a:solidFill>
                  <a:srgbClr val="314158"/>
                </a:solidFill>
              </a:defRPr>
            </a:pPr>
            <a:r>
              <a:rPr sz="1125">
                <a:solidFill>
                  <a:srgbClr val="314158"/>
                </a:solidFill>
              </a:rPr>
              <a:t>• Verifici sumarul si blocajele inainte de trimitere.</a:t>
            </a:r>
          </a:p>
          <a:p xmlns:a="http://schemas.openxmlformats.org/drawingml/2006/main">
            <a:pPr>
              <a:defRPr sz="1125">
                <a:solidFill>
                  <a:srgbClr val="314158"/>
                </a:solidFill>
              </a:defRPr>
            </a:pPr>
            <a:r>
              <a:rPr sz="1125">
                <a:solidFill>
                  <a:srgbClr val="314158"/>
                </a:solidFill>
              </a:rPr>
              <a:t>• Salvezi si revii in portofoliul tau atunci cand fluxul este gata.</a:t>
            </a:r>
          </a:p>
        </p:txBody>
      </p:sp>
      <p:sp>
        <p:nvSpPr>
          <p:cNvPr id="9" name="">
            <a:extLst xmlns:a="http://schemas.openxmlformats.org/drawingml/2006/main">
              <a:ext uri="{FF2B5EF4-FFF2-40B4-BE49-F238E27FC236}">
                <a16:creationId xmlns:a16="http://schemas.microsoft.com/office/drawing/2014/main" id="{D5B5FE9D-9DEF-457E-B1DA-A770CCC250DC}"/>
              </a:ext>
            </a:extLst>
          </p:cNvPr>
          <p:cNvSpPr>
            <a:spLocks xmlns:a="http://schemas.openxmlformats.org/drawingml/2006/main" noGrp="1"/>
          </p:cNvSpPr>
          <p:nvPr/>
        </p:nvSpPr>
        <p:spPr>
          <a:xfrm xmlns:a="http://schemas.openxmlformats.org/drawingml/2006/main">
            <a:off x="514350" y="4381500"/>
            <a:ext cx="4095750" cy="11430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47022854-DC6D-4A7C-957F-D79E9B0D423A}"/>
              </a:ext>
            </a:extLst>
          </p:cNvPr>
          <p:cNvSpPr>
            <a:spLocks xmlns:a="http://schemas.openxmlformats.org/drawingml/2006/main" noGrp="1"/>
          </p:cNvSpPr>
          <p:nvPr/>
        </p:nvSpPr>
        <p:spPr>
          <a:xfrm xmlns:a="http://schemas.openxmlformats.org/drawingml/2006/main">
            <a:off x="666750" y="451485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Cum se foloseste ecranul</a:t>
            </a:r>
          </a:p>
        </p:txBody>
      </p:sp>
      <p:sp>
        <p:nvSpPr>
          <p:cNvPr id="11" name="">
            <a:extLst xmlns:a="http://schemas.openxmlformats.org/drawingml/2006/main">
              <a:ext uri="{FF2B5EF4-FFF2-40B4-BE49-F238E27FC236}">
                <a16:creationId xmlns:a16="http://schemas.microsoft.com/office/drawing/2014/main" id="{AB622321-7BC2-4C7E-B506-FD2B727E907E}"/>
              </a:ext>
            </a:extLst>
          </p:cNvPr>
          <p:cNvSpPr>
            <a:spLocks xmlns:a="http://schemas.openxmlformats.org/drawingml/2006/main" noGrp="1"/>
          </p:cNvSpPr>
          <p:nvPr/>
        </p:nvSpPr>
        <p:spPr>
          <a:xfrm xmlns:a="http://schemas.openxmlformats.org/drawingml/2006/main">
            <a:off x="666750" y="4876800"/>
            <a:ext cx="3790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Utilizatorul porneste din acest ecran, completeaza informatiile necesare si verifica sumarul inainte de a salva sau de a trimite fluxul mai departe. La final, completarea portofoliului nu se mai bazeaza pe memorie sau pe liste externe.</a:t>
            </a:r>
          </a:p>
        </p:txBody>
      </p:sp>
      <p:sp>
        <p:nvSpPr>
          <p:cNvPr id="12" name="">
            <a:extLst xmlns:a="http://schemas.openxmlformats.org/drawingml/2006/main">
              <a:ext uri="{FF2B5EF4-FFF2-40B4-BE49-F238E27FC236}">
                <a16:creationId xmlns:a16="http://schemas.microsoft.com/office/drawing/2014/main" id="{38BA4954-5B71-4035-A3B1-2BFE64FE6A3C}"/>
              </a:ext>
            </a:extLst>
          </p:cNvPr>
          <p:cNvSpPr>
            <a:spLocks xmlns:a="http://schemas.openxmlformats.org/drawingml/2006/main" noGrp="1"/>
          </p:cNvSpPr>
          <p:nvPr/>
        </p:nvSpPr>
        <p:spPr>
          <a:xfrm xmlns:a="http://schemas.openxmlformats.org/drawingml/2006/main">
            <a:off x="514350" y="5657850"/>
            <a:ext cx="409575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5CA8FFB1-1240-4F4E-B29D-E4D6673A941D}"/>
              </a:ext>
            </a:extLst>
          </p:cNvPr>
          <p:cNvSpPr>
            <a:spLocks xmlns:a="http://schemas.openxmlformats.org/drawingml/2006/main" noGrp="1"/>
          </p:cNvSpPr>
          <p:nvPr/>
        </p:nvSpPr>
        <p:spPr>
          <a:xfrm xmlns:a="http://schemas.openxmlformats.org/drawingml/2006/main">
            <a:off x="666750" y="5791200"/>
            <a:ext cx="3790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Rezultat final: Completarea portofoliului nu se mai bazeaza pe memorie sau pe liste externe.</a:t>
            </a:r>
          </a:p>
        </p:txBody>
      </p:sp>
      <p:sp>
        <p:nvSpPr>
          <p:cNvPr id="14" name="">
            <a:extLst xmlns:a="http://schemas.openxmlformats.org/drawingml/2006/main">
              <a:ext uri="{FF2B5EF4-FFF2-40B4-BE49-F238E27FC236}">
                <a16:creationId xmlns:a16="http://schemas.microsoft.com/office/drawing/2014/main" id="{AE8214D2-6573-44E1-9818-2AC149CE4625}"/>
              </a:ext>
            </a:extLst>
          </p:cNvPr>
          <p:cNvSpPr>
            <a:spLocks xmlns:a="http://schemas.openxmlformats.org/drawingml/2006/main" noGrp="1"/>
          </p:cNvSpPr>
          <p:nvPr/>
        </p:nvSpPr>
        <p:spPr>
          <a:xfrm xmlns:a="http://schemas.openxmlformats.org/drawingml/2006/main">
            <a:off x="4895850" y="1981200"/>
            <a:ext cx="6610350" cy="37338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f23a4db38bc04515"/>
          <a:stretch xmlns:a="http://schemas.openxmlformats.org/drawingml/2006/main"/>
        </p:blipFill>
        <p:spPr>
          <a:xfrm xmlns:a="http://schemas.openxmlformats.org/drawingml/2006/main">
            <a:off x="5085292" y="2095500"/>
            <a:ext cx="6231467" cy="3505200"/>
          </a:xfrm>
          <a:prstGeom xmlns:a="http://schemas.openxmlformats.org/drawingml/2006/main" prst="roundRect">
            <a:avLst>
              <a:gd name="adj" fmla="val 3261"/>
            </a:avLst>
          </a:prstGeom>
        </p:spPr>
      </p:pic>
      <p:sp>
        <p:nvSpPr>
          <p:cNvPr id="16" name="">
            <a:extLst xmlns:a="http://schemas.openxmlformats.org/drawingml/2006/main">
              <a:ext uri="{FF2B5EF4-FFF2-40B4-BE49-F238E27FC236}">
                <a16:creationId xmlns:a16="http://schemas.microsoft.com/office/drawing/2014/main" id="{C3491EB2-55BA-430C-87CC-79597D5A3AFC}"/>
              </a:ext>
            </a:extLst>
          </p:cNvPr>
          <p:cNvSpPr>
            <a:spLocks xmlns:a="http://schemas.openxmlformats.org/drawingml/2006/main" noGrp="1"/>
          </p:cNvSpPr>
          <p:nvPr/>
        </p:nvSpPr>
        <p:spPr>
          <a:xfrm xmlns:a="http://schemas.openxmlformats.org/drawingml/2006/main">
            <a:off x="4895850" y="5772150"/>
            <a:ext cx="6610350" cy="476250"/>
          </a:xfrm>
          <a:prstGeom xmlns:a="http://schemas.openxmlformats.org/drawingml/2006/main" prst="roundRect">
            <a:avLst>
              <a:gd name="adj" fmla="val 32000"/>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0838DC3B-6375-467A-A938-E7A282C48E01}"/>
              </a:ext>
            </a:extLst>
          </p:cNvPr>
          <p:cNvSpPr>
            <a:spLocks xmlns:a="http://schemas.openxmlformats.org/drawingml/2006/main" noGrp="1"/>
          </p:cNvSpPr>
          <p:nvPr/>
        </p:nvSpPr>
        <p:spPr>
          <a:xfrm xmlns:a="http://schemas.openxmlformats.org/drawingml/2006/main">
            <a:off x="5048250" y="5905500"/>
            <a:ext cx="6305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Ce observi in captura: Captura prezinta ecranul real folosit de utilizator in workflow-ul de completare a portofoliului, cu zonele de lista, filtrare, completare si actiune vizibile exact asa cum apar in aplicatie.</a:t>
            </a:r>
          </a:p>
        </p:txBody>
      </p:sp>
      <p:sp>
        <p:nvSpPr>
          <p:cNvPr id="18" name="">
            <a:extLst xmlns:a="http://schemas.openxmlformats.org/drawingml/2006/main">
              <a:ext uri="{FF2B5EF4-FFF2-40B4-BE49-F238E27FC236}">
                <a16:creationId xmlns:a16="http://schemas.microsoft.com/office/drawing/2014/main" id="{1F197E46-1452-418B-AFE9-CE53E3840071}"/>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9" name="">
            <a:extLst xmlns:a="http://schemas.openxmlformats.org/drawingml/2006/main">
              <a:ext uri="{FF2B5EF4-FFF2-40B4-BE49-F238E27FC236}">
                <a16:creationId xmlns:a16="http://schemas.microsoft.com/office/drawing/2014/main" id="{2330753D-DEA5-4580-AC4A-02FD8659F108}"/>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Workflow de portofoliu</a:t>
            </a:r>
          </a:p>
        </p:txBody>
      </p:sp>
    </p:spTree>
    <p:extLst>
      <p:ext uri="{BB962C8B-B14F-4D97-AF65-F5344CB8AC3E}">
        <p14:creationId xmlns:p14="http://schemas.microsoft.com/office/powerpoint/2010/main" val="79567069"/>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23B833A-1B5A-4DF8-8384-82FD71B8668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6232FBEE-3100-4B18-844A-3206C4AC446F}"/>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Portofolii institutionale</a:t>
            </a:r>
          </a:p>
        </p:txBody>
      </p:sp>
      <p:sp>
        <p:nvSpPr>
          <p:cNvPr id="3" name="">
            <a:extLst xmlns:a="http://schemas.openxmlformats.org/drawingml/2006/main">
              <a:ext uri="{FF2B5EF4-FFF2-40B4-BE49-F238E27FC236}">
                <a16:creationId xmlns:a16="http://schemas.microsoft.com/office/drawing/2014/main" id="{41CCF489-43B0-4B1F-8180-DB6B58B7FC8A}"/>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Wizard portofoliu cadru didactic</a:t>
            </a:r>
          </a:p>
        </p:txBody>
      </p:sp>
      <p:sp>
        <p:nvSpPr>
          <p:cNvPr id="4" name="">
            <a:extLst xmlns:a="http://schemas.openxmlformats.org/drawingml/2006/main">
              <a:ext uri="{FF2B5EF4-FFF2-40B4-BE49-F238E27FC236}">
                <a16:creationId xmlns:a16="http://schemas.microsoft.com/office/drawing/2014/main" id="{C08EF8B9-F4CB-42BF-B5C3-E345E10A9205}"/>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41</a:t>
            </a:r>
          </a:p>
        </p:txBody>
      </p:sp>
      <p:sp>
        <p:nvSpPr>
          <p:cNvPr id="5" name="">
            <a:extLst xmlns:a="http://schemas.openxmlformats.org/drawingml/2006/main">
              <a:ext uri="{FF2B5EF4-FFF2-40B4-BE49-F238E27FC236}">
                <a16:creationId xmlns:a16="http://schemas.microsoft.com/office/drawing/2014/main" id="{27655682-F2E4-44DF-9DD8-F2EB50B6BD22}"/>
              </a:ext>
            </a:extLst>
          </p:cNvPr>
          <p:cNvSpPr>
            <a:spLocks xmlns:a="http://schemas.openxmlformats.org/drawingml/2006/main" noGrp="1"/>
          </p:cNvSpPr>
          <p:nvPr/>
        </p:nvSpPr>
        <p:spPr>
          <a:xfrm xmlns:a="http://schemas.openxmlformats.org/drawingml/2006/main">
            <a:off x="514350" y="114300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Secretariatul sau managementul poate deschide un portofoliu nou prin wizard-ul dedicat, stabilind titularul, structura si regulile de retentie.</a:t>
            </a:r>
          </a:p>
        </p:txBody>
      </p:sp>
      <p:sp>
        <p:nvSpPr>
          <p:cNvPr id="6" name="">
            <a:extLst xmlns:a="http://schemas.openxmlformats.org/drawingml/2006/main">
              <a:ext uri="{FF2B5EF4-FFF2-40B4-BE49-F238E27FC236}">
                <a16:creationId xmlns:a16="http://schemas.microsoft.com/office/drawing/2014/main" id="{1839E353-FD72-48BF-B662-E65276352F7E}"/>
              </a:ext>
            </a:extLst>
          </p:cNvPr>
          <p:cNvSpPr>
            <a:spLocks xmlns:a="http://schemas.openxmlformats.org/drawingml/2006/main" noGrp="1"/>
          </p:cNvSpPr>
          <p:nvPr/>
        </p:nvSpPr>
        <p:spPr>
          <a:xfrm xmlns:a="http://schemas.openxmlformats.org/drawingml/2006/main">
            <a:off x="514350" y="1981200"/>
            <a:ext cx="4095750" cy="224790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3A5EB653-FA1C-43F6-AFF0-7E920536C15B}"/>
              </a:ext>
            </a:extLst>
          </p:cNvPr>
          <p:cNvSpPr>
            <a:spLocks xmlns:a="http://schemas.openxmlformats.org/drawingml/2006/main" noGrp="1"/>
          </p:cNvSpPr>
          <p:nvPr/>
        </p:nvSpPr>
        <p:spPr>
          <a:xfrm xmlns:a="http://schemas.openxmlformats.org/drawingml/2006/main">
            <a:off x="666750" y="21145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Ce face utilizatorul</a:t>
            </a:r>
          </a:p>
        </p:txBody>
      </p:sp>
      <p:sp>
        <p:nvSpPr>
          <p:cNvPr id="8" name="">
            <a:extLst xmlns:a="http://schemas.openxmlformats.org/drawingml/2006/main">
              <a:ext uri="{FF2B5EF4-FFF2-40B4-BE49-F238E27FC236}">
                <a16:creationId xmlns:a16="http://schemas.microsoft.com/office/drawing/2014/main" id="{A0F2ABE9-29EC-40D2-9816-6B9003EA2862}"/>
              </a:ext>
            </a:extLst>
          </p:cNvPr>
          <p:cNvSpPr>
            <a:spLocks xmlns:a="http://schemas.openxmlformats.org/drawingml/2006/main" noGrp="1"/>
          </p:cNvSpPr>
          <p:nvPr/>
        </p:nvSpPr>
        <p:spPr>
          <a:xfrm xmlns:a="http://schemas.openxmlformats.org/drawingml/2006/main">
            <a:off x="666750" y="2476500"/>
            <a:ext cx="37909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Alegi titularul si functia.</a:t>
            </a:r>
          </a:p>
          <a:p xmlns:a="http://schemas.openxmlformats.org/drawingml/2006/main">
            <a:pPr>
              <a:defRPr sz="1125">
                <a:solidFill>
                  <a:srgbClr val="314158"/>
                </a:solidFill>
              </a:defRPr>
            </a:pPr>
            <a:r>
              <a:rPr sz="1125">
                <a:solidFill>
                  <a:srgbClr val="314158"/>
                </a:solidFill>
              </a:rPr>
              <a:t>• Stabilesti anul scolar, numarul de sectiuni si starea initiala.</a:t>
            </a:r>
          </a:p>
          <a:p xmlns:a="http://schemas.openxmlformats.org/drawingml/2006/main">
            <a:pPr>
              <a:defRPr sz="1125">
                <a:solidFill>
                  <a:srgbClr val="314158"/>
                </a:solidFill>
              </a:defRPr>
            </a:pPr>
            <a:r>
              <a:rPr sz="1125">
                <a:solidFill>
                  <a:srgbClr val="314158"/>
                </a:solidFill>
              </a:rPr>
              <a:t>• Configurezi autenticitatea, consimtamantul si transferul.</a:t>
            </a:r>
          </a:p>
        </p:txBody>
      </p:sp>
      <p:sp>
        <p:nvSpPr>
          <p:cNvPr id="9" name="">
            <a:extLst xmlns:a="http://schemas.openxmlformats.org/drawingml/2006/main">
              <a:ext uri="{FF2B5EF4-FFF2-40B4-BE49-F238E27FC236}">
                <a16:creationId xmlns:a16="http://schemas.microsoft.com/office/drawing/2014/main" id="{E69CCB92-9D6D-47E5-B0C7-73B75F515E2B}"/>
              </a:ext>
            </a:extLst>
          </p:cNvPr>
          <p:cNvSpPr>
            <a:spLocks xmlns:a="http://schemas.openxmlformats.org/drawingml/2006/main" noGrp="1"/>
          </p:cNvSpPr>
          <p:nvPr/>
        </p:nvSpPr>
        <p:spPr>
          <a:xfrm xmlns:a="http://schemas.openxmlformats.org/drawingml/2006/main">
            <a:off x="514350" y="4381500"/>
            <a:ext cx="4095750" cy="11430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B0E17FDB-B679-487E-B246-68883CB8FBCF}"/>
              </a:ext>
            </a:extLst>
          </p:cNvPr>
          <p:cNvSpPr>
            <a:spLocks xmlns:a="http://schemas.openxmlformats.org/drawingml/2006/main" noGrp="1"/>
          </p:cNvSpPr>
          <p:nvPr/>
        </p:nvSpPr>
        <p:spPr>
          <a:xfrm xmlns:a="http://schemas.openxmlformats.org/drawingml/2006/main">
            <a:off x="666750" y="451485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Cum se foloseste ecranul</a:t>
            </a:r>
          </a:p>
        </p:txBody>
      </p:sp>
      <p:sp>
        <p:nvSpPr>
          <p:cNvPr id="11" name="">
            <a:extLst xmlns:a="http://schemas.openxmlformats.org/drawingml/2006/main">
              <a:ext uri="{FF2B5EF4-FFF2-40B4-BE49-F238E27FC236}">
                <a16:creationId xmlns:a16="http://schemas.microsoft.com/office/drawing/2014/main" id="{6EC8DDA3-AA3E-480B-A6E3-0272E49438F8}"/>
              </a:ext>
            </a:extLst>
          </p:cNvPr>
          <p:cNvSpPr>
            <a:spLocks xmlns:a="http://schemas.openxmlformats.org/drawingml/2006/main" noGrp="1"/>
          </p:cNvSpPr>
          <p:nvPr/>
        </p:nvSpPr>
        <p:spPr>
          <a:xfrm xmlns:a="http://schemas.openxmlformats.org/drawingml/2006/main">
            <a:off x="666750" y="4876800"/>
            <a:ext cx="3790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Utilizatorul porneste din acest ecran, completeaza informatiile necesare si verifica sumarul inainte de a salva sau de a trimite fluxul mai departe. La final, portofoliul este creat corect si pregatit pentru completare sau verificare.</a:t>
            </a:r>
          </a:p>
        </p:txBody>
      </p:sp>
      <p:sp>
        <p:nvSpPr>
          <p:cNvPr id="12" name="">
            <a:extLst xmlns:a="http://schemas.openxmlformats.org/drawingml/2006/main">
              <a:ext uri="{FF2B5EF4-FFF2-40B4-BE49-F238E27FC236}">
                <a16:creationId xmlns:a16="http://schemas.microsoft.com/office/drawing/2014/main" id="{42D7BF96-F20D-4681-B645-E673F5E4F3DF}"/>
              </a:ext>
            </a:extLst>
          </p:cNvPr>
          <p:cNvSpPr>
            <a:spLocks xmlns:a="http://schemas.openxmlformats.org/drawingml/2006/main" noGrp="1"/>
          </p:cNvSpPr>
          <p:nvPr/>
        </p:nvSpPr>
        <p:spPr>
          <a:xfrm xmlns:a="http://schemas.openxmlformats.org/drawingml/2006/main">
            <a:off x="514350" y="5657850"/>
            <a:ext cx="409575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F4178AF8-6E58-4E6D-977F-DF049C394AEA}"/>
              </a:ext>
            </a:extLst>
          </p:cNvPr>
          <p:cNvSpPr>
            <a:spLocks xmlns:a="http://schemas.openxmlformats.org/drawingml/2006/main" noGrp="1"/>
          </p:cNvSpPr>
          <p:nvPr/>
        </p:nvSpPr>
        <p:spPr>
          <a:xfrm xmlns:a="http://schemas.openxmlformats.org/drawingml/2006/main">
            <a:off x="666750" y="5791200"/>
            <a:ext cx="3790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Rezultat final: Portofoliul este creat corect si pregatit pentru completare sau verificare.</a:t>
            </a:r>
          </a:p>
        </p:txBody>
      </p:sp>
      <p:sp>
        <p:nvSpPr>
          <p:cNvPr id="14" name="">
            <a:extLst xmlns:a="http://schemas.openxmlformats.org/drawingml/2006/main">
              <a:ext uri="{FF2B5EF4-FFF2-40B4-BE49-F238E27FC236}">
                <a16:creationId xmlns:a16="http://schemas.microsoft.com/office/drawing/2014/main" id="{0A108981-26EA-49C9-9485-A5A3CA198461}"/>
              </a:ext>
            </a:extLst>
          </p:cNvPr>
          <p:cNvSpPr>
            <a:spLocks xmlns:a="http://schemas.openxmlformats.org/drawingml/2006/main" noGrp="1"/>
          </p:cNvSpPr>
          <p:nvPr/>
        </p:nvSpPr>
        <p:spPr>
          <a:xfrm xmlns:a="http://schemas.openxmlformats.org/drawingml/2006/main">
            <a:off x="4895850" y="1981200"/>
            <a:ext cx="6610350" cy="37338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5bc52e23ce424656"/>
          <a:stretch xmlns:a="http://schemas.openxmlformats.org/drawingml/2006/main"/>
        </p:blipFill>
        <p:spPr>
          <a:xfrm xmlns:a="http://schemas.openxmlformats.org/drawingml/2006/main">
            <a:off x="5085292" y="2095500"/>
            <a:ext cx="6231467" cy="3505200"/>
          </a:xfrm>
          <a:prstGeom xmlns:a="http://schemas.openxmlformats.org/drawingml/2006/main" prst="roundRect">
            <a:avLst>
              <a:gd name="adj" fmla="val 3261"/>
            </a:avLst>
          </a:prstGeom>
        </p:spPr>
      </p:pic>
      <p:sp>
        <p:nvSpPr>
          <p:cNvPr id="16" name="">
            <a:extLst xmlns:a="http://schemas.openxmlformats.org/drawingml/2006/main">
              <a:ext uri="{FF2B5EF4-FFF2-40B4-BE49-F238E27FC236}">
                <a16:creationId xmlns:a16="http://schemas.microsoft.com/office/drawing/2014/main" id="{4CC10144-E867-44AC-AA23-DA3C576A9A22}"/>
              </a:ext>
            </a:extLst>
          </p:cNvPr>
          <p:cNvSpPr>
            <a:spLocks xmlns:a="http://schemas.openxmlformats.org/drawingml/2006/main" noGrp="1"/>
          </p:cNvSpPr>
          <p:nvPr/>
        </p:nvSpPr>
        <p:spPr>
          <a:xfrm xmlns:a="http://schemas.openxmlformats.org/drawingml/2006/main">
            <a:off x="4895850" y="5772150"/>
            <a:ext cx="6610350" cy="476250"/>
          </a:xfrm>
          <a:prstGeom xmlns:a="http://schemas.openxmlformats.org/drawingml/2006/main" prst="roundRect">
            <a:avLst>
              <a:gd name="adj" fmla="val 32000"/>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2A2BF01D-D32E-44CB-B287-E05E201F5C00}"/>
              </a:ext>
            </a:extLst>
          </p:cNvPr>
          <p:cNvSpPr>
            <a:spLocks xmlns:a="http://schemas.openxmlformats.org/drawingml/2006/main" noGrp="1"/>
          </p:cNvSpPr>
          <p:nvPr/>
        </p:nvSpPr>
        <p:spPr>
          <a:xfrm xmlns:a="http://schemas.openxmlformats.org/drawingml/2006/main">
            <a:off x="5048250" y="5905500"/>
            <a:ext cx="6305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Ce observi in captura: Captura prezinta ecranul real folosit de utilizator in wizard portofoliu cadru didactic, cu zonele de lista, filtrare, completare si actiune vizibile exact asa cum apar in aplicatie.</a:t>
            </a:r>
          </a:p>
        </p:txBody>
      </p:sp>
      <p:sp>
        <p:nvSpPr>
          <p:cNvPr id="18" name="">
            <a:extLst xmlns:a="http://schemas.openxmlformats.org/drawingml/2006/main">
              <a:ext uri="{FF2B5EF4-FFF2-40B4-BE49-F238E27FC236}">
                <a16:creationId xmlns:a16="http://schemas.microsoft.com/office/drawing/2014/main" id="{CD686618-0E5A-4975-92C0-8E48CE4DBCC8}"/>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9" name="">
            <a:extLst xmlns:a="http://schemas.openxmlformats.org/drawingml/2006/main">
              <a:ext uri="{FF2B5EF4-FFF2-40B4-BE49-F238E27FC236}">
                <a16:creationId xmlns:a16="http://schemas.microsoft.com/office/drawing/2014/main" id="{AAF73903-70D5-4F5B-9B4C-A10A43684EAD}"/>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Creare portofoliu institutional</a:t>
            </a:r>
          </a:p>
        </p:txBody>
      </p:sp>
    </p:spTree>
    <p:extLst>
      <p:ext uri="{BB962C8B-B14F-4D97-AF65-F5344CB8AC3E}">
        <p14:creationId xmlns:p14="http://schemas.microsoft.com/office/powerpoint/2010/main" val="19504772"/>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E9A3D7D-00F7-4236-8D74-28A6111F12F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A73682DA-6B78-4082-978E-D545B42CC140}"/>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Cerinte metodologice</a:t>
            </a:r>
          </a:p>
        </p:txBody>
      </p:sp>
      <p:sp>
        <p:nvSpPr>
          <p:cNvPr id="3" name="">
            <a:extLst xmlns:a="http://schemas.openxmlformats.org/drawingml/2006/main">
              <a:ext uri="{FF2B5EF4-FFF2-40B4-BE49-F238E27FC236}">
                <a16:creationId xmlns:a16="http://schemas.microsoft.com/office/drawing/2014/main" id="{9DB8BC4C-11AA-45CE-B8E2-82D03FDFAFE8}"/>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Opis, indexare si datare</a:t>
            </a:r>
          </a:p>
        </p:txBody>
      </p:sp>
      <p:sp>
        <p:nvSpPr>
          <p:cNvPr id="4" name="">
            <a:extLst xmlns:a="http://schemas.openxmlformats.org/drawingml/2006/main">
              <a:ext uri="{FF2B5EF4-FFF2-40B4-BE49-F238E27FC236}">
                <a16:creationId xmlns:a16="http://schemas.microsoft.com/office/drawing/2014/main" id="{FF1F5056-4886-4145-A2CA-092255759973}"/>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42</a:t>
            </a:r>
          </a:p>
        </p:txBody>
      </p:sp>
      <p:sp>
        <p:nvSpPr>
          <p:cNvPr id="5" name="">
            <a:extLst xmlns:a="http://schemas.openxmlformats.org/drawingml/2006/main">
              <a:ext uri="{FF2B5EF4-FFF2-40B4-BE49-F238E27FC236}">
                <a16:creationId xmlns:a16="http://schemas.microsoft.com/office/drawing/2014/main" id="{0441AF25-623B-4EA3-B8F7-F871FCEC7DB9}"/>
              </a:ext>
            </a:extLst>
          </p:cNvPr>
          <p:cNvSpPr>
            <a:spLocks xmlns:a="http://schemas.openxmlformats.org/drawingml/2006/main" noGrp="1"/>
          </p:cNvSpPr>
          <p:nvPr/>
        </p:nvSpPr>
        <p:spPr>
          <a:xfrm xmlns:a="http://schemas.openxmlformats.org/drawingml/2006/main">
            <a:off x="514350" y="1181100"/>
            <a:ext cx="10858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314158"/>
                </a:solidFill>
              </a:defRPr>
            </a:pPr>
            <a:r>
              <a:rPr sz="1275">
                <a:solidFill>
                  <a:srgbClr val="314158"/>
                </a:solidFill>
              </a:rPr>
              <a:t>Portofoliul profesional este usor de urmarit deoarece documentele pot fi ordonate, indexate si datate in mod consecvent. Utilizatorul stie astfel ce exista, ce lipseste si in ce ordine se regasesc dovezile.</a:t>
            </a:r>
          </a:p>
        </p:txBody>
      </p:sp>
      <p:sp>
        <p:nvSpPr>
          <p:cNvPr id="6" name="">
            <a:extLst xmlns:a="http://schemas.openxmlformats.org/drawingml/2006/main">
              <a:ext uri="{FF2B5EF4-FFF2-40B4-BE49-F238E27FC236}">
                <a16:creationId xmlns:a16="http://schemas.microsoft.com/office/drawing/2014/main" id="{D0B07005-A775-43D1-B6B2-5D50BDE0A596}"/>
              </a:ext>
            </a:extLst>
          </p:cNvPr>
          <p:cNvSpPr>
            <a:spLocks xmlns:a="http://schemas.openxmlformats.org/drawingml/2006/main" noGrp="1"/>
          </p:cNvSpPr>
          <p:nvPr/>
        </p:nvSpPr>
        <p:spPr>
          <a:xfrm xmlns:a="http://schemas.openxmlformats.org/drawingml/2006/main">
            <a:off x="514350"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CB8CB099-7C6D-47E3-BA81-8AC2FC41F48D}"/>
              </a:ext>
            </a:extLst>
          </p:cNvPr>
          <p:cNvSpPr>
            <a:spLocks xmlns:a="http://schemas.openxmlformats.org/drawingml/2006/main" noGrp="1"/>
          </p:cNvSpPr>
          <p:nvPr/>
        </p:nvSpPr>
        <p:spPr>
          <a:xfrm xmlns:a="http://schemas.openxmlformats.org/drawingml/2006/main">
            <a:off x="666750" y="23431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Opis</a:t>
            </a:r>
          </a:p>
        </p:txBody>
      </p:sp>
      <p:sp>
        <p:nvSpPr>
          <p:cNvPr id="8" name="">
            <a:extLst xmlns:a="http://schemas.openxmlformats.org/drawingml/2006/main">
              <a:ext uri="{FF2B5EF4-FFF2-40B4-BE49-F238E27FC236}">
                <a16:creationId xmlns:a16="http://schemas.microsoft.com/office/drawing/2014/main" id="{76689AB4-7A32-40BF-AF2E-066AA1AF9647}"/>
              </a:ext>
            </a:extLst>
          </p:cNvPr>
          <p:cNvSpPr>
            <a:spLocks xmlns:a="http://schemas.openxmlformats.org/drawingml/2006/main" noGrp="1"/>
          </p:cNvSpPr>
          <p:nvPr/>
        </p:nvSpPr>
        <p:spPr>
          <a:xfrm xmlns:a="http://schemas.openxmlformats.org/drawingml/2006/main">
            <a:off x="666750"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Sistemul pastreaza lista documentelor din portofoliu intr-o forma clara si usor de consultat.</a:t>
            </a:r>
          </a:p>
        </p:txBody>
      </p:sp>
      <p:sp>
        <p:nvSpPr>
          <p:cNvPr id="9" name="">
            <a:extLst xmlns:a="http://schemas.openxmlformats.org/drawingml/2006/main">
              <a:ext uri="{FF2B5EF4-FFF2-40B4-BE49-F238E27FC236}">
                <a16:creationId xmlns:a16="http://schemas.microsoft.com/office/drawing/2014/main" id="{07A36548-0CAA-4643-8AAB-F9891EA4DC7F}"/>
              </a:ext>
            </a:extLst>
          </p:cNvPr>
          <p:cNvSpPr>
            <a:spLocks xmlns:a="http://schemas.openxmlformats.org/drawingml/2006/main" noGrp="1"/>
          </p:cNvSpPr>
          <p:nvPr/>
        </p:nvSpPr>
        <p:spPr>
          <a:xfrm xmlns:a="http://schemas.openxmlformats.org/drawingml/2006/main">
            <a:off x="6086475"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56150F9A-C4F1-474C-81BB-0C69987C2E7A}"/>
              </a:ext>
            </a:extLst>
          </p:cNvPr>
          <p:cNvSpPr>
            <a:spLocks xmlns:a="http://schemas.openxmlformats.org/drawingml/2006/main" noGrp="1"/>
          </p:cNvSpPr>
          <p:nvPr/>
        </p:nvSpPr>
        <p:spPr>
          <a:xfrm xmlns:a="http://schemas.openxmlformats.org/drawingml/2006/main">
            <a:off x="6238875" y="234315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Indexare</a:t>
            </a:r>
          </a:p>
        </p:txBody>
      </p:sp>
      <p:sp>
        <p:nvSpPr>
          <p:cNvPr id="11" name="">
            <a:extLst xmlns:a="http://schemas.openxmlformats.org/drawingml/2006/main">
              <a:ext uri="{FF2B5EF4-FFF2-40B4-BE49-F238E27FC236}">
                <a16:creationId xmlns:a16="http://schemas.microsoft.com/office/drawing/2014/main" id="{802A9DFF-0A7F-4543-A947-ECABF54A9B89}"/>
              </a:ext>
            </a:extLst>
          </p:cNvPr>
          <p:cNvSpPr>
            <a:spLocks xmlns:a="http://schemas.openxmlformats.org/drawingml/2006/main" noGrp="1"/>
          </p:cNvSpPr>
          <p:nvPr/>
        </p:nvSpPr>
        <p:spPr>
          <a:xfrm xmlns:a="http://schemas.openxmlformats.org/drawingml/2006/main">
            <a:off x="6238875"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Documentele raman ordonate pe sectiuni si componente, astfel incat verificarea sa fie rapida.</a:t>
            </a:r>
          </a:p>
        </p:txBody>
      </p:sp>
      <p:sp>
        <p:nvSpPr>
          <p:cNvPr id="12" name="">
            <a:extLst xmlns:a="http://schemas.openxmlformats.org/drawingml/2006/main">
              <a:ext uri="{FF2B5EF4-FFF2-40B4-BE49-F238E27FC236}">
                <a16:creationId xmlns:a16="http://schemas.microsoft.com/office/drawing/2014/main" id="{E67E3FED-CC6C-4F11-804C-318A3876CE90}"/>
              </a:ext>
            </a:extLst>
          </p:cNvPr>
          <p:cNvSpPr>
            <a:spLocks xmlns:a="http://schemas.openxmlformats.org/drawingml/2006/main" noGrp="1"/>
          </p:cNvSpPr>
          <p:nvPr/>
        </p:nvSpPr>
        <p:spPr>
          <a:xfrm xmlns:a="http://schemas.openxmlformats.org/drawingml/2006/main">
            <a:off x="514350" y="401955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7E3A4EB5-A35D-4C42-9AD8-BC862E5F2722}"/>
              </a:ext>
            </a:extLst>
          </p:cNvPr>
          <p:cNvSpPr>
            <a:spLocks xmlns:a="http://schemas.openxmlformats.org/drawingml/2006/main" noGrp="1"/>
          </p:cNvSpPr>
          <p:nvPr/>
        </p:nvSpPr>
        <p:spPr>
          <a:xfrm xmlns:a="http://schemas.openxmlformats.org/drawingml/2006/main">
            <a:off x="666750" y="415290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Datare</a:t>
            </a:r>
          </a:p>
        </p:txBody>
      </p:sp>
      <p:sp>
        <p:nvSpPr>
          <p:cNvPr id="14" name="">
            <a:extLst xmlns:a="http://schemas.openxmlformats.org/drawingml/2006/main">
              <a:ext uri="{FF2B5EF4-FFF2-40B4-BE49-F238E27FC236}">
                <a16:creationId xmlns:a16="http://schemas.microsoft.com/office/drawing/2014/main" id="{886DA837-DD0B-444B-AC66-C8342BC24FC9}"/>
              </a:ext>
            </a:extLst>
          </p:cNvPr>
          <p:cNvSpPr>
            <a:spLocks xmlns:a="http://schemas.openxmlformats.org/drawingml/2006/main" noGrp="1"/>
          </p:cNvSpPr>
          <p:nvPr/>
        </p:nvSpPr>
        <p:spPr>
          <a:xfrm xmlns:a="http://schemas.openxmlformats.org/drawingml/2006/main">
            <a:off x="666750" y="451485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Momentul actualizarii si al introducerii documentelor este vizibil si usor de urmarit.</a:t>
            </a:r>
          </a:p>
        </p:txBody>
      </p:sp>
      <p:sp>
        <p:nvSpPr>
          <p:cNvPr id="15" name="">
            <a:extLst xmlns:a="http://schemas.openxmlformats.org/drawingml/2006/main">
              <a:ext uri="{FF2B5EF4-FFF2-40B4-BE49-F238E27FC236}">
                <a16:creationId xmlns:a16="http://schemas.microsoft.com/office/drawing/2014/main" id="{22739AAC-A4BC-4251-84CF-88F24258E0FF}"/>
              </a:ext>
            </a:extLst>
          </p:cNvPr>
          <p:cNvSpPr>
            <a:spLocks xmlns:a="http://schemas.openxmlformats.org/drawingml/2006/main" noGrp="1"/>
          </p:cNvSpPr>
          <p:nvPr/>
        </p:nvSpPr>
        <p:spPr>
          <a:xfrm xmlns:a="http://schemas.openxmlformats.org/drawingml/2006/main">
            <a:off x="514350" y="5676900"/>
            <a:ext cx="1085850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A1500089-2FAB-4B17-AC80-4F6D3FD37500}"/>
              </a:ext>
            </a:extLst>
          </p:cNvPr>
          <p:cNvSpPr>
            <a:spLocks xmlns:a="http://schemas.openxmlformats.org/drawingml/2006/main" noGrp="1"/>
          </p:cNvSpPr>
          <p:nvPr/>
        </p:nvSpPr>
        <p:spPr>
          <a:xfrm xmlns:a="http://schemas.openxmlformats.org/drawingml/2006/main">
            <a:off x="666750" y="5810250"/>
            <a:ext cx="1055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se foloseste in practica: Portofoliul profesional este usor de urmarit deoarece documentele pot fi ordonate, indexate si datate in mod consecvent. Utilizatorul stie astfel ce exista, ce lipseste si in ce ordine se regasesc dovezile. Opis: Sistemul pastreaza lista documentelor din portofoliu intr-o forma clara si usor de consultat. Indexare: Documentele raman ordonate pe sectiuni si componente, astfel incat verificarea sa fie rapida. Datare: Momentul actualizarii si al introducerii documentelor este vizibil si usor de urmarit.</a:t>
            </a:r>
          </a:p>
        </p:txBody>
      </p:sp>
      <p:sp>
        <p:nvSpPr>
          <p:cNvPr id="17" name="">
            <a:extLst xmlns:a="http://schemas.openxmlformats.org/drawingml/2006/main">
              <a:ext uri="{FF2B5EF4-FFF2-40B4-BE49-F238E27FC236}">
                <a16:creationId xmlns:a16="http://schemas.microsoft.com/office/drawing/2014/main" id="{C72AD887-6D42-49E1-8CA4-A5A784ED290E}"/>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8" name="">
            <a:extLst xmlns:a="http://schemas.openxmlformats.org/drawingml/2006/main">
              <a:ext uri="{FF2B5EF4-FFF2-40B4-BE49-F238E27FC236}">
                <a16:creationId xmlns:a16="http://schemas.microsoft.com/office/drawing/2014/main" id="{DFAC844D-000E-4AB6-8BBB-2DFF0FE337A1}"/>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Portofoliu - opis si indexare</a:t>
            </a:r>
          </a:p>
        </p:txBody>
      </p:sp>
    </p:spTree>
    <p:extLst>
      <p:ext uri="{BB962C8B-B14F-4D97-AF65-F5344CB8AC3E}">
        <p14:creationId xmlns:p14="http://schemas.microsoft.com/office/powerpoint/2010/main" val="327155501"/>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CFBF39C-2F97-496E-9D59-5C290A70916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51381AF7-E5C4-40A2-B5AD-747245E2BAF3}"/>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Separarea documentelor</a:t>
            </a:r>
          </a:p>
        </p:txBody>
      </p:sp>
      <p:sp>
        <p:nvSpPr>
          <p:cNvPr id="3" name="">
            <a:extLst xmlns:a="http://schemas.openxmlformats.org/drawingml/2006/main">
              <a:ext uri="{FF2B5EF4-FFF2-40B4-BE49-F238E27FC236}">
                <a16:creationId xmlns:a16="http://schemas.microsoft.com/office/drawing/2014/main" id="{435541C8-4941-4448-BB96-88AC0C0E04A0}"/>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Portofoliu profesional versus dosar personal</a:t>
            </a:r>
          </a:p>
        </p:txBody>
      </p:sp>
      <p:sp>
        <p:nvSpPr>
          <p:cNvPr id="4" name="">
            <a:extLst xmlns:a="http://schemas.openxmlformats.org/drawingml/2006/main">
              <a:ext uri="{FF2B5EF4-FFF2-40B4-BE49-F238E27FC236}">
                <a16:creationId xmlns:a16="http://schemas.microsoft.com/office/drawing/2014/main" id="{35E56344-A1E2-4ADC-9068-A302B94CA2AB}"/>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43</a:t>
            </a:r>
          </a:p>
        </p:txBody>
      </p:sp>
      <p:sp>
        <p:nvSpPr>
          <p:cNvPr id="5" name="">
            <a:extLst xmlns:a="http://schemas.openxmlformats.org/drawingml/2006/main">
              <a:ext uri="{FF2B5EF4-FFF2-40B4-BE49-F238E27FC236}">
                <a16:creationId xmlns:a16="http://schemas.microsoft.com/office/drawing/2014/main" id="{26E89FAD-DF44-41B5-A8DE-E9E2316588AF}"/>
              </a:ext>
            </a:extLst>
          </p:cNvPr>
          <p:cNvSpPr>
            <a:spLocks xmlns:a="http://schemas.openxmlformats.org/drawingml/2006/main" noGrp="1"/>
          </p:cNvSpPr>
          <p:nvPr/>
        </p:nvSpPr>
        <p:spPr>
          <a:xfrm xmlns:a="http://schemas.openxmlformats.org/drawingml/2006/main">
            <a:off x="514350" y="1181100"/>
            <a:ext cx="10858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314158"/>
                </a:solidFill>
              </a:defRPr>
            </a:pPr>
            <a:r>
              <a:rPr sz="1275">
                <a:solidFill>
                  <a:srgbClr val="314158"/>
                </a:solidFill>
              </a:rPr>
              <a:t>Manualul de utilizare trateaza portofoliul profesional si dosarul personal ca doua zone distincte, chiar daca unele informatii se coreleaza. Utilizatorul trebuie sa stie clar unde lucreaza si ce rezultat obtine.</a:t>
            </a:r>
          </a:p>
        </p:txBody>
      </p:sp>
      <p:sp>
        <p:nvSpPr>
          <p:cNvPr id="6" name="">
            <a:extLst xmlns:a="http://schemas.openxmlformats.org/drawingml/2006/main">
              <a:ext uri="{FF2B5EF4-FFF2-40B4-BE49-F238E27FC236}">
                <a16:creationId xmlns:a16="http://schemas.microsoft.com/office/drawing/2014/main" id="{11D1F8D3-B276-4612-926F-EE0EB4DA1D1B}"/>
              </a:ext>
            </a:extLst>
          </p:cNvPr>
          <p:cNvSpPr>
            <a:spLocks xmlns:a="http://schemas.openxmlformats.org/drawingml/2006/main" noGrp="1"/>
          </p:cNvSpPr>
          <p:nvPr/>
        </p:nvSpPr>
        <p:spPr>
          <a:xfrm xmlns:a="http://schemas.openxmlformats.org/drawingml/2006/main">
            <a:off x="514350"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75E21B1B-0E94-44FF-8227-CD8267873532}"/>
              </a:ext>
            </a:extLst>
          </p:cNvPr>
          <p:cNvSpPr>
            <a:spLocks xmlns:a="http://schemas.openxmlformats.org/drawingml/2006/main" noGrp="1"/>
          </p:cNvSpPr>
          <p:nvPr/>
        </p:nvSpPr>
        <p:spPr>
          <a:xfrm xmlns:a="http://schemas.openxmlformats.org/drawingml/2006/main">
            <a:off x="666750" y="23431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Portofoliu profesional</a:t>
            </a:r>
          </a:p>
        </p:txBody>
      </p:sp>
      <p:sp>
        <p:nvSpPr>
          <p:cNvPr id="8" name="">
            <a:extLst xmlns:a="http://schemas.openxmlformats.org/drawingml/2006/main">
              <a:ext uri="{FF2B5EF4-FFF2-40B4-BE49-F238E27FC236}">
                <a16:creationId xmlns:a16="http://schemas.microsoft.com/office/drawing/2014/main" id="{ACF66B88-5A99-42DD-95CB-9F7F1AF9AABD}"/>
              </a:ext>
            </a:extLst>
          </p:cNvPr>
          <p:cNvSpPr>
            <a:spLocks xmlns:a="http://schemas.openxmlformats.org/drawingml/2006/main" noGrp="1"/>
          </p:cNvSpPr>
          <p:nvPr/>
        </p:nvSpPr>
        <p:spPr>
          <a:xfrm xmlns:a="http://schemas.openxmlformats.org/drawingml/2006/main">
            <a:off x="666750"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Contine dovezi, sectiuni si materiale pentru activitatea profesionala si evaluarea cadrului didactic.</a:t>
            </a:r>
          </a:p>
        </p:txBody>
      </p:sp>
      <p:sp>
        <p:nvSpPr>
          <p:cNvPr id="9" name="">
            <a:extLst xmlns:a="http://schemas.openxmlformats.org/drawingml/2006/main">
              <a:ext uri="{FF2B5EF4-FFF2-40B4-BE49-F238E27FC236}">
                <a16:creationId xmlns:a16="http://schemas.microsoft.com/office/drawing/2014/main" id="{4ECEDE6B-A401-432D-8463-8B4B71FAB2C8}"/>
              </a:ext>
            </a:extLst>
          </p:cNvPr>
          <p:cNvSpPr>
            <a:spLocks xmlns:a="http://schemas.openxmlformats.org/drawingml/2006/main" noGrp="1"/>
          </p:cNvSpPr>
          <p:nvPr/>
        </p:nvSpPr>
        <p:spPr>
          <a:xfrm xmlns:a="http://schemas.openxmlformats.org/drawingml/2006/main">
            <a:off x="6086475"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60B925CB-4BF8-485D-A407-002FC481EBFF}"/>
              </a:ext>
            </a:extLst>
          </p:cNvPr>
          <p:cNvSpPr>
            <a:spLocks xmlns:a="http://schemas.openxmlformats.org/drawingml/2006/main" noGrp="1"/>
          </p:cNvSpPr>
          <p:nvPr/>
        </p:nvSpPr>
        <p:spPr>
          <a:xfrm xmlns:a="http://schemas.openxmlformats.org/drawingml/2006/main">
            <a:off x="6238875" y="234315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Dosar personal</a:t>
            </a:r>
          </a:p>
        </p:txBody>
      </p:sp>
      <p:sp>
        <p:nvSpPr>
          <p:cNvPr id="11" name="">
            <a:extLst xmlns:a="http://schemas.openxmlformats.org/drawingml/2006/main">
              <a:ext uri="{FF2B5EF4-FFF2-40B4-BE49-F238E27FC236}">
                <a16:creationId xmlns:a16="http://schemas.microsoft.com/office/drawing/2014/main" id="{77327078-5CD3-4B67-B803-588CE9621A13}"/>
              </a:ext>
            </a:extLst>
          </p:cNvPr>
          <p:cNvSpPr>
            <a:spLocks xmlns:a="http://schemas.openxmlformats.org/drawingml/2006/main" noGrp="1"/>
          </p:cNvSpPr>
          <p:nvPr/>
        </p:nvSpPr>
        <p:spPr>
          <a:xfrm xmlns:a="http://schemas.openxmlformats.org/drawingml/2006/main">
            <a:off x="6238875"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Contine documente de personal, evidenta administrativa si alte piese tinute in custodie institutionala.</a:t>
            </a:r>
          </a:p>
        </p:txBody>
      </p:sp>
      <p:sp>
        <p:nvSpPr>
          <p:cNvPr id="12" name="">
            <a:extLst xmlns:a="http://schemas.openxmlformats.org/drawingml/2006/main">
              <a:ext uri="{FF2B5EF4-FFF2-40B4-BE49-F238E27FC236}">
                <a16:creationId xmlns:a16="http://schemas.microsoft.com/office/drawing/2014/main" id="{90400578-D247-4263-AA73-4D018853F77B}"/>
              </a:ext>
            </a:extLst>
          </p:cNvPr>
          <p:cNvSpPr>
            <a:spLocks xmlns:a="http://schemas.openxmlformats.org/drawingml/2006/main" noGrp="1"/>
          </p:cNvSpPr>
          <p:nvPr/>
        </p:nvSpPr>
        <p:spPr>
          <a:xfrm xmlns:a="http://schemas.openxmlformats.org/drawingml/2006/main">
            <a:off x="514350" y="401955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829C2A0B-2CD2-45D2-BD4D-9BA26BA57AFD}"/>
              </a:ext>
            </a:extLst>
          </p:cNvPr>
          <p:cNvSpPr>
            <a:spLocks xmlns:a="http://schemas.openxmlformats.org/drawingml/2006/main" noGrp="1"/>
          </p:cNvSpPr>
          <p:nvPr/>
        </p:nvSpPr>
        <p:spPr>
          <a:xfrm xmlns:a="http://schemas.openxmlformats.org/drawingml/2006/main">
            <a:off x="666750" y="415290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Legatura controlata</a:t>
            </a:r>
          </a:p>
        </p:txBody>
      </p:sp>
      <p:sp>
        <p:nvSpPr>
          <p:cNvPr id="14" name="">
            <a:extLst xmlns:a="http://schemas.openxmlformats.org/drawingml/2006/main">
              <a:ext uri="{FF2B5EF4-FFF2-40B4-BE49-F238E27FC236}">
                <a16:creationId xmlns:a16="http://schemas.microsoft.com/office/drawing/2014/main" id="{59444C01-B33E-40AE-9E43-29FA13C889EB}"/>
              </a:ext>
            </a:extLst>
          </p:cNvPr>
          <p:cNvSpPr>
            <a:spLocks xmlns:a="http://schemas.openxmlformats.org/drawingml/2006/main" noGrp="1"/>
          </p:cNvSpPr>
          <p:nvPr/>
        </p:nvSpPr>
        <p:spPr>
          <a:xfrm xmlns:a="http://schemas.openxmlformats.org/drawingml/2006/main">
            <a:off x="666750" y="451485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Aplicatia permite urmarirea relatiei dintre ele fara a le confunda in exploatarea zilnica.</a:t>
            </a:r>
          </a:p>
        </p:txBody>
      </p:sp>
      <p:sp>
        <p:nvSpPr>
          <p:cNvPr id="15" name="">
            <a:extLst xmlns:a="http://schemas.openxmlformats.org/drawingml/2006/main">
              <a:ext uri="{FF2B5EF4-FFF2-40B4-BE49-F238E27FC236}">
                <a16:creationId xmlns:a16="http://schemas.microsoft.com/office/drawing/2014/main" id="{710A03B1-ECE3-4972-87B2-6B2C9EC06FF7}"/>
              </a:ext>
            </a:extLst>
          </p:cNvPr>
          <p:cNvSpPr>
            <a:spLocks xmlns:a="http://schemas.openxmlformats.org/drawingml/2006/main" noGrp="1"/>
          </p:cNvSpPr>
          <p:nvPr/>
        </p:nvSpPr>
        <p:spPr>
          <a:xfrm xmlns:a="http://schemas.openxmlformats.org/drawingml/2006/main">
            <a:off x="514350" y="5676900"/>
            <a:ext cx="1085850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26444B86-E8D0-40A5-B493-D47972997B40}"/>
              </a:ext>
            </a:extLst>
          </p:cNvPr>
          <p:cNvSpPr>
            <a:spLocks xmlns:a="http://schemas.openxmlformats.org/drawingml/2006/main" noGrp="1"/>
          </p:cNvSpPr>
          <p:nvPr/>
        </p:nvSpPr>
        <p:spPr>
          <a:xfrm xmlns:a="http://schemas.openxmlformats.org/drawingml/2006/main">
            <a:off x="666750" y="5810250"/>
            <a:ext cx="1055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se foloseste in practica: Manualul de utilizare trateaza portofoliul profesional si dosarul personal ca doua zone distincte, chiar daca unele informatii se coreleaza. Utilizatorul trebuie sa stie clar unde lucreaza si ce rezultat obtine. Portofoliu profesional: Contine dovezi, sectiuni si materiale pentru activitatea profesionala si evaluarea cadrului didactic. Dosar personal: Contine documente de personal, evidenta administrativa si alte piese tinute in custodie institutionala. Legatura controlata: Aplicatia permite urmarirea relatiei dintre ele fara a le confunda in exploatarea zilnica.</a:t>
            </a:r>
          </a:p>
        </p:txBody>
      </p:sp>
      <p:sp>
        <p:nvSpPr>
          <p:cNvPr id="17" name="">
            <a:extLst xmlns:a="http://schemas.openxmlformats.org/drawingml/2006/main">
              <a:ext uri="{FF2B5EF4-FFF2-40B4-BE49-F238E27FC236}">
                <a16:creationId xmlns:a16="http://schemas.microsoft.com/office/drawing/2014/main" id="{E0175A53-507E-4E32-B893-410FB73E72D4}"/>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8" name="">
            <a:extLst xmlns:a="http://schemas.openxmlformats.org/drawingml/2006/main">
              <a:ext uri="{FF2B5EF4-FFF2-40B4-BE49-F238E27FC236}">
                <a16:creationId xmlns:a16="http://schemas.microsoft.com/office/drawing/2014/main" id="{DD62B7F2-E5F4-4768-88F2-A457DEA282F0}"/>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Separarea intre portofoliu si dosar personal</a:t>
            </a:r>
          </a:p>
        </p:txBody>
      </p:sp>
    </p:spTree>
    <p:extLst>
      <p:ext uri="{BB962C8B-B14F-4D97-AF65-F5344CB8AC3E}">
        <p14:creationId xmlns:p14="http://schemas.microsoft.com/office/powerpoint/2010/main" val="88971566"/>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52A6C68-4D59-4D43-BFF5-86CDC12192A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2C1A3290-C6F0-4D46-8A80-997609A97690}"/>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Portofolii si personal</a:t>
            </a:r>
          </a:p>
        </p:txBody>
      </p:sp>
      <p:sp>
        <p:nvSpPr>
          <p:cNvPr id="3" name="">
            <a:extLst xmlns:a="http://schemas.openxmlformats.org/drawingml/2006/main">
              <a:ext uri="{FF2B5EF4-FFF2-40B4-BE49-F238E27FC236}">
                <a16:creationId xmlns:a16="http://schemas.microsoft.com/office/drawing/2014/main" id="{A840DEBF-96A5-4EB4-9CC0-FD1AB995F822}"/>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Transfer digital si mobilitate</a:t>
            </a:r>
          </a:p>
        </p:txBody>
      </p:sp>
      <p:sp>
        <p:nvSpPr>
          <p:cNvPr id="4" name="">
            <a:extLst xmlns:a="http://schemas.openxmlformats.org/drawingml/2006/main">
              <a:ext uri="{FF2B5EF4-FFF2-40B4-BE49-F238E27FC236}">
                <a16:creationId xmlns:a16="http://schemas.microsoft.com/office/drawing/2014/main" id="{43EFE83B-6040-4DF2-9F5C-A9A3E2D560C8}"/>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44</a:t>
            </a:r>
          </a:p>
        </p:txBody>
      </p:sp>
      <p:sp>
        <p:nvSpPr>
          <p:cNvPr id="5" name="">
            <a:extLst xmlns:a="http://schemas.openxmlformats.org/drawingml/2006/main">
              <a:ext uri="{FF2B5EF4-FFF2-40B4-BE49-F238E27FC236}">
                <a16:creationId xmlns:a16="http://schemas.microsoft.com/office/drawing/2014/main" id="{1D8D16F8-54D3-4084-B10E-FC489F9736CD}"/>
              </a:ext>
            </a:extLst>
          </p:cNvPr>
          <p:cNvSpPr>
            <a:spLocks xmlns:a="http://schemas.openxmlformats.org/drawingml/2006/main" noGrp="1"/>
          </p:cNvSpPr>
          <p:nvPr/>
        </p:nvSpPr>
        <p:spPr>
          <a:xfrm xmlns:a="http://schemas.openxmlformats.org/drawingml/2006/main">
            <a:off x="514350" y="1181100"/>
            <a:ext cx="10858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314158"/>
                </a:solidFill>
              </a:defRPr>
            </a:pPr>
            <a:r>
              <a:rPr sz="1275">
                <a:solidFill>
                  <a:srgbClr val="314158"/>
                </a:solidFill>
              </a:rPr>
              <a:t>Atunci cand cadrul didactic se muta, este detasat sau intra intr-un alt traseu de mobilitate, portofoliul si documentele asociate raman usor de urmarit prin stari clare de transfer si receptie.</a:t>
            </a:r>
          </a:p>
        </p:txBody>
      </p:sp>
      <p:sp>
        <p:nvSpPr>
          <p:cNvPr id="6" name="">
            <a:extLst xmlns:a="http://schemas.openxmlformats.org/drawingml/2006/main">
              <a:ext uri="{FF2B5EF4-FFF2-40B4-BE49-F238E27FC236}">
                <a16:creationId xmlns:a16="http://schemas.microsoft.com/office/drawing/2014/main" id="{4F58E5F4-BD25-4D27-9A25-70F81D04585D}"/>
              </a:ext>
            </a:extLst>
          </p:cNvPr>
          <p:cNvSpPr>
            <a:spLocks xmlns:a="http://schemas.openxmlformats.org/drawingml/2006/main" noGrp="1"/>
          </p:cNvSpPr>
          <p:nvPr/>
        </p:nvSpPr>
        <p:spPr>
          <a:xfrm xmlns:a="http://schemas.openxmlformats.org/drawingml/2006/main">
            <a:off x="514350"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9BD1FC39-1AD4-47B7-AAE5-D2904E8876C0}"/>
              </a:ext>
            </a:extLst>
          </p:cNvPr>
          <p:cNvSpPr>
            <a:spLocks xmlns:a="http://schemas.openxmlformats.org/drawingml/2006/main" noGrp="1"/>
          </p:cNvSpPr>
          <p:nvPr/>
        </p:nvSpPr>
        <p:spPr>
          <a:xfrm xmlns:a="http://schemas.openxmlformats.org/drawingml/2006/main">
            <a:off x="666750" y="23431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Pregatire</a:t>
            </a:r>
          </a:p>
        </p:txBody>
      </p:sp>
      <p:sp>
        <p:nvSpPr>
          <p:cNvPr id="8" name="">
            <a:extLst xmlns:a="http://schemas.openxmlformats.org/drawingml/2006/main">
              <a:ext uri="{FF2B5EF4-FFF2-40B4-BE49-F238E27FC236}">
                <a16:creationId xmlns:a16="http://schemas.microsoft.com/office/drawing/2014/main" id="{778A7CCD-F6CE-4110-BB1F-4FC1A079DC98}"/>
              </a:ext>
            </a:extLst>
          </p:cNvPr>
          <p:cNvSpPr>
            <a:spLocks xmlns:a="http://schemas.openxmlformats.org/drawingml/2006/main" noGrp="1"/>
          </p:cNvSpPr>
          <p:nvPr/>
        </p:nvSpPr>
        <p:spPr>
          <a:xfrm xmlns:a="http://schemas.openxmlformats.org/drawingml/2006/main">
            <a:off x="666750"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Se verifica portofoliul si se pregatesc documentele pentru predare.</a:t>
            </a:r>
          </a:p>
        </p:txBody>
      </p:sp>
      <p:sp>
        <p:nvSpPr>
          <p:cNvPr id="9" name="">
            <a:extLst xmlns:a="http://schemas.openxmlformats.org/drawingml/2006/main">
              <a:ext uri="{FF2B5EF4-FFF2-40B4-BE49-F238E27FC236}">
                <a16:creationId xmlns:a16="http://schemas.microsoft.com/office/drawing/2014/main" id="{D1C8E96A-2D86-438F-ACA6-AD159E4332FC}"/>
              </a:ext>
            </a:extLst>
          </p:cNvPr>
          <p:cNvSpPr>
            <a:spLocks xmlns:a="http://schemas.openxmlformats.org/drawingml/2006/main" noGrp="1"/>
          </p:cNvSpPr>
          <p:nvPr/>
        </p:nvSpPr>
        <p:spPr>
          <a:xfrm xmlns:a="http://schemas.openxmlformats.org/drawingml/2006/main">
            <a:off x="6086475"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886BA12F-266E-4F01-8449-D550E03C3983}"/>
              </a:ext>
            </a:extLst>
          </p:cNvPr>
          <p:cNvSpPr>
            <a:spLocks xmlns:a="http://schemas.openxmlformats.org/drawingml/2006/main" noGrp="1"/>
          </p:cNvSpPr>
          <p:nvPr/>
        </p:nvSpPr>
        <p:spPr>
          <a:xfrm xmlns:a="http://schemas.openxmlformats.org/drawingml/2006/main">
            <a:off x="6238875" y="234315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Transmitere</a:t>
            </a:r>
          </a:p>
        </p:txBody>
      </p:sp>
      <p:sp>
        <p:nvSpPr>
          <p:cNvPr id="11" name="">
            <a:extLst xmlns:a="http://schemas.openxmlformats.org/drawingml/2006/main">
              <a:ext uri="{FF2B5EF4-FFF2-40B4-BE49-F238E27FC236}">
                <a16:creationId xmlns:a16="http://schemas.microsoft.com/office/drawing/2014/main" id="{15057D65-DCAE-4C83-B833-E75157093454}"/>
              </a:ext>
            </a:extLst>
          </p:cNvPr>
          <p:cNvSpPr>
            <a:spLocks xmlns:a="http://schemas.openxmlformats.org/drawingml/2006/main" noGrp="1"/>
          </p:cNvSpPr>
          <p:nvPr/>
        </p:nvSpPr>
        <p:spPr>
          <a:xfrm xmlns:a="http://schemas.openxmlformats.org/drawingml/2006/main">
            <a:off x="6238875"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Transferul poate fi marcat ca trimis si apoi receptionat.</a:t>
            </a:r>
          </a:p>
        </p:txBody>
      </p:sp>
      <p:sp>
        <p:nvSpPr>
          <p:cNvPr id="12" name="">
            <a:extLst xmlns:a="http://schemas.openxmlformats.org/drawingml/2006/main">
              <a:ext uri="{FF2B5EF4-FFF2-40B4-BE49-F238E27FC236}">
                <a16:creationId xmlns:a16="http://schemas.microsoft.com/office/drawing/2014/main" id="{20860C8A-337C-45B1-962C-E13447D74178}"/>
              </a:ext>
            </a:extLst>
          </p:cNvPr>
          <p:cNvSpPr>
            <a:spLocks xmlns:a="http://schemas.openxmlformats.org/drawingml/2006/main" noGrp="1"/>
          </p:cNvSpPr>
          <p:nvPr/>
        </p:nvSpPr>
        <p:spPr>
          <a:xfrm xmlns:a="http://schemas.openxmlformats.org/drawingml/2006/main">
            <a:off x="514350" y="401955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BDBA27EC-0621-4782-975D-11CC9E506B57}"/>
              </a:ext>
            </a:extLst>
          </p:cNvPr>
          <p:cNvSpPr>
            <a:spLocks xmlns:a="http://schemas.openxmlformats.org/drawingml/2006/main" noGrp="1"/>
          </p:cNvSpPr>
          <p:nvPr/>
        </p:nvSpPr>
        <p:spPr>
          <a:xfrm xmlns:a="http://schemas.openxmlformats.org/drawingml/2006/main">
            <a:off x="666750" y="415290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Confirmare</a:t>
            </a:r>
          </a:p>
        </p:txBody>
      </p:sp>
      <p:sp>
        <p:nvSpPr>
          <p:cNvPr id="14" name="">
            <a:extLst xmlns:a="http://schemas.openxmlformats.org/drawingml/2006/main">
              <a:ext uri="{FF2B5EF4-FFF2-40B4-BE49-F238E27FC236}">
                <a16:creationId xmlns:a16="http://schemas.microsoft.com/office/drawing/2014/main" id="{8CDEB8AB-7D26-4D2E-950E-12C1FA153C6F}"/>
              </a:ext>
            </a:extLst>
          </p:cNvPr>
          <p:cNvSpPr>
            <a:spLocks xmlns:a="http://schemas.openxmlformats.org/drawingml/2006/main" noGrp="1"/>
          </p:cNvSpPr>
          <p:nvPr/>
        </p:nvSpPr>
        <p:spPr>
          <a:xfrm xmlns:a="http://schemas.openxmlformats.org/drawingml/2006/main">
            <a:off x="666750" y="451485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Exista istoric de predare si receptie pentru a evita pierderea de informatie.</a:t>
            </a:r>
          </a:p>
        </p:txBody>
      </p:sp>
      <p:sp>
        <p:nvSpPr>
          <p:cNvPr id="15" name="">
            <a:extLst xmlns:a="http://schemas.openxmlformats.org/drawingml/2006/main">
              <a:ext uri="{FF2B5EF4-FFF2-40B4-BE49-F238E27FC236}">
                <a16:creationId xmlns:a16="http://schemas.microsoft.com/office/drawing/2014/main" id="{661B0D9C-B43F-41D9-87B5-9FFEBA4BDA94}"/>
              </a:ext>
            </a:extLst>
          </p:cNvPr>
          <p:cNvSpPr>
            <a:spLocks xmlns:a="http://schemas.openxmlformats.org/drawingml/2006/main" noGrp="1"/>
          </p:cNvSpPr>
          <p:nvPr/>
        </p:nvSpPr>
        <p:spPr>
          <a:xfrm xmlns:a="http://schemas.openxmlformats.org/drawingml/2006/main">
            <a:off x="514350" y="5676900"/>
            <a:ext cx="1085850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BA0E764A-E190-41C7-BA96-96FB20773B4A}"/>
              </a:ext>
            </a:extLst>
          </p:cNvPr>
          <p:cNvSpPr>
            <a:spLocks xmlns:a="http://schemas.openxmlformats.org/drawingml/2006/main" noGrp="1"/>
          </p:cNvSpPr>
          <p:nvPr/>
        </p:nvSpPr>
        <p:spPr>
          <a:xfrm xmlns:a="http://schemas.openxmlformats.org/drawingml/2006/main">
            <a:off x="666750" y="5810250"/>
            <a:ext cx="1055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se foloseste in practica: Atunci cand cadrul didactic se muta, este detasat sau intra intr-un alt traseu de mobilitate, portofoliul si documentele asociate raman usor de urmarit prin stari clare de transfer si receptie. Pregatire: Se verifica portofoliul si se pregatesc documentele pentru predare. Transmitere: Transferul poate fi marcat ca trimis si apoi receptionat. Confirmare: Exista istoric de predare si receptie pentru a evita pierderea de informatie.</a:t>
            </a:r>
          </a:p>
        </p:txBody>
      </p:sp>
      <p:sp>
        <p:nvSpPr>
          <p:cNvPr id="17" name="">
            <a:extLst xmlns:a="http://schemas.openxmlformats.org/drawingml/2006/main">
              <a:ext uri="{FF2B5EF4-FFF2-40B4-BE49-F238E27FC236}">
                <a16:creationId xmlns:a16="http://schemas.microsoft.com/office/drawing/2014/main" id="{6E4176DC-59A9-46FB-ACF3-A1F0950B52E5}"/>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8" name="">
            <a:extLst xmlns:a="http://schemas.openxmlformats.org/drawingml/2006/main">
              <a:ext uri="{FF2B5EF4-FFF2-40B4-BE49-F238E27FC236}">
                <a16:creationId xmlns:a16="http://schemas.microsoft.com/office/drawing/2014/main" id="{80541F48-A334-4107-AA58-D8BB33E3ABFE}"/>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Transfer digital si mobilitate</a:t>
            </a:r>
          </a:p>
        </p:txBody>
      </p:sp>
    </p:spTree>
    <p:extLst>
      <p:ext uri="{BB962C8B-B14F-4D97-AF65-F5344CB8AC3E}">
        <p14:creationId xmlns:p14="http://schemas.microsoft.com/office/powerpoint/2010/main" val="1926845128"/>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4EBB345-24AC-48E5-8D98-8AEB61155A8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3282592C-1EF2-48DE-A5CB-929659644F66}"/>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Utilizare in procese institutionale</a:t>
            </a:r>
          </a:p>
        </p:txBody>
      </p:sp>
      <p:sp>
        <p:nvSpPr>
          <p:cNvPr id="3" name="">
            <a:extLst xmlns:a="http://schemas.openxmlformats.org/drawingml/2006/main">
              <a:ext uri="{FF2B5EF4-FFF2-40B4-BE49-F238E27FC236}">
                <a16:creationId xmlns:a16="http://schemas.microsoft.com/office/drawing/2014/main" id="{2BB3AAB7-D131-4C44-9C33-0463FEF1A140}"/>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Valorificarea portofoliului</a:t>
            </a:r>
          </a:p>
        </p:txBody>
      </p:sp>
      <p:sp>
        <p:nvSpPr>
          <p:cNvPr id="4" name="">
            <a:extLst xmlns:a="http://schemas.openxmlformats.org/drawingml/2006/main">
              <a:ext uri="{FF2B5EF4-FFF2-40B4-BE49-F238E27FC236}">
                <a16:creationId xmlns:a16="http://schemas.microsoft.com/office/drawing/2014/main" id="{0685A800-28D1-43BC-A2CB-C1AD1320BE1C}"/>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45</a:t>
            </a:r>
          </a:p>
        </p:txBody>
      </p:sp>
      <p:sp>
        <p:nvSpPr>
          <p:cNvPr id="5" name="">
            <a:extLst xmlns:a="http://schemas.openxmlformats.org/drawingml/2006/main">
              <a:ext uri="{FF2B5EF4-FFF2-40B4-BE49-F238E27FC236}">
                <a16:creationId xmlns:a16="http://schemas.microsoft.com/office/drawing/2014/main" id="{EC90FE10-E99A-4D02-96AA-DD1081A8F6A8}"/>
              </a:ext>
            </a:extLst>
          </p:cNvPr>
          <p:cNvSpPr>
            <a:spLocks xmlns:a="http://schemas.openxmlformats.org/drawingml/2006/main" noGrp="1"/>
          </p:cNvSpPr>
          <p:nvPr/>
        </p:nvSpPr>
        <p:spPr>
          <a:xfrm xmlns:a="http://schemas.openxmlformats.org/drawingml/2006/main">
            <a:off x="514350" y="1181100"/>
            <a:ext cx="10858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314158"/>
                </a:solidFill>
              </a:defRPr>
            </a:pPr>
            <a:r>
              <a:rPr sz="1275">
                <a:solidFill>
                  <a:srgbClr val="314158"/>
                </a:solidFill>
              </a:rPr>
              <a:t>Portofoliul nu este doar o colectie de documente. In aplicatie, el poate sustine evaluari, mobilitate, gradatii si alte decizii institutionale.</a:t>
            </a:r>
          </a:p>
        </p:txBody>
      </p:sp>
      <p:sp>
        <p:nvSpPr>
          <p:cNvPr id="6" name="">
            <a:extLst xmlns:a="http://schemas.openxmlformats.org/drawingml/2006/main">
              <a:ext uri="{FF2B5EF4-FFF2-40B4-BE49-F238E27FC236}">
                <a16:creationId xmlns:a16="http://schemas.microsoft.com/office/drawing/2014/main" id="{C147CE85-C120-4830-BF8C-093397F57D72}"/>
              </a:ext>
            </a:extLst>
          </p:cNvPr>
          <p:cNvSpPr>
            <a:spLocks xmlns:a="http://schemas.openxmlformats.org/drawingml/2006/main" noGrp="1"/>
          </p:cNvSpPr>
          <p:nvPr/>
        </p:nvSpPr>
        <p:spPr>
          <a:xfrm xmlns:a="http://schemas.openxmlformats.org/drawingml/2006/main">
            <a:off x="514350"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EE19B6FA-03B2-483D-AE0D-4E1FB5B2BA51}"/>
              </a:ext>
            </a:extLst>
          </p:cNvPr>
          <p:cNvSpPr>
            <a:spLocks xmlns:a="http://schemas.openxmlformats.org/drawingml/2006/main" noGrp="1"/>
          </p:cNvSpPr>
          <p:nvPr/>
        </p:nvSpPr>
        <p:spPr>
          <a:xfrm xmlns:a="http://schemas.openxmlformats.org/drawingml/2006/main">
            <a:off x="666750" y="23431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Evaluare</a:t>
            </a:r>
          </a:p>
        </p:txBody>
      </p:sp>
      <p:sp>
        <p:nvSpPr>
          <p:cNvPr id="8" name="">
            <a:extLst xmlns:a="http://schemas.openxmlformats.org/drawingml/2006/main">
              <a:ext uri="{FF2B5EF4-FFF2-40B4-BE49-F238E27FC236}">
                <a16:creationId xmlns:a16="http://schemas.microsoft.com/office/drawing/2014/main" id="{64FE1665-A742-4845-93DA-4056038DC4BF}"/>
              </a:ext>
            </a:extLst>
          </p:cNvPr>
          <p:cNvSpPr>
            <a:spLocks xmlns:a="http://schemas.openxmlformats.org/drawingml/2006/main" noGrp="1"/>
          </p:cNvSpPr>
          <p:nvPr/>
        </p:nvSpPr>
        <p:spPr>
          <a:xfrm xmlns:a="http://schemas.openxmlformats.org/drawingml/2006/main">
            <a:off x="666750"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Portofoliul este baza utila pentru analiza performantei si a activitatii didactice.</a:t>
            </a:r>
          </a:p>
        </p:txBody>
      </p:sp>
      <p:sp>
        <p:nvSpPr>
          <p:cNvPr id="9" name="">
            <a:extLst xmlns:a="http://schemas.openxmlformats.org/drawingml/2006/main">
              <a:ext uri="{FF2B5EF4-FFF2-40B4-BE49-F238E27FC236}">
                <a16:creationId xmlns:a16="http://schemas.microsoft.com/office/drawing/2014/main" id="{A13C66B0-EB07-4EE5-BAAA-6686E6B1F4CA}"/>
              </a:ext>
            </a:extLst>
          </p:cNvPr>
          <p:cNvSpPr>
            <a:spLocks xmlns:a="http://schemas.openxmlformats.org/drawingml/2006/main" noGrp="1"/>
          </p:cNvSpPr>
          <p:nvPr/>
        </p:nvSpPr>
        <p:spPr>
          <a:xfrm xmlns:a="http://schemas.openxmlformats.org/drawingml/2006/main">
            <a:off x="6086475"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89AA3498-495D-4222-B795-7F78BDD488E8}"/>
              </a:ext>
            </a:extLst>
          </p:cNvPr>
          <p:cNvSpPr>
            <a:spLocks xmlns:a="http://schemas.openxmlformats.org/drawingml/2006/main" noGrp="1"/>
          </p:cNvSpPr>
          <p:nvPr/>
        </p:nvSpPr>
        <p:spPr>
          <a:xfrm xmlns:a="http://schemas.openxmlformats.org/drawingml/2006/main">
            <a:off x="6238875" y="234315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Mobilitate</a:t>
            </a:r>
          </a:p>
        </p:txBody>
      </p:sp>
      <p:sp>
        <p:nvSpPr>
          <p:cNvPr id="11" name="">
            <a:extLst xmlns:a="http://schemas.openxmlformats.org/drawingml/2006/main">
              <a:ext uri="{FF2B5EF4-FFF2-40B4-BE49-F238E27FC236}">
                <a16:creationId xmlns:a16="http://schemas.microsoft.com/office/drawing/2014/main" id="{C3F90CEF-254E-4CD9-9DEE-9264BE061403}"/>
              </a:ext>
            </a:extLst>
          </p:cNvPr>
          <p:cNvSpPr>
            <a:spLocks xmlns:a="http://schemas.openxmlformats.org/drawingml/2006/main" noGrp="1"/>
          </p:cNvSpPr>
          <p:nvPr/>
        </p:nvSpPr>
        <p:spPr>
          <a:xfrm xmlns:a="http://schemas.openxmlformats.org/drawingml/2006/main">
            <a:off x="6238875"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Documentele relevante pot fi regasite rapid atunci cand cazul de mobilitate o cere.</a:t>
            </a:r>
          </a:p>
        </p:txBody>
      </p:sp>
      <p:sp>
        <p:nvSpPr>
          <p:cNvPr id="12" name="">
            <a:extLst xmlns:a="http://schemas.openxmlformats.org/drawingml/2006/main">
              <a:ext uri="{FF2B5EF4-FFF2-40B4-BE49-F238E27FC236}">
                <a16:creationId xmlns:a16="http://schemas.microsoft.com/office/drawing/2014/main" id="{EA27B120-16E1-408A-BB97-A3B8A87E5C39}"/>
              </a:ext>
            </a:extLst>
          </p:cNvPr>
          <p:cNvSpPr>
            <a:spLocks xmlns:a="http://schemas.openxmlformats.org/drawingml/2006/main" noGrp="1"/>
          </p:cNvSpPr>
          <p:nvPr/>
        </p:nvSpPr>
        <p:spPr>
          <a:xfrm xmlns:a="http://schemas.openxmlformats.org/drawingml/2006/main">
            <a:off x="514350" y="401955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BAE070F3-6C80-4220-86A7-5D4D17402D6A}"/>
              </a:ext>
            </a:extLst>
          </p:cNvPr>
          <p:cNvSpPr>
            <a:spLocks xmlns:a="http://schemas.openxmlformats.org/drawingml/2006/main" noGrp="1"/>
          </p:cNvSpPr>
          <p:nvPr/>
        </p:nvSpPr>
        <p:spPr>
          <a:xfrm xmlns:a="http://schemas.openxmlformats.org/drawingml/2006/main">
            <a:off x="666750" y="415290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Gradatie / dezvoltare</a:t>
            </a:r>
          </a:p>
        </p:txBody>
      </p:sp>
      <p:sp>
        <p:nvSpPr>
          <p:cNvPr id="14" name="">
            <a:extLst xmlns:a="http://schemas.openxmlformats.org/drawingml/2006/main">
              <a:ext uri="{FF2B5EF4-FFF2-40B4-BE49-F238E27FC236}">
                <a16:creationId xmlns:a16="http://schemas.microsoft.com/office/drawing/2014/main" id="{E4A34759-F781-45D3-81B3-34756C955168}"/>
              </a:ext>
            </a:extLst>
          </p:cNvPr>
          <p:cNvSpPr>
            <a:spLocks xmlns:a="http://schemas.openxmlformats.org/drawingml/2006/main" noGrp="1"/>
          </p:cNvSpPr>
          <p:nvPr/>
        </p:nvSpPr>
        <p:spPr>
          <a:xfrm xmlns:a="http://schemas.openxmlformats.org/drawingml/2006/main">
            <a:off x="666750" y="451485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Dovezile pot sustine dosare si raportari orientate pe performanta profesionala.</a:t>
            </a:r>
          </a:p>
        </p:txBody>
      </p:sp>
      <p:sp>
        <p:nvSpPr>
          <p:cNvPr id="15" name="">
            <a:extLst xmlns:a="http://schemas.openxmlformats.org/drawingml/2006/main">
              <a:ext uri="{FF2B5EF4-FFF2-40B4-BE49-F238E27FC236}">
                <a16:creationId xmlns:a16="http://schemas.microsoft.com/office/drawing/2014/main" id="{F82214C7-3674-461C-B36C-5B4C71347F6C}"/>
              </a:ext>
            </a:extLst>
          </p:cNvPr>
          <p:cNvSpPr>
            <a:spLocks xmlns:a="http://schemas.openxmlformats.org/drawingml/2006/main" noGrp="1"/>
          </p:cNvSpPr>
          <p:nvPr/>
        </p:nvSpPr>
        <p:spPr>
          <a:xfrm xmlns:a="http://schemas.openxmlformats.org/drawingml/2006/main">
            <a:off x="514350" y="5676900"/>
            <a:ext cx="1085850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85D045BB-D88E-40B0-8FEC-23982889FC83}"/>
              </a:ext>
            </a:extLst>
          </p:cNvPr>
          <p:cNvSpPr>
            <a:spLocks xmlns:a="http://schemas.openxmlformats.org/drawingml/2006/main" noGrp="1"/>
          </p:cNvSpPr>
          <p:nvPr/>
        </p:nvSpPr>
        <p:spPr>
          <a:xfrm xmlns:a="http://schemas.openxmlformats.org/drawingml/2006/main">
            <a:off x="666750" y="5810250"/>
            <a:ext cx="1055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se foloseste in practica: Portofoliul nu este doar o colectie de documente. In aplicatie, el poate sustine evaluari, mobilitate, gradatii si alte decizii institutionale. Evaluare: Portofoliul este baza utila pentru analiza performantei si a activitatii didactice. Mobilitate: Documentele relevante pot fi regasite rapid atunci cand cazul de mobilitate o cere. Gradatie / dezvoltare: Dovezile pot sustine dosare si raportari orientate pe performanta profesionala.</a:t>
            </a:r>
          </a:p>
        </p:txBody>
      </p:sp>
      <p:sp>
        <p:nvSpPr>
          <p:cNvPr id="17" name="">
            <a:extLst xmlns:a="http://schemas.openxmlformats.org/drawingml/2006/main">
              <a:ext uri="{FF2B5EF4-FFF2-40B4-BE49-F238E27FC236}">
                <a16:creationId xmlns:a16="http://schemas.microsoft.com/office/drawing/2014/main" id="{5BE13777-EC52-45C4-8522-40A9BBB4A78E}"/>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8" name="">
            <a:extLst xmlns:a="http://schemas.openxmlformats.org/drawingml/2006/main">
              <a:ext uri="{FF2B5EF4-FFF2-40B4-BE49-F238E27FC236}">
                <a16:creationId xmlns:a16="http://schemas.microsoft.com/office/drawing/2014/main" id="{B29D9400-E297-4147-BA1E-8C39E6071D37}"/>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Valorificarea portofoliului profesional</a:t>
            </a:r>
          </a:p>
        </p:txBody>
      </p:sp>
    </p:spTree>
    <p:extLst>
      <p:ext uri="{BB962C8B-B14F-4D97-AF65-F5344CB8AC3E}">
        <p14:creationId xmlns:p14="http://schemas.microsoft.com/office/powerpoint/2010/main" val="1529509976"/>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98310DC-7D03-4F84-AEA5-437430B0839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40E7C580-9835-4C4A-8294-5A708C8648BF}"/>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Regulamente institutionale</a:t>
            </a:r>
          </a:p>
        </p:txBody>
      </p:sp>
      <p:sp>
        <p:nvSpPr>
          <p:cNvPr id="3" name="">
            <a:extLst xmlns:a="http://schemas.openxmlformats.org/drawingml/2006/main">
              <a:ext uri="{FF2B5EF4-FFF2-40B4-BE49-F238E27FC236}">
                <a16:creationId xmlns:a16="http://schemas.microsoft.com/office/drawing/2014/main" id="{B316E282-7D7E-47CD-A006-87E278E2ACAA}"/>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ROF si ROI</a:t>
            </a:r>
          </a:p>
        </p:txBody>
      </p:sp>
      <p:sp>
        <p:nvSpPr>
          <p:cNvPr id="4" name="">
            <a:extLst xmlns:a="http://schemas.openxmlformats.org/drawingml/2006/main">
              <a:ext uri="{FF2B5EF4-FFF2-40B4-BE49-F238E27FC236}">
                <a16:creationId xmlns:a16="http://schemas.microsoft.com/office/drawing/2014/main" id="{2F13E803-6AB1-4B82-B6A9-DFCE725B1C5E}"/>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46</a:t>
            </a:r>
          </a:p>
        </p:txBody>
      </p:sp>
      <p:sp>
        <p:nvSpPr>
          <p:cNvPr id="5" name="">
            <a:extLst xmlns:a="http://schemas.openxmlformats.org/drawingml/2006/main">
              <a:ext uri="{FF2B5EF4-FFF2-40B4-BE49-F238E27FC236}">
                <a16:creationId xmlns:a16="http://schemas.microsoft.com/office/drawing/2014/main" id="{A9FAE656-BA99-4867-8EB1-534A433B041E}"/>
              </a:ext>
            </a:extLst>
          </p:cNvPr>
          <p:cNvSpPr>
            <a:spLocks xmlns:a="http://schemas.openxmlformats.org/drawingml/2006/main" noGrp="1"/>
          </p:cNvSpPr>
          <p:nvPr/>
        </p:nvSpPr>
        <p:spPr>
          <a:xfrm xmlns:a="http://schemas.openxmlformats.org/drawingml/2006/main">
            <a:off x="514350" y="1181100"/>
            <a:ext cx="10858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314158"/>
                </a:solidFill>
              </a:defRPr>
            </a:pPr>
            <a:r>
              <a:rPr sz="1275">
                <a:solidFill>
                  <a:srgbClr val="314158"/>
                </a:solidFill>
              </a:rPr>
              <a:t>Regulamentele unitatii sunt urmarite prin versiuni, avizare, aprobare, inregistrare si publicare. Utilizatorul nu mai cauta documentul final in afara sistemului.</a:t>
            </a:r>
          </a:p>
        </p:txBody>
      </p:sp>
      <p:sp>
        <p:nvSpPr>
          <p:cNvPr id="6" name="">
            <a:extLst xmlns:a="http://schemas.openxmlformats.org/drawingml/2006/main">
              <a:ext uri="{FF2B5EF4-FFF2-40B4-BE49-F238E27FC236}">
                <a16:creationId xmlns:a16="http://schemas.microsoft.com/office/drawing/2014/main" id="{339311C3-7085-43BC-9D7C-1BE6479EE5FF}"/>
              </a:ext>
            </a:extLst>
          </p:cNvPr>
          <p:cNvSpPr>
            <a:spLocks xmlns:a="http://schemas.openxmlformats.org/drawingml/2006/main" noGrp="1"/>
          </p:cNvSpPr>
          <p:nvPr/>
        </p:nvSpPr>
        <p:spPr>
          <a:xfrm xmlns:a="http://schemas.openxmlformats.org/drawingml/2006/main">
            <a:off x="514350"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D78ECCDB-58D2-4F72-874F-4E5258CCA172}"/>
              </a:ext>
            </a:extLst>
          </p:cNvPr>
          <p:cNvSpPr>
            <a:spLocks xmlns:a="http://schemas.openxmlformats.org/drawingml/2006/main" noGrp="1"/>
          </p:cNvSpPr>
          <p:nvPr/>
        </p:nvSpPr>
        <p:spPr>
          <a:xfrm xmlns:a="http://schemas.openxmlformats.org/drawingml/2006/main">
            <a:off x="666750" y="23431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Versionare</a:t>
            </a:r>
          </a:p>
        </p:txBody>
      </p:sp>
      <p:sp>
        <p:nvSpPr>
          <p:cNvPr id="8" name="">
            <a:extLst xmlns:a="http://schemas.openxmlformats.org/drawingml/2006/main">
              <a:ext uri="{FF2B5EF4-FFF2-40B4-BE49-F238E27FC236}">
                <a16:creationId xmlns:a16="http://schemas.microsoft.com/office/drawing/2014/main" id="{9A2BD494-8C54-48B3-B9BB-EABFA5D1242E}"/>
              </a:ext>
            </a:extLst>
          </p:cNvPr>
          <p:cNvSpPr>
            <a:spLocks xmlns:a="http://schemas.openxmlformats.org/drawingml/2006/main" noGrp="1"/>
          </p:cNvSpPr>
          <p:nvPr/>
        </p:nvSpPr>
        <p:spPr>
          <a:xfrm xmlns:a="http://schemas.openxmlformats.org/drawingml/2006/main">
            <a:off x="666750"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Fiecare regulament are un istoric clar al versiunilor.</a:t>
            </a:r>
          </a:p>
        </p:txBody>
      </p:sp>
      <p:sp>
        <p:nvSpPr>
          <p:cNvPr id="9" name="">
            <a:extLst xmlns:a="http://schemas.openxmlformats.org/drawingml/2006/main">
              <a:ext uri="{FF2B5EF4-FFF2-40B4-BE49-F238E27FC236}">
                <a16:creationId xmlns:a16="http://schemas.microsoft.com/office/drawing/2014/main" id="{FC01FEC0-8C4E-444F-BBAC-5E37D4D02EA6}"/>
              </a:ext>
            </a:extLst>
          </p:cNvPr>
          <p:cNvSpPr>
            <a:spLocks xmlns:a="http://schemas.openxmlformats.org/drawingml/2006/main" noGrp="1"/>
          </p:cNvSpPr>
          <p:nvPr/>
        </p:nvSpPr>
        <p:spPr>
          <a:xfrm xmlns:a="http://schemas.openxmlformats.org/drawingml/2006/main">
            <a:off x="6086475"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DD092F10-83C0-43E1-A7F6-5CAA4648CC51}"/>
              </a:ext>
            </a:extLst>
          </p:cNvPr>
          <p:cNvSpPr>
            <a:spLocks xmlns:a="http://schemas.openxmlformats.org/drawingml/2006/main" noGrp="1"/>
          </p:cNvSpPr>
          <p:nvPr/>
        </p:nvSpPr>
        <p:spPr>
          <a:xfrm xmlns:a="http://schemas.openxmlformats.org/drawingml/2006/main">
            <a:off x="6238875" y="234315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Circuit</a:t>
            </a:r>
          </a:p>
        </p:txBody>
      </p:sp>
      <p:sp>
        <p:nvSpPr>
          <p:cNvPr id="11" name="">
            <a:extLst xmlns:a="http://schemas.openxmlformats.org/drawingml/2006/main">
              <a:ext uri="{FF2B5EF4-FFF2-40B4-BE49-F238E27FC236}">
                <a16:creationId xmlns:a16="http://schemas.microsoft.com/office/drawing/2014/main" id="{392EEB80-C910-4A18-95CF-62A7D77D277D}"/>
              </a:ext>
            </a:extLst>
          </p:cNvPr>
          <p:cNvSpPr>
            <a:spLocks xmlns:a="http://schemas.openxmlformats.org/drawingml/2006/main" noGrp="1"/>
          </p:cNvSpPr>
          <p:nvPr/>
        </p:nvSpPr>
        <p:spPr>
          <a:xfrm xmlns:a="http://schemas.openxmlformats.org/drawingml/2006/main">
            <a:off x="6238875"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Se urmareste traseul prin consultare, CP, CA si publicare.</a:t>
            </a:r>
          </a:p>
        </p:txBody>
      </p:sp>
      <p:sp>
        <p:nvSpPr>
          <p:cNvPr id="12" name="">
            <a:extLst xmlns:a="http://schemas.openxmlformats.org/drawingml/2006/main">
              <a:ext uri="{FF2B5EF4-FFF2-40B4-BE49-F238E27FC236}">
                <a16:creationId xmlns:a16="http://schemas.microsoft.com/office/drawing/2014/main" id="{E6A27580-6A76-4438-BB1C-54E698D9A609}"/>
              </a:ext>
            </a:extLst>
          </p:cNvPr>
          <p:cNvSpPr>
            <a:spLocks xmlns:a="http://schemas.openxmlformats.org/drawingml/2006/main" noGrp="1"/>
          </p:cNvSpPr>
          <p:nvPr/>
        </p:nvSpPr>
        <p:spPr>
          <a:xfrm xmlns:a="http://schemas.openxmlformats.org/drawingml/2006/main">
            <a:off x="514350" y="401955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6419F7A7-CC3F-4E3A-BFFD-D19117A1EF7A}"/>
              </a:ext>
            </a:extLst>
          </p:cNvPr>
          <p:cNvSpPr>
            <a:spLocks xmlns:a="http://schemas.openxmlformats.org/drawingml/2006/main" noGrp="1"/>
          </p:cNvSpPr>
          <p:nvPr/>
        </p:nvSpPr>
        <p:spPr>
          <a:xfrm xmlns:a="http://schemas.openxmlformats.org/drawingml/2006/main">
            <a:off x="666750" y="415290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Publicare</a:t>
            </a:r>
          </a:p>
        </p:txBody>
      </p:sp>
      <p:sp>
        <p:nvSpPr>
          <p:cNvPr id="14" name="">
            <a:extLst xmlns:a="http://schemas.openxmlformats.org/drawingml/2006/main">
              <a:ext uri="{FF2B5EF4-FFF2-40B4-BE49-F238E27FC236}">
                <a16:creationId xmlns:a16="http://schemas.microsoft.com/office/drawing/2014/main" id="{90DCB1B7-F337-4489-921A-3241906862F8}"/>
              </a:ext>
            </a:extLst>
          </p:cNvPr>
          <p:cNvSpPr>
            <a:spLocks xmlns:a="http://schemas.openxmlformats.org/drawingml/2006/main" noGrp="1"/>
          </p:cNvSpPr>
          <p:nvPr/>
        </p:nvSpPr>
        <p:spPr>
          <a:xfrm xmlns:a="http://schemas.openxmlformats.org/drawingml/2006/main">
            <a:off x="666750" y="451485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Versiunea corecta ramane usor de identificat si de pus la dispozitie.</a:t>
            </a:r>
          </a:p>
        </p:txBody>
      </p:sp>
      <p:sp>
        <p:nvSpPr>
          <p:cNvPr id="15" name="">
            <a:extLst xmlns:a="http://schemas.openxmlformats.org/drawingml/2006/main">
              <a:ext uri="{FF2B5EF4-FFF2-40B4-BE49-F238E27FC236}">
                <a16:creationId xmlns:a16="http://schemas.microsoft.com/office/drawing/2014/main" id="{9A17B3A8-899C-4E6F-8E93-D42799BAC0F4}"/>
              </a:ext>
            </a:extLst>
          </p:cNvPr>
          <p:cNvSpPr>
            <a:spLocks xmlns:a="http://schemas.openxmlformats.org/drawingml/2006/main" noGrp="1"/>
          </p:cNvSpPr>
          <p:nvPr/>
        </p:nvSpPr>
        <p:spPr>
          <a:xfrm xmlns:a="http://schemas.openxmlformats.org/drawingml/2006/main">
            <a:off x="514350" y="5676900"/>
            <a:ext cx="1085850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42DCD24A-708D-4A5C-AAA8-7C56CB839C79}"/>
              </a:ext>
            </a:extLst>
          </p:cNvPr>
          <p:cNvSpPr>
            <a:spLocks xmlns:a="http://schemas.openxmlformats.org/drawingml/2006/main" noGrp="1"/>
          </p:cNvSpPr>
          <p:nvPr/>
        </p:nvSpPr>
        <p:spPr>
          <a:xfrm xmlns:a="http://schemas.openxmlformats.org/drawingml/2006/main">
            <a:off x="666750" y="5810250"/>
            <a:ext cx="1055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se foloseste in practica: Regulamentele unitatii sunt urmarite prin versiuni, avizare, aprobare, inregistrare si publicare. Utilizatorul nu mai cauta documentul final in afara sistemului. Versionare: Fiecare regulament are un istoric clar al versiunilor. Circuit: Se urmareste traseul prin consultare, CP, CA si publicare. Publicare: Versiunea corecta ramane usor de identificat si de pus la dispozitie.</a:t>
            </a:r>
          </a:p>
        </p:txBody>
      </p:sp>
      <p:sp>
        <p:nvSpPr>
          <p:cNvPr id="17" name="">
            <a:extLst xmlns:a="http://schemas.openxmlformats.org/drawingml/2006/main">
              <a:ext uri="{FF2B5EF4-FFF2-40B4-BE49-F238E27FC236}">
                <a16:creationId xmlns:a16="http://schemas.microsoft.com/office/drawing/2014/main" id="{FE15F863-140A-4AAA-950E-48125F290B84}"/>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8" name="">
            <a:extLst xmlns:a="http://schemas.openxmlformats.org/drawingml/2006/main">
              <a:ext uri="{FF2B5EF4-FFF2-40B4-BE49-F238E27FC236}">
                <a16:creationId xmlns:a16="http://schemas.microsoft.com/office/drawing/2014/main" id="{04441830-EB7E-433D-9849-E2C34C7DD8B0}"/>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Regulamente institutionale</a:t>
            </a:r>
          </a:p>
        </p:txBody>
      </p:sp>
    </p:spTree>
    <p:extLst>
      <p:ext uri="{BB962C8B-B14F-4D97-AF65-F5344CB8AC3E}">
        <p14:creationId xmlns:p14="http://schemas.microsoft.com/office/powerpoint/2010/main" val="826374449"/>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EB7CA2C-7F42-4C0D-B3CE-34B0C1A9822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3D3F20B3-CBD0-4407-8966-F15977EDF65D}"/>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Consiliul de administratie</a:t>
            </a:r>
          </a:p>
        </p:txBody>
      </p:sp>
      <p:sp>
        <p:nvSpPr>
          <p:cNvPr id="3" name="">
            <a:extLst xmlns:a="http://schemas.openxmlformats.org/drawingml/2006/main">
              <a:ext uri="{FF2B5EF4-FFF2-40B4-BE49-F238E27FC236}">
                <a16:creationId xmlns:a16="http://schemas.microsoft.com/office/drawing/2014/main" id="{FB19FFED-16FD-4568-8C48-02280D3ABA4F}"/>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CA complet</a:t>
            </a:r>
          </a:p>
        </p:txBody>
      </p:sp>
      <p:sp>
        <p:nvSpPr>
          <p:cNvPr id="4" name="">
            <a:extLst xmlns:a="http://schemas.openxmlformats.org/drawingml/2006/main">
              <a:ext uri="{FF2B5EF4-FFF2-40B4-BE49-F238E27FC236}">
                <a16:creationId xmlns:a16="http://schemas.microsoft.com/office/drawing/2014/main" id="{4A1C16B7-62AC-433E-8175-FC48E40063B4}"/>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47</a:t>
            </a:r>
          </a:p>
        </p:txBody>
      </p:sp>
      <p:sp>
        <p:nvSpPr>
          <p:cNvPr id="5" name="">
            <a:extLst xmlns:a="http://schemas.openxmlformats.org/drawingml/2006/main">
              <a:ext uri="{FF2B5EF4-FFF2-40B4-BE49-F238E27FC236}">
                <a16:creationId xmlns:a16="http://schemas.microsoft.com/office/drawing/2014/main" id="{EDD3FE25-EA87-411E-BC4F-290A2B1A4956}"/>
              </a:ext>
            </a:extLst>
          </p:cNvPr>
          <p:cNvSpPr>
            <a:spLocks xmlns:a="http://schemas.openxmlformats.org/drawingml/2006/main" noGrp="1"/>
          </p:cNvSpPr>
          <p:nvPr/>
        </p:nvSpPr>
        <p:spPr>
          <a:xfrm xmlns:a="http://schemas.openxmlformats.org/drawingml/2006/main">
            <a:off x="514350" y="1181100"/>
            <a:ext cx="10858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314158"/>
                </a:solidFill>
              </a:defRPr>
            </a:pPr>
            <a:r>
              <a:rPr sz="1275">
                <a:solidFill>
                  <a:srgbClr val="314158"/>
                </a:solidFill>
              </a:rPr>
              <a:t>Consiliul de administratie este tratat in aplicatie ca un proces complet: componenta, sedinta, prezenta, minuta, vot, hotarare si urmarirea masurilor.</a:t>
            </a:r>
          </a:p>
        </p:txBody>
      </p:sp>
      <p:sp>
        <p:nvSpPr>
          <p:cNvPr id="6" name="">
            <a:extLst xmlns:a="http://schemas.openxmlformats.org/drawingml/2006/main">
              <a:ext uri="{FF2B5EF4-FFF2-40B4-BE49-F238E27FC236}">
                <a16:creationId xmlns:a16="http://schemas.microsoft.com/office/drawing/2014/main" id="{AEBC912E-7928-435E-83B2-19775CF6E1EA}"/>
              </a:ext>
            </a:extLst>
          </p:cNvPr>
          <p:cNvSpPr>
            <a:spLocks xmlns:a="http://schemas.openxmlformats.org/drawingml/2006/main" noGrp="1"/>
          </p:cNvSpPr>
          <p:nvPr/>
        </p:nvSpPr>
        <p:spPr>
          <a:xfrm xmlns:a="http://schemas.openxmlformats.org/drawingml/2006/main">
            <a:off x="514350"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65A8D1C0-CE01-4835-B7B9-9FB80C4E292E}"/>
              </a:ext>
            </a:extLst>
          </p:cNvPr>
          <p:cNvSpPr>
            <a:spLocks xmlns:a="http://schemas.openxmlformats.org/drawingml/2006/main" noGrp="1"/>
          </p:cNvSpPr>
          <p:nvPr/>
        </p:nvSpPr>
        <p:spPr>
          <a:xfrm xmlns:a="http://schemas.openxmlformats.org/drawingml/2006/main">
            <a:off x="666750" y="23431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Componenta</a:t>
            </a:r>
          </a:p>
        </p:txBody>
      </p:sp>
      <p:sp>
        <p:nvSpPr>
          <p:cNvPr id="8" name="">
            <a:extLst xmlns:a="http://schemas.openxmlformats.org/drawingml/2006/main">
              <a:ext uri="{FF2B5EF4-FFF2-40B4-BE49-F238E27FC236}">
                <a16:creationId xmlns:a16="http://schemas.microsoft.com/office/drawing/2014/main" id="{3FB835A2-B466-4280-8C4A-6212C4679C74}"/>
              </a:ext>
            </a:extLst>
          </p:cNvPr>
          <p:cNvSpPr>
            <a:spLocks xmlns:a="http://schemas.openxmlformats.org/drawingml/2006/main" noGrp="1"/>
          </p:cNvSpPr>
          <p:nvPr/>
        </p:nvSpPr>
        <p:spPr>
          <a:xfrm xmlns:a="http://schemas.openxmlformats.org/drawingml/2006/main">
            <a:off x="666750"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Membrii si rolurile pot fi evidentiati in mod clar.</a:t>
            </a:r>
          </a:p>
        </p:txBody>
      </p:sp>
      <p:sp>
        <p:nvSpPr>
          <p:cNvPr id="9" name="">
            <a:extLst xmlns:a="http://schemas.openxmlformats.org/drawingml/2006/main">
              <a:ext uri="{FF2B5EF4-FFF2-40B4-BE49-F238E27FC236}">
                <a16:creationId xmlns:a16="http://schemas.microsoft.com/office/drawing/2014/main" id="{E6DED829-E84D-43B5-8AC9-130237BE5155}"/>
              </a:ext>
            </a:extLst>
          </p:cNvPr>
          <p:cNvSpPr>
            <a:spLocks xmlns:a="http://schemas.openxmlformats.org/drawingml/2006/main" noGrp="1"/>
          </p:cNvSpPr>
          <p:nvPr/>
        </p:nvSpPr>
        <p:spPr>
          <a:xfrm xmlns:a="http://schemas.openxmlformats.org/drawingml/2006/main">
            <a:off x="6086475"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4CC768E4-470F-4F85-82FA-BCDF2A0813BA}"/>
              </a:ext>
            </a:extLst>
          </p:cNvPr>
          <p:cNvSpPr>
            <a:spLocks xmlns:a="http://schemas.openxmlformats.org/drawingml/2006/main" noGrp="1"/>
          </p:cNvSpPr>
          <p:nvPr/>
        </p:nvSpPr>
        <p:spPr>
          <a:xfrm xmlns:a="http://schemas.openxmlformats.org/drawingml/2006/main">
            <a:off x="6238875" y="234315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Sedinta</a:t>
            </a:r>
          </a:p>
        </p:txBody>
      </p:sp>
      <p:sp>
        <p:nvSpPr>
          <p:cNvPr id="11" name="">
            <a:extLst xmlns:a="http://schemas.openxmlformats.org/drawingml/2006/main">
              <a:ext uri="{FF2B5EF4-FFF2-40B4-BE49-F238E27FC236}">
                <a16:creationId xmlns:a16="http://schemas.microsoft.com/office/drawing/2014/main" id="{4A938900-BCCF-4334-90FF-780476CF897A}"/>
              </a:ext>
            </a:extLst>
          </p:cNvPr>
          <p:cNvSpPr>
            <a:spLocks xmlns:a="http://schemas.openxmlformats.org/drawingml/2006/main" noGrp="1"/>
          </p:cNvSpPr>
          <p:nvPr/>
        </p:nvSpPr>
        <p:spPr>
          <a:xfrm xmlns:a="http://schemas.openxmlformats.org/drawingml/2006/main">
            <a:off x="6238875"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Documentele si prezenta sedintei sunt pregatite sistematic.</a:t>
            </a:r>
          </a:p>
        </p:txBody>
      </p:sp>
      <p:sp>
        <p:nvSpPr>
          <p:cNvPr id="12" name="">
            <a:extLst xmlns:a="http://schemas.openxmlformats.org/drawingml/2006/main">
              <a:ext uri="{FF2B5EF4-FFF2-40B4-BE49-F238E27FC236}">
                <a16:creationId xmlns:a16="http://schemas.microsoft.com/office/drawing/2014/main" id="{16EC2E3F-A270-4C43-8FA4-020A9122A5B1}"/>
              </a:ext>
            </a:extLst>
          </p:cNvPr>
          <p:cNvSpPr>
            <a:spLocks xmlns:a="http://schemas.openxmlformats.org/drawingml/2006/main" noGrp="1"/>
          </p:cNvSpPr>
          <p:nvPr/>
        </p:nvSpPr>
        <p:spPr>
          <a:xfrm xmlns:a="http://schemas.openxmlformats.org/drawingml/2006/main">
            <a:off x="514350" y="401955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C4192D05-F8BF-4D60-8B96-E711A4DF6059}"/>
              </a:ext>
            </a:extLst>
          </p:cNvPr>
          <p:cNvSpPr>
            <a:spLocks xmlns:a="http://schemas.openxmlformats.org/drawingml/2006/main" noGrp="1"/>
          </p:cNvSpPr>
          <p:nvPr/>
        </p:nvSpPr>
        <p:spPr>
          <a:xfrm xmlns:a="http://schemas.openxmlformats.org/drawingml/2006/main">
            <a:off x="666750" y="415290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Decizie</a:t>
            </a:r>
          </a:p>
        </p:txBody>
      </p:sp>
      <p:sp>
        <p:nvSpPr>
          <p:cNvPr id="14" name="">
            <a:extLst xmlns:a="http://schemas.openxmlformats.org/drawingml/2006/main">
              <a:ext uri="{FF2B5EF4-FFF2-40B4-BE49-F238E27FC236}">
                <a16:creationId xmlns:a16="http://schemas.microsoft.com/office/drawing/2014/main" id="{5BAD1B0B-2403-47A8-9272-6AEC5BE32BD2}"/>
              </a:ext>
            </a:extLst>
          </p:cNvPr>
          <p:cNvSpPr>
            <a:spLocks xmlns:a="http://schemas.openxmlformats.org/drawingml/2006/main" noGrp="1"/>
          </p:cNvSpPr>
          <p:nvPr/>
        </p:nvSpPr>
        <p:spPr>
          <a:xfrm xmlns:a="http://schemas.openxmlformats.org/drawingml/2006/main">
            <a:off x="666750" y="451485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Minuta, votul si hotararea raman legate intre ele pentru trasabilitate.</a:t>
            </a:r>
          </a:p>
        </p:txBody>
      </p:sp>
      <p:sp>
        <p:nvSpPr>
          <p:cNvPr id="15" name="">
            <a:extLst xmlns:a="http://schemas.openxmlformats.org/drawingml/2006/main">
              <a:ext uri="{FF2B5EF4-FFF2-40B4-BE49-F238E27FC236}">
                <a16:creationId xmlns:a16="http://schemas.microsoft.com/office/drawing/2014/main" id="{9C65F23A-55B7-46A8-8880-50A6CBD686E9}"/>
              </a:ext>
            </a:extLst>
          </p:cNvPr>
          <p:cNvSpPr>
            <a:spLocks xmlns:a="http://schemas.openxmlformats.org/drawingml/2006/main" noGrp="1"/>
          </p:cNvSpPr>
          <p:nvPr/>
        </p:nvSpPr>
        <p:spPr>
          <a:xfrm xmlns:a="http://schemas.openxmlformats.org/drawingml/2006/main">
            <a:off x="514350" y="5676900"/>
            <a:ext cx="1085850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5BBB0587-5750-4BF5-BC61-2257D40295F2}"/>
              </a:ext>
            </a:extLst>
          </p:cNvPr>
          <p:cNvSpPr>
            <a:spLocks xmlns:a="http://schemas.openxmlformats.org/drawingml/2006/main" noGrp="1"/>
          </p:cNvSpPr>
          <p:nvPr/>
        </p:nvSpPr>
        <p:spPr>
          <a:xfrm xmlns:a="http://schemas.openxmlformats.org/drawingml/2006/main">
            <a:off x="666750" y="5810250"/>
            <a:ext cx="1055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se foloseste in practica: Consiliul de administratie este tratat in aplicatie ca un proces complet: componenta, sedinta, prezenta, minuta, vot, hotarare si urmarirea masurilor. Componenta: Membrii si rolurile pot fi evidentiati in mod clar. Sedinta: Documentele si prezenta sedintei sunt pregatite sistematic. Decizie: Minuta, votul si hotararea raman legate intre ele pentru trasabilitate.</a:t>
            </a:r>
          </a:p>
        </p:txBody>
      </p:sp>
      <p:sp>
        <p:nvSpPr>
          <p:cNvPr id="17" name="">
            <a:extLst xmlns:a="http://schemas.openxmlformats.org/drawingml/2006/main">
              <a:ext uri="{FF2B5EF4-FFF2-40B4-BE49-F238E27FC236}">
                <a16:creationId xmlns:a16="http://schemas.microsoft.com/office/drawing/2014/main" id="{AF840BE6-4852-46EF-8374-32726D0FD22E}"/>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8" name="">
            <a:extLst xmlns:a="http://schemas.openxmlformats.org/drawingml/2006/main">
              <a:ext uri="{FF2B5EF4-FFF2-40B4-BE49-F238E27FC236}">
                <a16:creationId xmlns:a16="http://schemas.microsoft.com/office/drawing/2014/main" id="{E8BC0ADC-C758-483E-B1D9-FBFD916995C6}"/>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Consiliul de administratie</a:t>
            </a:r>
          </a:p>
        </p:txBody>
      </p:sp>
    </p:spTree>
    <p:extLst>
      <p:ext uri="{BB962C8B-B14F-4D97-AF65-F5344CB8AC3E}">
        <p14:creationId xmlns:p14="http://schemas.microsoft.com/office/powerpoint/2010/main" val="2022555684"/>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E58AA9B-72C7-43EC-B21B-5282C5B2A13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32E5E90E-9165-42E1-BC47-7FB1B977D7F8}"/>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Consiliul profesoral</a:t>
            </a:r>
          </a:p>
        </p:txBody>
      </p:sp>
      <p:sp>
        <p:nvSpPr>
          <p:cNvPr id="3" name="">
            <a:extLst xmlns:a="http://schemas.openxmlformats.org/drawingml/2006/main">
              <a:ext uri="{FF2B5EF4-FFF2-40B4-BE49-F238E27FC236}">
                <a16:creationId xmlns:a16="http://schemas.microsoft.com/office/drawing/2014/main" id="{7AA70799-432C-4CD2-9317-3CA6FB7FB9DE}"/>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CP complet</a:t>
            </a:r>
          </a:p>
        </p:txBody>
      </p:sp>
      <p:sp>
        <p:nvSpPr>
          <p:cNvPr id="4" name="">
            <a:extLst xmlns:a="http://schemas.openxmlformats.org/drawingml/2006/main">
              <a:ext uri="{FF2B5EF4-FFF2-40B4-BE49-F238E27FC236}">
                <a16:creationId xmlns:a16="http://schemas.microsoft.com/office/drawing/2014/main" id="{6F9A8285-A93C-4A43-8CE3-931C9761BB44}"/>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48</a:t>
            </a:r>
          </a:p>
        </p:txBody>
      </p:sp>
      <p:sp>
        <p:nvSpPr>
          <p:cNvPr id="5" name="">
            <a:extLst xmlns:a="http://schemas.openxmlformats.org/drawingml/2006/main">
              <a:ext uri="{FF2B5EF4-FFF2-40B4-BE49-F238E27FC236}">
                <a16:creationId xmlns:a16="http://schemas.microsoft.com/office/drawing/2014/main" id="{5AF4478D-F90B-40E3-8AC2-2160D9CD71ED}"/>
              </a:ext>
            </a:extLst>
          </p:cNvPr>
          <p:cNvSpPr>
            <a:spLocks xmlns:a="http://schemas.openxmlformats.org/drawingml/2006/main" noGrp="1"/>
          </p:cNvSpPr>
          <p:nvPr/>
        </p:nvSpPr>
        <p:spPr>
          <a:xfrm xmlns:a="http://schemas.openxmlformats.org/drawingml/2006/main">
            <a:off x="514350" y="1181100"/>
            <a:ext cx="10858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314158"/>
                </a:solidFill>
              </a:defRPr>
            </a:pPr>
            <a:r>
              <a:rPr sz="1275">
                <a:solidFill>
                  <a:srgbClr val="314158"/>
                </a:solidFill>
              </a:rPr>
              <a:t>Pentru Consiliul profesoral, utilizatorul urmeaza aceeasi logica simpla de lucru, cu accent pe sedinta, discutii, vot si actele rezultate.</a:t>
            </a:r>
          </a:p>
        </p:txBody>
      </p:sp>
      <p:sp>
        <p:nvSpPr>
          <p:cNvPr id="6" name="">
            <a:extLst xmlns:a="http://schemas.openxmlformats.org/drawingml/2006/main">
              <a:ext uri="{FF2B5EF4-FFF2-40B4-BE49-F238E27FC236}">
                <a16:creationId xmlns:a16="http://schemas.microsoft.com/office/drawing/2014/main" id="{5BF0A0A7-246F-4489-A888-76501CA454A4}"/>
              </a:ext>
            </a:extLst>
          </p:cNvPr>
          <p:cNvSpPr>
            <a:spLocks xmlns:a="http://schemas.openxmlformats.org/drawingml/2006/main" noGrp="1"/>
          </p:cNvSpPr>
          <p:nvPr/>
        </p:nvSpPr>
        <p:spPr>
          <a:xfrm xmlns:a="http://schemas.openxmlformats.org/drawingml/2006/main">
            <a:off x="514350"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01872B7C-6B63-4DFE-BB73-5E7AB41B77B4}"/>
              </a:ext>
            </a:extLst>
          </p:cNvPr>
          <p:cNvSpPr>
            <a:spLocks xmlns:a="http://schemas.openxmlformats.org/drawingml/2006/main" noGrp="1"/>
          </p:cNvSpPr>
          <p:nvPr/>
        </p:nvSpPr>
        <p:spPr>
          <a:xfrm xmlns:a="http://schemas.openxmlformats.org/drawingml/2006/main">
            <a:off x="666750" y="23431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Sedinte</a:t>
            </a:r>
          </a:p>
        </p:txBody>
      </p:sp>
      <p:sp>
        <p:nvSpPr>
          <p:cNvPr id="8" name="">
            <a:extLst xmlns:a="http://schemas.openxmlformats.org/drawingml/2006/main">
              <a:ext uri="{FF2B5EF4-FFF2-40B4-BE49-F238E27FC236}">
                <a16:creationId xmlns:a16="http://schemas.microsoft.com/office/drawing/2014/main" id="{D659EEEF-18E5-40FC-AFD5-6525F9D7EDFD}"/>
              </a:ext>
            </a:extLst>
          </p:cNvPr>
          <p:cNvSpPr>
            <a:spLocks xmlns:a="http://schemas.openxmlformats.org/drawingml/2006/main" noGrp="1"/>
          </p:cNvSpPr>
          <p:nvPr/>
        </p:nvSpPr>
        <p:spPr>
          <a:xfrm xmlns:a="http://schemas.openxmlformats.org/drawingml/2006/main">
            <a:off x="666750"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Se pregatesc ordinea de zi, prezenta si materialele de lucru.</a:t>
            </a:r>
          </a:p>
        </p:txBody>
      </p:sp>
      <p:sp>
        <p:nvSpPr>
          <p:cNvPr id="9" name="">
            <a:extLst xmlns:a="http://schemas.openxmlformats.org/drawingml/2006/main">
              <a:ext uri="{FF2B5EF4-FFF2-40B4-BE49-F238E27FC236}">
                <a16:creationId xmlns:a16="http://schemas.microsoft.com/office/drawing/2014/main" id="{796D9103-B91E-45A9-832E-058A7A3090CB}"/>
              </a:ext>
            </a:extLst>
          </p:cNvPr>
          <p:cNvSpPr>
            <a:spLocks xmlns:a="http://schemas.openxmlformats.org/drawingml/2006/main" noGrp="1"/>
          </p:cNvSpPr>
          <p:nvPr/>
        </p:nvSpPr>
        <p:spPr>
          <a:xfrm xmlns:a="http://schemas.openxmlformats.org/drawingml/2006/main">
            <a:off x="6086475"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306AF2EF-DE27-4876-919D-290B670146D8}"/>
              </a:ext>
            </a:extLst>
          </p:cNvPr>
          <p:cNvSpPr>
            <a:spLocks xmlns:a="http://schemas.openxmlformats.org/drawingml/2006/main" noGrp="1"/>
          </p:cNvSpPr>
          <p:nvPr/>
        </p:nvSpPr>
        <p:spPr>
          <a:xfrm xmlns:a="http://schemas.openxmlformats.org/drawingml/2006/main">
            <a:off x="6238875" y="234315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Consemnare</a:t>
            </a:r>
          </a:p>
        </p:txBody>
      </p:sp>
      <p:sp>
        <p:nvSpPr>
          <p:cNvPr id="11" name="">
            <a:extLst xmlns:a="http://schemas.openxmlformats.org/drawingml/2006/main">
              <a:ext uri="{FF2B5EF4-FFF2-40B4-BE49-F238E27FC236}">
                <a16:creationId xmlns:a16="http://schemas.microsoft.com/office/drawing/2014/main" id="{C15483F0-106D-4536-BF16-80FF5376A65E}"/>
              </a:ext>
            </a:extLst>
          </p:cNvPr>
          <p:cNvSpPr>
            <a:spLocks xmlns:a="http://schemas.openxmlformats.org/drawingml/2006/main" noGrp="1"/>
          </p:cNvSpPr>
          <p:nvPr/>
        </p:nvSpPr>
        <p:spPr>
          <a:xfrm xmlns:a="http://schemas.openxmlformats.org/drawingml/2006/main">
            <a:off x="6238875"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Se noteaza punctele de minuta si rezultatele votului.</a:t>
            </a:r>
          </a:p>
        </p:txBody>
      </p:sp>
      <p:sp>
        <p:nvSpPr>
          <p:cNvPr id="12" name="">
            <a:extLst xmlns:a="http://schemas.openxmlformats.org/drawingml/2006/main">
              <a:ext uri="{FF2B5EF4-FFF2-40B4-BE49-F238E27FC236}">
                <a16:creationId xmlns:a16="http://schemas.microsoft.com/office/drawing/2014/main" id="{E7152424-3D58-4F9E-AFB4-688CE7671894}"/>
              </a:ext>
            </a:extLst>
          </p:cNvPr>
          <p:cNvSpPr>
            <a:spLocks xmlns:a="http://schemas.openxmlformats.org/drawingml/2006/main" noGrp="1"/>
          </p:cNvSpPr>
          <p:nvPr/>
        </p:nvSpPr>
        <p:spPr>
          <a:xfrm xmlns:a="http://schemas.openxmlformats.org/drawingml/2006/main">
            <a:off x="514350" y="401955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C0631FEF-5441-44DC-96ED-B25B03B0FE9C}"/>
              </a:ext>
            </a:extLst>
          </p:cNvPr>
          <p:cNvSpPr>
            <a:spLocks xmlns:a="http://schemas.openxmlformats.org/drawingml/2006/main" noGrp="1"/>
          </p:cNvSpPr>
          <p:nvPr/>
        </p:nvSpPr>
        <p:spPr>
          <a:xfrm xmlns:a="http://schemas.openxmlformats.org/drawingml/2006/main">
            <a:off x="666750" y="415290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Acte finale</a:t>
            </a:r>
          </a:p>
        </p:txBody>
      </p:sp>
      <p:sp>
        <p:nvSpPr>
          <p:cNvPr id="14" name="">
            <a:extLst xmlns:a="http://schemas.openxmlformats.org/drawingml/2006/main">
              <a:ext uri="{FF2B5EF4-FFF2-40B4-BE49-F238E27FC236}">
                <a16:creationId xmlns:a16="http://schemas.microsoft.com/office/drawing/2014/main" id="{0432C64D-72CC-4A23-93EB-EDC115FB80C4}"/>
              </a:ext>
            </a:extLst>
          </p:cNvPr>
          <p:cNvSpPr>
            <a:spLocks xmlns:a="http://schemas.openxmlformats.org/drawingml/2006/main" noGrp="1"/>
          </p:cNvSpPr>
          <p:nvPr/>
        </p:nvSpPr>
        <p:spPr>
          <a:xfrm xmlns:a="http://schemas.openxmlformats.org/drawingml/2006/main">
            <a:off x="666750" y="451485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Se pot urmari procesul-verbal si actele care deriva din sedinta.</a:t>
            </a:r>
          </a:p>
        </p:txBody>
      </p:sp>
      <p:sp>
        <p:nvSpPr>
          <p:cNvPr id="15" name="">
            <a:extLst xmlns:a="http://schemas.openxmlformats.org/drawingml/2006/main">
              <a:ext uri="{FF2B5EF4-FFF2-40B4-BE49-F238E27FC236}">
                <a16:creationId xmlns:a16="http://schemas.microsoft.com/office/drawing/2014/main" id="{0B630913-CF61-460F-B7F7-A1F2F3780A09}"/>
              </a:ext>
            </a:extLst>
          </p:cNvPr>
          <p:cNvSpPr>
            <a:spLocks xmlns:a="http://schemas.openxmlformats.org/drawingml/2006/main" noGrp="1"/>
          </p:cNvSpPr>
          <p:nvPr/>
        </p:nvSpPr>
        <p:spPr>
          <a:xfrm xmlns:a="http://schemas.openxmlformats.org/drawingml/2006/main">
            <a:off x="514350" y="5676900"/>
            <a:ext cx="1085850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472ADD24-2CB5-4310-B014-78723214D539}"/>
              </a:ext>
            </a:extLst>
          </p:cNvPr>
          <p:cNvSpPr>
            <a:spLocks xmlns:a="http://schemas.openxmlformats.org/drawingml/2006/main" noGrp="1"/>
          </p:cNvSpPr>
          <p:nvPr/>
        </p:nvSpPr>
        <p:spPr>
          <a:xfrm xmlns:a="http://schemas.openxmlformats.org/drawingml/2006/main">
            <a:off x="666750" y="5810250"/>
            <a:ext cx="1055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se foloseste in practica: Pentru Consiliul profesoral, utilizatorul urmeaza aceeasi logica simpla de lucru, cu accent pe sedinta, discutii, vot si actele rezultate. Sedinte: Se pregatesc ordinea de zi, prezenta si materialele de lucru. Consemnare: Se noteaza punctele de minuta si rezultatele votului. Acte finale: Se pot urmari procesul-verbal si actele care deriva din sedinta.</a:t>
            </a:r>
          </a:p>
        </p:txBody>
      </p:sp>
      <p:sp>
        <p:nvSpPr>
          <p:cNvPr id="17" name="">
            <a:extLst xmlns:a="http://schemas.openxmlformats.org/drawingml/2006/main">
              <a:ext uri="{FF2B5EF4-FFF2-40B4-BE49-F238E27FC236}">
                <a16:creationId xmlns:a16="http://schemas.microsoft.com/office/drawing/2014/main" id="{27EDE35E-9F07-4537-845F-B2EF518BBD49}"/>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8" name="">
            <a:extLst xmlns:a="http://schemas.openxmlformats.org/drawingml/2006/main">
              <a:ext uri="{FF2B5EF4-FFF2-40B4-BE49-F238E27FC236}">
                <a16:creationId xmlns:a16="http://schemas.microsoft.com/office/drawing/2014/main" id="{745C2DE9-08E2-4487-801D-91C352ADCB57}"/>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Consiliul profesoral</a:t>
            </a:r>
          </a:p>
        </p:txBody>
      </p:sp>
    </p:spTree>
    <p:extLst>
      <p:ext uri="{BB962C8B-B14F-4D97-AF65-F5344CB8AC3E}">
        <p14:creationId xmlns:p14="http://schemas.microsoft.com/office/powerpoint/2010/main" val="94241123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68C23EE-7818-4038-8A03-F9BA864AA6E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388E46CE-21FB-4742-94FF-3CF0F1769C85}"/>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Organizare interna</a:t>
            </a:r>
          </a:p>
        </p:txBody>
      </p:sp>
      <p:sp>
        <p:nvSpPr>
          <p:cNvPr id="3" name="">
            <a:extLst xmlns:a="http://schemas.openxmlformats.org/drawingml/2006/main">
              <a:ext uri="{FF2B5EF4-FFF2-40B4-BE49-F238E27FC236}">
                <a16:creationId xmlns:a16="http://schemas.microsoft.com/office/drawing/2014/main" id="{ADC220CE-623B-4816-810E-CEBCEFEE638F}"/>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Comisii si comisia de evaluare</a:t>
            </a:r>
          </a:p>
        </p:txBody>
      </p:sp>
      <p:sp>
        <p:nvSpPr>
          <p:cNvPr id="4" name="">
            <a:extLst xmlns:a="http://schemas.openxmlformats.org/drawingml/2006/main">
              <a:ext uri="{FF2B5EF4-FFF2-40B4-BE49-F238E27FC236}">
                <a16:creationId xmlns:a16="http://schemas.microsoft.com/office/drawing/2014/main" id="{4DB523B5-1BBB-436C-B5CD-A755B8C0ED08}"/>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49</a:t>
            </a:r>
          </a:p>
        </p:txBody>
      </p:sp>
      <p:sp>
        <p:nvSpPr>
          <p:cNvPr id="5" name="">
            <a:extLst xmlns:a="http://schemas.openxmlformats.org/drawingml/2006/main">
              <a:ext uri="{FF2B5EF4-FFF2-40B4-BE49-F238E27FC236}">
                <a16:creationId xmlns:a16="http://schemas.microsoft.com/office/drawing/2014/main" id="{BA92CC79-9B45-4C92-B44D-B2A9769774EF}"/>
              </a:ext>
            </a:extLst>
          </p:cNvPr>
          <p:cNvSpPr>
            <a:spLocks xmlns:a="http://schemas.openxmlformats.org/drawingml/2006/main" noGrp="1"/>
          </p:cNvSpPr>
          <p:nvPr/>
        </p:nvSpPr>
        <p:spPr>
          <a:xfrm xmlns:a="http://schemas.openxmlformats.org/drawingml/2006/main">
            <a:off x="514350" y="1181100"/>
            <a:ext cx="10858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314158"/>
                </a:solidFill>
              </a:defRPr>
            </a:pPr>
            <a:r>
              <a:rPr sz="1275">
                <a:solidFill>
                  <a:srgbClr val="314158"/>
                </a:solidFill>
              </a:rPr>
              <a:t>Comisiile sunt usor de gestionat atunci cand utilizatorul are la indemana componenta, mandatul, documentele si rezultatele intr-un singur loc.</a:t>
            </a:r>
          </a:p>
        </p:txBody>
      </p:sp>
      <p:sp>
        <p:nvSpPr>
          <p:cNvPr id="6" name="">
            <a:extLst xmlns:a="http://schemas.openxmlformats.org/drawingml/2006/main">
              <a:ext uri="{FF2B5EF4-FFF2-40B4-BE49-F238E27FC236}">
                <a16:creationId xmlns:a16="http://schemas.microsoft.com/office/drawing/2014/main" id="{04FB5E74-12C3-4190-B8F3-760A6C021D3D}"/>
              </a:ext>
            </a:extLst>
          </p:cNvPr>
          <p:cNvSpPr>
            <a:spLocks xmlns:a="http://schemas.openxmlformats.org/drawingml/2006/main" noGrp="1"/>
          </p:cNvSpPr>
          <p:nvPr/>
        </p:nvSpPr>
        <p:spPr>
          <a:xfrm xmlns:a="http://schemas.openxmlformats.org/drawingml/2006/main">
            <a:off x="514350"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2082977F-CEB7-4FF9-9D28-5986283F3E1C}"/>
              </a:ext>
            </a:extLst>
          </p:cNvPr>
          <p:cNvSpPr>
            <a:spLocks xmlns:a="http://schemas.openxmlformats.org/drawingml/2006/main" noGrp="1"/>
          </p:cNvSpPr>
          <p:nvPr/>
        </p:nvSpPr>
        <p:spPr>
          <a:xfrm xmlns:a="http://schemas.openxmlformats.org/drawingml/2006/main">
            <a:off x="666750" y="23431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Mandat</a:t>
            </a:r>
          </a:p>
        </p:txBody>
      </p:sp>
      <p:sp>
        <p:nvSpPr>
          <p:cNvPr id="8" name="">
            <a:extLst xmlns:a="http://schemas.openxmlformats.org/drawingml/2006/main">
              <a:ext uri="{FF2B5EF4-FFF2-40B4-BE49-F238E27FC236}">
                <a16:creationId xmlns:a16="http://schemas.microsoft.com/office/drawing/2014/main" id="{6D6C6311-E68F-4398-8CF0-7F0895D8888E}"/>
              </a:ext>
            </a:extLst>
          </p:cNvPr>
          <p:cNvSpPr>
            <a:spLocks xmlns:a="http://schemas.openxmlformats.org/drawingml/2006/main" noGrp="1"/>
          </p:cNvSpPr>
          <p:nvPr/>
        </p:nvSpPr>
        <p:spPr>
          <a:xfrm xmlns:a="http://schemas.openxmlformats.org/drawingml/2006/main">
            <a:off x="666750"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Se stie cine face parte din comisie si pana cand.</a:t>
            </a:r>
          </a:p>
        </p:txBody>
      </p:sp>
      <p:sp>
        <p:nvSpPr>
          <p:cNvPr id="9" name="">
            <a:extLst xmlns:a="http://schemas.openxmlformats.org/drawingml/2006/main">
              <a:ext uri="{FF2B5EF4-FFF2-40B4-BE49-F238E27FC236}">
                <a16:creationId xmlns:a16="http://schemas.microsoft.com/office/drawing/2014/main" id="{717B4AF8-630A-42F8-A56B-BFA4693D473D}"/>
              </a:ext>
            </a:extLst>
          </p:cNvPr>
          <p:cNvSpPr>
            <a:spLocks xmlns:a="http://schemas.openxmlformats.org/drawingml/2006/main" noGrp="1"/>
          </p:cNvSpPr>
          <p:nvPr/>
        </p:nvSpPr>
        <p:spPr>
          <a:xfrm xmlns:a="http://schemas.openxmlformats.org/drawingml/2006/main">
            <a:off x="6086475"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0CFDE9CC-421D-4F54-89CB-2173B890A7FC}"/>
              </a:ext>
            </a:extLst>
          </p:cNvPr>
          <p:cNvSpPr>
            <a:spLocks xmlns:a="http://schemas.openxmlformats.org/drawingml/2006/main" noGrp="1"/>
          </p:cNvSpPr>
          <p:nvPr/>
        </p:nvSpPr>
        <p:spPr>
          <a:xfrm xmlns:a="http://schemas.openxmlformats.org/drawingml/2006/main">
            <a:off x="6238875" y="234315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Documente</a:t>
            </a:r>
          </a:p>
        </p:txBody>
      </p:sp>
      <p:sp>
        <p:nvSpPr>
          <p:cNvPr id="11" name="">
            <a:extLst xmlns:a="http://schemas.openxmlformats.org/drawingml/2006/main">
              <a:ext uri="{FF2B5EF4-FFF2-40B4-BE49-F238E27FC236}">
                <a16:creationId xmlns:a16="http://schemas.microsoft.com/office/drawing/2014/main" id="{F8D1EFBA-799A-4476-B4A4-459E8159CA94}"/>
              </a:ext>
            </a:extLst>
          </p:cNvPr>
          <p:cNvSpPr>
            <a:spLocks xmlns:a="http://schemas.openxmlformats.org/drawingml/2006/main" noGrp="1"/>
          </p:cNvSpPr>
          <p:nvPr/>
        </p:nvSpPr>
        <p:spPr>
          <a:xfrm xmlns:a="http://schemas.openxmlformats.org/drawingml/2006/main">
            <a:off x="6238875"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Se pastreaza rapoartele, anexele, punctajele sau recomandarile.</a:t>
            </a:r>
          </a:p>
        </p:txBody>
      </p:sp>
      <p:sp>
        <p:nvSpPr>
          <p:cNvPr id="12" name="">
            <a:extLst xmlns:a="http://schemas.openxmlformats.org/drawingml/2006/main">
              <a:ext uri="{FF2B5EF4-FFF2-40B4-BE49-F238E27FC236}">
                <a16:creationId xmlns:a16="http://schemas.microsoft.com/office/drawing/2014/main" id="{CE6651C3-D692-4EE1-A13B-65228D11168D}"/>
              </a:ext>
            </a:extLst>
          </p:cNvPr>
          <p:cNvSpPr>
            <a:spLocks xmlns:a="http://schemas.openxmlformats.org/drawingml/2006/main" noGrp="1"/>
          </p:cNvSpPr>
          <p:nvPr/>
        </p:nvSpPr>
        <p:spPr>
          <a:xfrm xmlns:a="http://schemas.openxmlformats.org/drawingml/2006/main">
            <a:off x="514350" y="401955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8B7DC05E-28E8-49F8-AEA1-D7416CCCCBF1}"/>
              </a:ext>
            </a:extLst>
          </p:cNvPr>
          <p:cNvSpPr>
            <a:spLocks xmlns:a="http://schemas.openxmlformats.org/drawingml/2006/main" noGrp="1"/>
          </p:cNvSpPr>
          <p:nvPr/>
        </p:nvSpPr>
        <p:spPr>
          <a:xfrm xmlns:a="http://schemas.openxmlformats.org/drawingml/2006/main">
            <a:off x="666750" y="415290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Rezultate</a:t>
            </a:r>
          </a:p>
        </p:txBody>
      </p:sp>
      <p:sp>
        <p:nvSpPr>
          <p:cNvPr id="14" name="">
            <a:extLst xmlns:a="http://schemas.openxmlformats.org/drawingml/2006/main">
              <a:ext uri="{FF2B5EF4-FFF2-40B4-BE49-F238E27FC236}">
                <a16:creationId xmlns:a16="http://schemas.microsoft.com/office/drawing/2014/main" id="{3C0A9790-7A4E-4ADD-B729-4088A148A6CA}"/>
              </a:ext>
            </a:extLst>
          </p:cNvPr>
          <p:cNvSpPr>
            <a:spLocks xmlns:a="http://schemas.openxmlformats.org/drawingml/2006/main" noGrp="1"/>
          </p:cNvSpPr>
          <p:nvPr/>
        </p:nvSpPr>
        <p:spPr>
          <a:xfrm xmlns:a="http://schemas.openxmlformats.org/drawingml/2006/main">
            <a:off x="666750" y="451485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Concluziile comisiei pot fi folosite in evaluare, management sau raportare.</a:t>
            </a:r>
          </a:p>
        </p:txBody>
      </p:sp>
      <p:sp>
        <p:nvSpPr>
          <p:cNvPr id="15" name="">
            <a:extLst xmlns:a="http://schemas.openxmlformats.org/drawingml/2006/main">
              <a:ext uri="{FF2B5EF4-FFF2-40B4-BE49-F238E27FC236}">
                <a16:creationId xmlns:a16="http://schemas.microsoft.com/office/drawing/2014/main" id="{A3095382-B4B1-4766-92D6-A14CE10CCF9B}"/>
              </a:ext>
            </a:extLst>
          </p:cNvPr>
          <p:cNvSpPr>
            <a:spLocks xmlns:a="http://schemas.openxmlformats.org/drawingml/2006/main" noGrp="1"/>
          </p:cNvSpPr>
          <p:nvPr/>
        </p:nvSpPr>
        <p:spPr>
          <a:xfrm xmlns:a="http://schemas.openxmlformats.org/drawingml/2006/main">
            <a:off x="514350" y="5676900"/>
            <a:ext cx="1085850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E4238365-B1AF-4A8A-BE41-AB6F61F8BB80}"/>
              </a:ext>
            </a:extLst>
          </p:cNvPr>
          <p:cNvSpPr>
            <a:spLocks xmlns:a="http://schemas.openxmlformats.org/drawingml/2006/main" noGrp="1"/>
          </p:cNvSpPr>
          <p:nvPr/>
        </p:nvSpPr>
        <p:spPr>
          <a:xfrm xmlns:a="http://schemas.openxmlformats.org/drawingml/2006/main">
            <a:off x="666750" y="5810250"/>
            <a:ext cx="1055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se foloseste in practica: Comisiile sunt usor de gestionat atunci cand utilizatorul are la indemana componenta, mandatul, documentele si rezultatele intr-un singur loc. Mandat: Se stie cine face parte din comisie si pana cand. Documente: Se pastreaza rapoartele, anexele, punctajele sau recomandarile. Rezultate: Concluziile comisiei pot fi folosite in evaluare, management sau raportare.</a:t>
            </a:r>
          </a:p>
        </p:txBody>
      </p:sp>
      <p:sp>
        <p:nvSpPr>
          <p:cNvPr id="17" name="">
            <a:extLst xmlns:a="http://schemas.openxmlformats.org/drawingml/2006/main">
              <a:ext uri="{FF2B5EF4-FFF2-40B4-BE49-F238E27FC236}">
                <a16:creationId xmlns:a16="http://schemas.microsoft.com/office/drawing/2014/main" id="{2FE8AED6-FBE5-4918-A115-D687E08AA8CF}"/>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8" name="">
            <a:extLst xmlns:a="http://schemas.openxmlformats.org/drawingml/2006/main">
              <a:ext uri="{FF2B5EF4-FFF2-40B4-BE49-F238E27FC236}">
                <a16:creationId xmlns:a16="http://schemas.microsoft.com/office/drawing/2014/main" id="{5B4F0EF0-2DCF-4616-878E-8F617F88589F}"/>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Comisii si evaluare</a:t>
            </a:r>
          </a:p>
        </p:txBody>
      </p:sp>
    </p:spTree>
    <p:extLst>
      <p:ext uri="{BB962C8B-B14F-4D97-AF65-F5344CB8AC3E}">
        <p14:creationId xmlns:p14="http://schemas.microsoft.com/office/powerpoint/2010/main" val="1900572258"/>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59B7350-C6D2-421A-B999-C72B8178667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99AAF223-253D-4889-9AE3-B45FB96A2109}"/>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Personal educational</a:t>
            </a:r>
          </a:p>
        </p:txBody>
      </p:sp>
      <p:sp>
        <p:nvSpPr>
          <p:cNvPr id="3" name="">
            <a:extLst xmlns:a="http://schemas.openxmlformats.org/drawingml/2006/main">
              <a:ext uri="{FF2B5EF4-FFF2-40B4-BE49-F238E27FC236}">
                <a16:creationId xmlns:a16="http://schemas.microsoft.com/office/drawing/2014/main" id="{138AA28A-A6F9-4D87-A2CA-F29E76C0BC0B}"/>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Comunicarea rezultatului evaluarii</a:t>
            </a:r>
          </a:p>
        </p:txBody>
      </p:sp>
      <p:sp>
        <p:nvSpPr>
          <p:cNvPr id="4" name="">
            <a:extLst xmlns:a="http://schemas.openxmlformats.org/drawingml/2006/main">
              <a:ext uri="{FF2B5EF4-FFF2-40B4-BE49-F238E27FC236}">
                <a16:creationId xmlns:a16="http://schemas.microsoft.com/office/drawing/2014/main" id="{205A7B63-8358-428A-BA9C-098B6252F372}"/>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50</a:t>
            </a:r>
          </a:p>
        </p:txBody>
      </p:sp>
      <p:sp>
        <p:nvSpPr>
          <p:cNvPr id="5" name="">
            <a:extLst xmlns:a="http://schemas.openxmlformats.org/drawingml/2006/main">
              <a:ext uri="{FF2B5EF4-FFF2-40B4-BE49-F238E27FC236}">
                <a16:creationId xmlns:a16="http://schemas.microsoft.com/office/drawing/2014/main" id="{0A0E82F5-EDA4-471C-ACAA-711DB3864D31}"/>
              </a:ext>
            </a:extLst>
          </p:cNvPr>
          <p:cNvSpPr>
            <a:spLocks xmlns:a="http://schemas.openxmlformats.org/drawingml/2006/main" noGrp="1"/>
          </p:cNvSpPr>
          <p:nvPr/>
        </p:nvSpPr>
        <p:spPr>
          <a:xfrm xmlns:a="http://schemas.openxmlformats.org/drawingml/2006/main">
            <a:off x="514350" y="1181100"/>
            <a:ext cx="10858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314158"/>
                </a:solidFill>
              </a:defRPr>
            </a:pPr>
            <a:r>
              <a:rPr sz="1275">
                <a:solidFill>
                  <a:srgbClr val="314158"/>
                </a:solidFill>
              </a:rPr>
              <a:t>Din perspectiva utilizatorului, partea importanta este ca rezultatul evaluarii sa poata fi consultat, comunicat si regasit ulterior fara ambiguitati.</a:t>
            </a:r>
          </a:p>
        </p:txBody>
      </p:sp>
      <p:sp>
        <p:nvSpPr>
          <p:cNvPr id="6" name="">
            <a:extLst xmlns:a="http://schemas.openxmlformats.org/drawingml/2006/main">
              <a:ext uri="{FF2B5EF4-FFF2-40B4-BE49-F238E27FC236}">
                <a16:creationId xmlns:a16="http://schemas.microsoft.com/office/drawing/2014/main" id="{AC593960-F759-4441-ABFE-8066C81ACC38}"/>
              </a:ext>
            </a:extLst>
          </p:cNvPr>
          <p:cNvSpPr>
            <a:spLocks xmlns:a="http://schemas.openxmlformats.org/drawingml/2006/main" noGrp="1"/>
          </p:cNvSpPr>
          <p:nvPr/>
        </p:nvSpPr>
        <p:spPr>
          <a:xfrm xmlns:a="http://schemas.openxmlformats.org/drawingml/2006/main">
            <a:off x="514350"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B9751552-7899-44DC-BD0F-CAD3519543A7}"/>
              </a:ext>
            </a:extLst>
          </p:cNvPr>
          <p:cNvSpPr>
            <a:spLocks xmlns:a="http://schemas.openxmlformats.org/drawingml/2006/main" noGrp="1"/>
          </p:cNvSpPr>
          <p:nvPr/>
        </p:nvSpPr>
        <p:spPr>
          <a:xfrm xmlns:a="http://schemas.openxmlformats.org/drawingml/2006/main">
            <a:off x="666750" y="23431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Claritate</a:t>
            </a:r>
          </a:p>
        </p:txBody>
      </p:sp>
      <p:sp>
        <p:nvSpPr>
          <p:cNvPr id="8" name="">
            <a:extLst xmlns:a="http://schemas.openxmlformats.org/drawingml/2006/main">
              <a:ext uri="{FF2B5EF4-FFF2-40B4-BE49-F238E27FC236}">
                <a16:creationId xmlns:a16="http://schemas.microsoft.com/office/drawing/2014/main" id="{0304E690-A152-4D4B-96C5-99BE66D65EA6}"/>
              </a:ext>
            </a:extLst>
          </p:cNvPr>
          <p:cNvSpPr>
            <a:spLocks xmlns:a="http://schemas.openxmlformats.org/drawingml/2006/main" noGrp="1"/>
          </p:cNvSpPr>
          <p:nvPr/>
        </p:nvSpPr>
        <p:spPr>
          <a:xfrm xmlns:a="http://schemas.openxmlformats.org/drawingml/2006/main">
            <a:off x="666750"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Calificativul si punctajul final sunt usor de identificat.</a:t>
            </a:r>
          </a:p>
        </p:txBody>
      </p:sp>
      <p:sp>
        <p:nvSpPr>
          <p:cNvPr id="9" name="">
            <a:extLst xmlns:a="http://schemas.openxmlformats.org/drawingml/2006/main">
              <a:ext uri="{FF2B5EF4-FFF2-40B4-BE49-F238E27FC236}">
                <a16:creationId xmlns:a16="http://schemas.microsoft.com/office/drawing/2014/main" id="{E3D89053-68C6-4E13-97D4-2C7359C92751}"/>
              </a:ext>
            </a:extLst>
          </p:cNvPr>
          <p:cNvSpPr>
            <a:spLocks xmlns:a="http://schemas.openxmlformats.org/drawingml/2006/main" noGrp="1"/>
          </p:cNvSpPr>
          <p:nvPr/>
        </p:nvSpPr>
        <p:spPr>
          <a:xfrm xmlns:a="http://schemas.openxmlformats.org/drawingml/2006/main">
            <a:off x="6086475"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00F1470C-C7E4-4AFE-B102-C707E1927867}"/>
              </a:ext>
            </a:extLst>
          </p:cNvPr>
          <p:cNvSpPr>
            <a:spLocks xmlns:a="http://schemas.openxmlformats.org/drawingml/2006/main" noGrp="1"/>
          </p:cNvSpPr>
          <p:nvPr/>
        </p:nvSpPr>
        <p:spPr>
          <a:xfrm xmlns:a="http://schemas.openxmlformats.org/drawingml/2006/main">
            <a:off x="6238875" y="234315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Document</a:t>
            </a:r>
          </a:p>
        </p:txBody>
      </p:sp>
      <p:sp>
        <p:nvSpPr>
          <p:cNvPr id="11" name="">
            <a:extLst xmlns:a="http://schemas.openxmlformats.org/drawingml/2006/main">
              <a:ext uri="{FF2B5EF4-FFF2-40B4-BE49-F238E27FC236}">
                <a16:creationId xmlns:a16="http://schemas.microsoft.com/office/drawing/2014/main" id="{8407B0A3-3889-44B3-A392-85651855DCEA}"/>
              </a:ext>
            </a:extLst>
          </p:cNvPr>
          <p:cNvSpPr>
            <a:spLocks xmlns:a="http://schemas.openxmlformats.org/drawingml/2006/main" noGrp="1"/>
          </p:cNvSpPr>
          <p:nvPr/>
        </p:nvSpPr>
        <p:spPr>
          <a:xfrm xmlns:a="http://schemas.openxmlformats.org/drawingml/2006/main">
            <a:off x="6238875"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Comunicarea poate fi legata de documentul rezultat sau de dosarul personal.</a:t>
            </a:r>
          </a:p>
        </p:txBody>
      </p:sp>
      <p:sp>
        <p:nvSpPr>
          <p:cNvPr id="12" name="">
            <a:extLst xmlns:a="http://schemas.openxmlformats.org/drawingml/2006/main">
              <a:ext uri="{FF2B5EF4-FFF2-40B4-BE49-F238E27FC236}">
                <a16:creationId xmlns:a16="http://schemas.microsoft.com/office/drawing/2014/main" id="{06E2CA66-6379-4129-89B9-E6B58060F165}"/>
              </a:ext>
            </a:extLst>
          </p:cNvPr>
          <p:cNvSpPr>
            <a:spLocks xmlns:a="http://schemas.openxmlformats.org/drawingml/2006/main" noGrp="1"/>
          </p:cNvSpPr>
          <p:nvPr/>
        </p:nvSpPr>
        <p:spPr>
          <a:xfrm xmlns:a="http://schemas.openxmlformats.org/drawingml/2006/main">
            <a:off x="514350" y="401955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09D31B6F-E799-4529-A9A8-22B8708AEE90}"/>
              </a:ext>
            </a:extLst>
          </p:cNvPr>
          <p:cNvSpPr>
            <a:spLocks xmlns:a="http://schemas.openxmlformats.org/drawingml/2006/main" noGrp="1"/>
          </p:cNvSpPr>
          <p:nvPr/>
        </p:nvSpPr>
        <p:spPr>
          <a:xfrm xmlns:a="http://schemas.openxmlformats.org/drawingml/2006/main">
            <a:off x="666750" y="415290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Istoric</a:t>
            </a:r>
          </a:p>
        </p:txBody>
      </p:sp>
      <p:sp>
        <p:nvSpPr>
          <p:cNvPr id="14" name="">
            <a:extLst xmlns:a="http://schemas.openxmlformats.org/drawingml/2006/main">
              <a:ext uri="{FF2B5EF4-FFF2-40B4-BE49-F238E27FC236}">
                <a16:creationId xmlns:a16="http://schemas.microsoft.com/office/drawing/2014/main" id="{217D657A-C196-4FD7-9412-644559A6995C}"/>
              </a:ext>
            </a:extLst>
          </p:cNvPr>
          <p:cNvSpPr>
            <a:spLocks xmlns:a="http://schemas.openxmlformats.org/drawingml/2006/main" noGrp="1"/>
          </p:cNvSpPr>
          <p:nvPr/>
        </p:nvSpPr>
        <p:spPr>
          <a:xfrm xmlns:a="http://schemas.openxmlformats.org/drawingml/2006/main">
            <a:off x="666750" y="451485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Se pastreaza traseul pana la rezolvare, inclusiv atunci cand exista contestatii.</a:t>
            </a:r>
          </a:p>
        </p:txBody>
      </p:sp>
      <p:sp>
        <p:nvSpPr>
          <p:cNvPr id="15" name="">
            <a:extLst xmlns:a="http://schemas.openxmlformats.org/drawingml/2006/main">
              <a:ext uri="{FF2B5EF4-FFF2-40B4-BE49-F238E27FC236}">
                <a16:creationId xmlns:a16="http://schemas.microsoft.com/office/drawing/2014/main" id="{94BD42BD-3514-4C89-B696-6564BBBD49FF}"/>
              </a:ext>
            </a:extLst>
          </p:cNvPr>
          <p:cNvSpPr>
            <a:spLocks xmlns:a="http://schemas.openxmlformats.org/drawingml/2006/main" noGrp="1"/>
          </p:cNvSpPr>
          <p:nvPr/>
        </p:nvSpPr>
        <p:spPr>
          <a:xfrm xmlns:a="http://schemas.openxmlformats.org/drawingml/2006/main">
            <a:off x="514350" y="5676900"/>
            <a:ext cx="1085850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191DAD3A-67AC-457D-B830-2D43A27F408A}"/>
              </a:ext>
            </a:extLst>
          </p:cNvPr>
          <p:cNvSpPr>
            <a:spLocks xmlns:a="http://schemas.openxmlformats.org/drawingml/2006/main" noGrp="1"/>
          </p:cNvSpPr>
          <p:nvPr/>
        </p:nvSpPr>
        <p:spPr>
          <a:xfrm xmlns:a="http://schemas.openxmlformats.org/drawingml/2006/main">
            <a:off x="666750" y="5810250"/>
            <a:ext cx="1055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se foloseste in practica: Din perspectiva utilizatorului, partea importanta este ca rezultatul evaluarii sa poata fi consultat, comunicat si regasit ulterior fara ambiguitati. Claritate: Calificativul si punctajul final sunt usor de identificat. Document: Comunicarea poate fi legata de documentul rezultat sau de dosarul personal. Istoric: Se pastreaza traseul pana la rezolvare, inclusiv atunci cand exista contestatii.</a:t>
            </a:r>
          </a:p>
        </p:txBody>
      </p:sp>
      <p:sp>
        <p:nvSpPr>
          <p:cNvPr id="17" name="">
            <a:extLst xmlns:a="http://schemas.openxmlformats.org/drawingml/2006/main">
              <a:ext uri="{FF2B5EF4-FFF2-40B4-BE49-F238E27FC236}">
                <a16:creationId xmlns:a16="http://schemas.microsoft.com/office/drawing/2014/main" id="{15AD70C4-B315-43D5-BF67-701D02A46D26}"/>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8" name="">
            <a:extLst xmlns:a="http://schemas.openxmlformats.org/drawingml/2006/main">
              <a:ext uri="{FF2B5EF4-FFF2-40B4-BE49-F238E27FC236}">
                <a16:creationId xmlns:a16="http://schemas.microsoft.com/office/drawing/2014/main" id="{7CB188C7-1487-4803-A41B-B73FBD8ADA4F}"/>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Comunicarea rezultatului evaluarii</a:t>
            </a:r>
          </a:p>
        </p:txBody>
      </p:sp>
    </p:spTree>
    <p:extLst>
      <p:ext uri="{BB962C8B-B14F-4D97-AF65-F5344CB8AC3E}">
        <p14:creationId xmlns:p14="http://schemas.microsoft.com/office/powerpoint/2010/main" val="235811470"/>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1806A81-849B-4489-82E5-ACFAA08C4AC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06813803-A200-4A88-AD64-DB16E18B46AC}"/>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Portofoliu managerial</a:t>
            </a:r>
          </a:p>
        </p:txBody>
      </p:sp>
      <p:sp>
        <p:nvSpPr>
          <p:cNvPr id="3" name="">
            <a:extLst xmlns:a="http://schemas.openxmlformats.org/drawingml/2006/main">
              <a:ext uri="{FF2B5EF4-FFF2-40B4-BE49-F238E27FC236}">
                <a16:creationId xmlns:a16="http://schemas.microsoft.com/office/drawing/2014/main" id="{55FE029C-19AF-47A7-B339-AB963991225C}"/>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Portofoliul directorului</a:t>
            </a:r>
          </a:p>
        </p:txBody>
      </p:sp>
      <p:sp>
        <p:nvSpPr>
          <p:cNvPr id="4" name="">
            <a:extLst xmlns:a="http://schemas.openxmlformats.org/drawingml/2006/main">
              <a:ext uri="{FF2B5EF4-FFF2-40B4-BE49-F238E27FC236}">
                <a16:creationId xmlns:a16="http://schemas.microsoft.com/office/drawing/2014/main" id="{196DF4A7-FD3E-403C-BD37-D76B5483354A}"/>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51</a:t>
            </a:r>
          </a:p>
        </p:txBody>
      </p:sp>
      <p:sp>
        <p:nvSpPr>
          <p:cNvPr id="5" name="">
            <a:extLst xmlns:a="http://schemas.openxmlformats.org/drawingml/2006/main">
              <a:ext uri="{FF2B5EF4-FFF2-40B4-BE49-F238E27FC236}">
                <a16:creationId xmlns:a16="http://schemas.microsoft.com/office/drawing/2014/main" id="{A8CE6437-92B7-42B8-A7F0-C45C1B8A59FA}"/>
              </a:ext>
            </a:extLst>
          </p:cNvPr>
          <p:cNvSpPr>
            <a:spLocks xmlns:a="http://schemas.openxmlformats.org/drawingml/2006/main" noGrp="1"/>
          </p:cNvSpPr>
          <p:nvPr/>
        </p:nvSpPr>
        <p:spPr>
          <a:xfrm xmlns:a="http://schemas.openxmlformats.org/drawingml/2006/main">
            <a:off x="514350" y="1181100"/>
            <a:ext cx="10858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314158"/>
                </a:solidFill>
              </a:defRPr>
            </a:pPr>
            <a:r>
              <a:rPr sz="1275">
                <a:solidFill>
                  <a:srgbClr val="314158"/>
                </a:solidFill>
              </a:rPr>
              <a:t>Portofoliul directorului este prezentat ca un dosar managerial distinct, cu documente, etape si publicare proprii. Utilizatorul nu il confunda cu dosarul personal sau cu registratura obisnuita.</a:t>
            </a:r>
          </a:p>
        </p:txBody>
      </p:sp>
      <p:sp>
        <p:nvSpPr>
          <p:cNvPr id="6" name="">
            <a:extLst xmlns:a="http://schemas.openxmlformats.org/drawingml/2006/main">
              <a:ext uri="{FF2B5EF4-FFF2-40B4-BE49-F238E27FC236}">
                <a16:creationId xmlns:a16="http://schemas.microsoft.com/office/drawing/2014/main" id="{BFE4D671-40E3-42BD-9013-B6ACB6BD5365}"/>
              </a:ext>
            </a:extLst>
          </p:cNvPr>
          <p:cNvSpPr>
            <a:spLocks xmlns:a="http://schemas.openxmlformats.org/drawingml/2006/main" noGrp="1"/>
          </p:cNvSpPr>
          <p:nvPr/>
        </p:nvSpPr>
        <p:spPr>
          <a:xfrm xmlns:a="http://schemas.openxmlformats.org/drawingml/2006/main">
            <a:off x="514350"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3C7FD9E8-EE11-42BD-BD59-953429166033}"/>
              </a:ext>
            </a:extLst>
          </p:cNvPr>
          <p:cNvSpPr>
            <a:spLocks xmlns:a="http://schemas.openxmlformats.org/drawingml/2006/main" noGrp="1"/>
          </p:cNvSpPr>
          <p:nvPr/>
        </p:nvSpPr>
        <p:spPr>
          <a:xfrm xmlns:a="http://schemas.openxmlformats.org/drawingml/2006/main">
            <a:off x="666750" y="23431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Documente</a:t>
            </a:r>
          </a:p>
        </p:txBody>
      </p:sp>
      <p:sp>
        <p:nvSpPr>
          <p:cNvPr id="8" name="">
            <a:extLst xmlns:a="http://schemas.openxmlformats.org/drawingml/2006/main">
              <a:ext uri="{FF2B5EF4-FFF2-40B4-BE49-F238E27FC236}">
                <a16:creationId xmlns:a16="http://schemas.microsoft.com/office/drawing/2014/main" id="{AD9E253B-50AD-4B09-BAAA-665B20FF8A8F}"/>
              </a:ext>
            </a:extLst>
          </p:cNvPr>
          <p:cNvSpPr>
            <a:spLocks xmlns:a="http://schemas.openxmlformats.org/drawingml/2006/main" noGrp="1"/>
          </p:cNvSpPr>
          <p:nvPr/>
        </p:nvSpPr>
        <p:spPr>
          <a:xfrm xmlns:a="http://schemas.openxmlformats.org/drawingml/2006/main">
            <a:off x="666750"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Sunt grupate materialele manageriale relevante pentru activitatea directorului.</a:t>
            </a:r>
          </a:p>
        </p:txBody>
      </p:sp>
      <p:sp>
        <p:nvSpPr>
          <p:cNvPr id="9" name="">
            <a:extLst xmlns:a="http://schemas.openxmlformats.org/drawingml/2006/main">
              <a:ext uri="{FF2B5EF4-FFF2-40B4-BE49-F238E27FC236}">
                <a16:creationId xmlns:a16="http://schemas.microsoft.com/office/drawing/2014/main" id="{7F73A434-DBB6-4210-9DE9-1384CF50DBCB}"/>
              </a:ext>
            </a:extLst>
          </p:cNvPr>
          <p:cNvSpPr>
            <a:spLocks xmlns:a="http://schemas.openxmlformats.org/drawingml/2006/main" noGrp="1"/>
          </p:cNvSpPr>
          <p:nvPr/>
        </p:nvSpPr>
        <p:spPr>
          <a:xfrm xmlns:a="http://schemas.openxmlformats.org/drawingml/2006/main">
            <a:off x="6086475"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30F2245F-556E-4563-81A0-EE6CD2A41CD2}"/>
              </a:ext>
            </a:extLst>
          </p:cNvPr>
          <p:cNvSpPr>
            <a:spLocks xmlns:a="http://schemas.openxmlformats.org/drawingml/2006/main" noGrp="1"/>
          </p:cNvSpPr>
          <p:nvPr/>
        </p:nvSpPr>
        <p:spPr>
          <a:xfrm xmlns:a="http://schemas.openxmlformats.org/drawingml/2006/main">
            <a:off x="6238875" y="234315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Flux</a:t>
            </a:r>
          </a:p>
        </p:txBody>
      </p:sp>
      <p:sp>
        <p:nvSpPr>
          <p:cNvPr id="11" name="">
            <a:extLst xmlns:a="http://schemas.openxmlformats.org/drawingml/2006/main">
              <a:ext uri="{FF2B5EF4-FFF2-40B4-BE49-F238E27FC236}">
                <a16:creationId xmlns:a16="http://schemas.microsoft.com/office/drawing/2014/main" id="{01B796FF-DC6D-4B11-A9EF-B59725F620A1}"/>
              </a:ext>
            </a:extLst>
          </p:cNvPr>
          <p:cNvSpPr>
            <a:spLocks xmlns:a="http://schemas.openxmlformats.org/drawingml/2006/main" noGrp="1"/>
          </p:cNvSpPr>
          <p:nvPr/>
        </p:nvSpPr>
        <p:spPr>
          <a:xfrm xmlns:a="http://schemas.openxmlformats.org/drawingml/2006/main">
            <a:off x="6238875"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Exista traseu de elaborare, avizare, aprobare si publicare.</a:t>
            </a:r>
          </a:p>
        </p:txBody>
      </p:sp>
      <p:sp>
        <p:nvSpPr>
          <p:cNvPr id="12" name="">
            <a:extLst xmlns:a="http://schemas.openxmlformats.org/drawingml/2006/main">
              <a:ext uri="{FF2B5EF4-FFF2-40B4-BE49-F238E27FC236}">
                <a16:creationId xmlns:a16="http://schemas.microsoft.com/office/drawing/2014/main" id="{0C0102AA-EFDC-404C-954A-C68F24639428}"/>
              </a:ext>
            </a:extLst>
          </p:cNvPr>
          <p:cNvSpPr>
            <a:spLocks xmlns:a="http://schemas.openxmlformats.org/drawingml/2006/main" noGrp="1"/>
          </p:cNvSpPr>
          <p:nvPr/>
        </p:nvSpPr>
        <p:spPr>
          <a:xfrm xmlns:a="http://schemas.openxmlformats.org/drawingml/2006/main">
            <a:off x="514350" y="401955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0A0F89F3-4142-466C-8CBF-123DF16D7EA9}"/>
              </a:ext>
            </a:extLst>
          </p:cNvPr>
          <p:cNvSpPr>
            <a:spLocks xmlns:a="http://schemas.openxmlformats.org/drawingml/2006/main" noGrp="1"/>
          </p:cNvSpPr>
          <p:nvPr/>
        </p:nvSpPr>
        <p:spPr>
          <a:xfrm xmlns:a="http://schemas.openxmlformats.org/drawingml/2006/main">
            <a:off x="666750" y="415290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Control</a:t>
            </a:r>
          </a:p>
        </p:txBody>
      </p:sp>
      <p:sp>
        <p:nvSpPr>
          <p:cNvPr id="14" name="">
            <a:extLst xmlns:a="http://schemas.openxmlformats.org/drawingml/2006/main">
              <a:ext uri="{FF2B5EF4-FFF2-40B4-BE49-F238E27FC236}">
                <a16:creationId xmlns:a16="http://schemas.microsoft.com/office/drawing/2014/main" id="{4103E324-E40B-40B7-8A15-26EDE69169E9}"/>
              </a:ext>
            </a:extLst>
          </p:cNvPr>
          <p:cNvSpPr>
            <a:spLocks xmlns:a="http://schemas.openxmlformats.org/drawingml/2006/main" noGrp="1"/>
          </p:cNvSpPr>
          <p:nvPr/>
        </p:nvSpPr>
        <p:spPr>
          <a:xfrm xmlns:a="http://schemas.openxmlformats.org/drawingml/2006/main">
            <a:off x="666750" y="451485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Conducerea si secretariatul pot verifica usor starea dosarului.</a:t>
            </a:r>
          </a:p>
        </p:txBody>
      </p:sp>
      <p:sp>
        <p:nvSpPr>
          <p:cNvPr id="15" name="">
            <a:extLst xmlns:a="http://schemas.openxmlformats.org/drawingml/2006/main">
              <a:ext uri="{FF2B5EF4-FFF2-40B4-BE49-F238E27FC236}">
                <a16:creationId xmlns:a16="http://schemas.microsoft.com/office/drawing/2014/main" id="{04AF92E1-3CAE-42B0-9032-9C0655C8A6BE}"/>
              </a:ext>
            </a:extLst>
          </p:cNvPr>
          <p:cNvSpPr>
            <a:spLocks xmlns:a="http://schemas.openxmlformats.org/drawingml/2006/main" noGrp="1"/>
          </p:cNvSpPr>
          <p:nvPr/>
        </p:nvSpPr>
        <p:spPr>
          <a:xfrm xmlns:a="http://schemas.openxmlformats.org/drawingml/2006/main">
            <a:off x="514350" y="5676900"/>
            <a:ext cx="1085850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815A407B-4B80-4008-861B-FAC9FB14299D}"/>
              </a:ext>
            </a:extLst>
          </p:cNvPr>
          <p:cNvSpPr>
            <a:spLocks xmlns:a="http://schemas.openxmlformats.org/drawingml/2006/main" noGrp="1"/>
          </p:cNvSpPr>
          <p:nvPr/>
        </p:nvSpPr>
        <p:spPr>
          <a:xfrm xmlns:a="http://schemas.openxmlformats.org/drawingml/2006/main">
            <a:off x="666750" y="5810250"/>
            <a:ext cx="1055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se foloseste in practica: Portofoliul directorului este prezentat ca un dosar managerial distinct, cu documente, etape si publicare proprii. Utilizatorul nu il confunda cu dosarul personal sau cu registratura obisnuita. Documente: Sunt grupate materialele manageriale relevante pentru activitatea directorului. Flux: Exista traseu de elaborare, avizare, aprobare si publicare. Control: Conducerea si secretariatul pot verifica usor starea dosarului.</a:t>
            </a:r>
          </a:p>
        </p:txBody>
      </p:sp>
      <p:sp>
        <p:nvSpPr>
          <p:cNvPr id="17" name="">
            <a:extLst xmlns:a="http://schemas.openxmlformats.org/drawingml/2006/main">
              <a:ext uri="{FF2B5EF4-FFF2-40B4-BE49-F238E27FC236}">
                <a16:creationId xmlns:a16="http://schemas.microsoft.com/office/drawing/2014/main" id="{D3289965-5E7B-49A1-B1E3-9CD28877D7B2}"/>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8" name="">
            <a:extLst xmlns:a="http://schemas.openxmlformats.org/drawingml/2006/main">
              <a:ext uri="{FF2B5EF4-FFF2-40B4-BE49-F238E27FC236}">
                <a16:creationId xmlns:a16="http://schemas.microsoft.com/office/drawing/2014/main" id="{CE9EAF51-3FA7-4464-8668-F968DF398347}"/>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Portofoliul directorului</a:t>
            </a:r>
          </a:p>
        </p:txBody>
      </p:sp>
    </p:spTree>
    <p:extLst>
      <p:ext uri="{BB962C8B-B14F-4D97-AF65-F5344CB8AC3E}">
        <p14:creationId xmlns:p14="http://schemas.microsoft.com/office/powerpoint/2010/main" val="1778622505"/>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21D6098-8CE1-4909-B53B-06282AAC25F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5B3A75C4-B1E4-40E9-9B41-5D4BE8D1D281}"/>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Portofoliu managerial</a:t>
            </a:r>
          </a:p>
        </p:txBody>
      </p:sp>
      <p:sp>
        <p:nvSpPr>
          <p:cNvPr id="3" name="">
            <a:extLst xmlns:a="http://schemas.openxmlformats.org/drawingml/2006/main">
              <a:ext uri="{FF2B5EF4-FFF2-40B4-BE49-F238E27FC236}">
                <a16:creationId xmlns:a16="http://schemas.microsoft.com/office/drawing/2014/main" id="{DEAC5DD6-AEA4-4670-96AA-FE3D90870E3D}"/>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Portofoliul directorului adjunct</a:t>
            </a:r>
          </a:p>
        </p:txBody>
      </p:sp>
      <p:sp>
        <p:nvSpPr>
          <p:cNvPr id="4" name="">
            <a:extLst xmlns:a="http://schemas.openxmlformats.org/drawingml/2006/main">
              <a:ext uri="{FF2B5EF4-FFF2-40B4-BE49-F238E27FC236}">
                <a16:creationId xmlns:a16="http://schemas.microsoft.com/office/drawing/2014/main" id="{7187EB70-7DAE-461E-B3AC-0399F40E1FFE}"/>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52</a:t>
            </a:r>
          </a:p>
        </p:txBody>
      </p:sp>
      <p:sp>
        <p:nvSpPr>
          <p:cNvPr id="5" name="">
            <a:extLst xmlns:a="http://schemas.openxmlformats.org/drawingml/2006/main">
              <a:ext uri="{FF2B5EF4-FFF2-40B4-BE49-F238E27FC236}">
                <a16:creationId xmlns:a16="http://schemas.microsoft.com/office/drawing/2014/main" id="{B9788EB8-0784-4F02-89A5-CF98CA69DF40}"/>
              </a:ext>
            </a:extLst>
          </p:cNvPr>
          <p:cNvSpPr>
            <a:spLocks xmlns:a="http://schemas.openxmlformats.org/drawingml/2006/main" noGrp="1"/>
          </p:cNvSpPr>
          <p:nvPr/>
        </p:nvSpPr>
        <p:spPr>
          <a:xfrm xmlns:a="http://schemas.openxmlformats.org/drawingml/2006/main">
            <a:off x="514350" y="1181100"/>
            <a:ext cx="10858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314158"/>
                </a:solidFill>
              </a:defRPr>
            </a:pPr>
            <a:r>
              <a:rPr sz="1275">
                <a:solidFill>
                  <a:srgbClr val="314158"/>
                </a:solidFill>
              </a:rPr>
              <a:t>Directorul adjunct beneficiaza de acelasi mod ordonat de lucru, cu propriul dosar managerial si cu propria evidenta a documentelor importante.</a:t>
            </a:r>
          </a:p>
        </p:txBody>
      </p:sp>
      <p:sp>
        <p:nvSpPr>
          <p:cNvPr id="6" name="">
            <a:extLst xmlns:a="http://schemas.openxmlformats.org/drawingml/2006/main">
              <a:ext uri="{FF2B5EF4-FFF2-40B4-BE49-F238E27FC236}">
                <a16:creationId xmlns:a16="http://schemas.microsoft.com/office/drawing/2014/main" id="{052A263C-2F1F-4A7F-82A9-C40A479DF2FB}"/>
              </a:ext>
            </a:extLst>
          </p:cNvPr>
          <p:cNvSpPr>
            <a:spLocks xmlns:a="http://schemas.openxmlformats.org/drawingml/2006/main" noGrp="1"/>
          </p:cNvSpPr>
          <p:nvPr/>
        </p:nvSpPr>
        <p:spPr>
          <a:xfrm xmlns:a="http://schemas.openxmlformats.org/drawingml/2006/main">
            <a:off x="514350"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3409382D-FCBB-4416-B64A-F9D50B1BE47F}"/>
              </a:ext>
            </a:extLst>
          </p:cNvPr>
          <p:cNvSpPr>
            <a:spLocks xmlns:a="http://schemas.openxmlformats.org/drawingml/2006/main" noGrp="1"/>
          </p:cNvSpPr>
          <p:nvPr/>
        </p:nvSpPr>
        <p:spPr>
          <a:xfrm xmlns:a="http://schemas.openxmlformats.org/drawingml/2006/main">
            <a:off x="666750" y="23431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Separare clara</a:t>
            </a:r>
          </a:p>
        </p:txBody>
      </p:sp>
      <p:sp>
        <p:nvSpPr>
          <p:cNvPr id="8" name="">
            <a:extLst xmlns:a="http://schemas.openxmlformats.org/drawingml/2006/main">
              <a:ext uri="{FF2B5EF4-FFF2-40B4-BE49-F238E27FC236}">
                <a16:creationId xmlns:a16="http://schemas.microsoft.com/office/drawing/2014/main" id="{10BBE0D1-729E-453C-A4F0-C36B57933087}"/>
              </a:ext>
            </a:extLst>
          </p:cNvPr>
          <p:cNvSpPr>
            <a:spLocks xmlns:a="http://schemas.openxmlformats.org/drawingml/2006/main" noGrp="1"/>
          </p:cNvSpPr>
          <p:nvPr/>
        </p:nvSpPr>
        <p:spPr>
          <a:xfrm xmlns:a="http://schemas.openxmlformats.org/drawingml/2006/main">
            <a:off x="666750"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Portofoliul adjunctului ramane distinct de cel al directorului.</a:t>
            </a:r>
          </a:p>
        </p:txBody>
      </p:sp>
      <p:sp>
        <p:nvSpPr>
          <p:cNvPr id="9" name="">
            <a:extLst xmlns:a="http://schemas.openxmlformats.org/drawingml/2006/main">
              <a:ext uri="{FF2B5EF4-FFF2-40B4-BE49-F238E27FC236}">
                <a16:creationId xmlns:a16="http://schemas.microsoft.com/office/drawing/2014/main" id="{C53FEC4E-4673-4996-84C3-022251B156F9}"/>
              </a:ext>
            </a:extLst>
          </p:cNvPr>
          <p:cNvSpPr>
            <a:spLocks xmlns:a="http://schemas.openxmlformats.org/drawingml/2006/main" noGrp="1"/>
          </p:cNvSpPr>
          <p:nvPr/>
        </p:nvSpPr>
        <p:spPr>
          <a:xfrm xmlns:a="http://schemas.openxmlformats.org/drawingml/2006/main">
            <a:off x="6086475"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D227B7E7-2EEE-47FC-8341-FC138BE44B38}"/>
              </a:ext>
            </a:extLst>
          </p:cNvPr>
          <p:cNvSpPr>
            <a:spLocks xmlns:a="http://schemas.openxmlformats.org/drawingml/2006/main" noGrp="1"/>
          </p:cNvSpPr>
          <p:nvPr/>
        </p:nvSpPr>
        <p:spPr>
          <a:xfrm xmlns:a="http://schemas.openxmlformats.org/drawingml/2006/main">
            <a:off x="6238875" y="234315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Traseu identic</a:t>
            </a:r>
          </a:p>
        </p:txBody>
      </p:sp>
      <p:sp>
        <p:nvSpPr>
          <p:cNvPr id="11" name="">
            <a:extLst xmlns:a="http://schemas.openxmlformats.org/drawingml/2006/main">
              <a:ext uri="{FF2B5EF4-FFF2-40B4-BE49-F238E27FC236}">
                <a16:creationId xmlns:a16="http://schemas.microsoft.com/office/drawing/2014/main" id="{9F8D20BE-C3F2-4203-A9B0-60BCED66510E}"/>
              </a:ext>
            </a:extLst>
          </p:cNvPr>
          <p:cNvSpPr>
            <a:spLocks xmlns:a="http://schemas.openxmlformats.org/drawingml/2006/main" noGrp="1"/>
          </p:cNvSpPr>
          <p:nvPr/>
        </p:nvSpPr>
        <p:spPr>
          <a:xfrm xmlns:a="http://schemas.openxmlformats.org/drawingml/2006/main">
            <a:off x="6238875"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Se urmareste acelasi ciclu de elaborare, avizare si publicare.</a:t>
            </a:r>
          </a:p>
        </p:txBody>
      </p:sp>
      <p:sp>
        <p:nvSpPr>
          <p:cNvPr id="12" name="">
            <a:extLst xmlns:a="http://schemas.openxmlformats.org/drawingml/2006/main">
              <a:ext uri="{FF2B5EF4-FFF2-40B4-BE49-F238E27FC236}">
                <a16:creationId xmlns:a16="http://schemas.microsoft.com/office/drawing/2014/main" id="{8CB03F8B-C871-4233-A3AE-E1F704A0392D}"/>
              </a:ext>
            </a:extLst>
          </p:cNvPr>
          <p:cNvSpPr>
            <a:spLocks xmlns:a="http://schemas.openxmlformats.org/drawingml/2006/main" noGrp="1"/>
          </p:cNvSpPr>
          <p:nvPr/>
        </p:nvSpPr>
        <p:spPr>
          <a:xfrm xmlns:a="http://schemas.openxmlformats.org/drawingml/2006/main">
            <a:off x="514350" y="401955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42E61E23-A6B4-416B-8804-A256E882A280}"/>
              </a:ext>
            </a:extLst>
          </p:cNvPr>
          <p:cNvSpPr>
            <a:spLocks xmlns:a="http://schemas.openxmlformats.org/drawingml/2006/main" noGrp="1"/>
          </p:cNvSpPr>
          <p:nvPr/>
        </p:nvSpPr>
        <p:spPr>
          <a:xfrm xmlns:a="http://schemas.openxmlformats.org/drawingml/2006/main">
            <a:off x="666750" y="415290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Consultare rapida</a:t>
            </a:r>
          </a:p>
        </p:txBody>
      </p:sp>
      <p:sp>
        <p:nvSpPr>
          <p:cNvPr id="14" name="">
            <a:extLst xmlns:a="http://schemas.openxmlformats.org/drawingml/2006/main">
              <a:ext uri="{FF2B5EF4-FFF2-40B4-BE49-F238E27FC236}">
                <a16:creationId xmlns:a16="http://schemas.microsoft.com/office/drawing/2014/main" id="{FE83EE97-FB71-444B-868D-468197441F35}"/>
              </a:ext>
            </a:extLst>
          </p:cNvPr>
          <p:cNvSpPr>
            <a:spLocks xmlns:a="http://schemas.openxmlformats.org/drawingml/2006/main" noGrp="1"/>
          </p:cNvSpPr>
          <p:nvPr/>
        </p:nvSpPr>
        <p:spPr>
          <a:xfrm xmlns:a="http://schemas.openxmlformats.org/drawingml/2006/main">
            <a:off x="666750" y="451485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Documentele si stadiul lor pot fi regasite usor de catre utilizatorii autorizati.</a:t>
            </a:r>
          </a:p>
        </p:txBody>
      </p:sp>
      <p:sp>
        <p:nvSpPr>
          <p:cNvPr id="15" name="">
            <a:extLst xmlns:a="http://schemas.openxmlformats.org/drawingml/2006/main">
              <a:ext uri="{FF2B5EF4-FFF2-40B4-BE49-F238E27FC236}">
                <a16:creationId xmlns:a16="http://schemas.microsoft.com/office/drawing/2014/main" id="{F431BB83-509C-41A2-8C98-CDF3382D27BB}"/>
              </a:ext>
            </a:extLst>
          </p:cNvPr>
          <p:cNvSpPr>
            <a:spLocks xmlns:a="http://schemas.openxmlformats.org/drawingml/2006/main" noGrp="1"/>
          </p:cNvSpPr>
          <p:nvPr/>
        </p:nvSpPr>
        <p:spPr>
          <a:xfrm xmlns:a="http://schemas.openxmlformats.org/drawingml/2006/main">
            <a:off x="514350" y="5676900"/>
            <a:ext cx="1085850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6CA73951-E1AD-4404-A787-8BB57A368E67}"/>
              </a:ext>
            </a:extLst>
          </p:cNvPr>
          <p:cNvSpPr>
            <a:spLocks xmlns:a="http://schemas.openxmlformats.org/drawingml/2006/main" noGrp="1"/>
          </p:cNvSpPr>
          <p:nvPr/>
        </p:nvSpPr>
        <p:spPr>
          <a:xfrm xmlns:a="http://schemas.openxmlformats.org/drawingml/2006/main">
            <a:off x="666750" y="5810250"/>
            <a:ext cx="1055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se foloseste in practica: Directorul adjunct beneficiaza de acelasi mod ordonat de lucru, cu propriul dosar managerial si cu propria evidenta a documentelor importante. Separare clara: Portofoliul adjunctului ramane distinct de cel al directorului. Traseu identic: Se urmareste acelasi ciclu de elaborare, avizare si publicare. Consultare rapida: Documentele si stadiul lor pot fi regasite usor de catre utilizatorii autorizati.</a:t>
            </a:r>
          </a:p>
        </p:txBody>
      </p:sp>
      <p:sp>
        <p:nvSpPr>
          <p:cNvPr id="17" name="">
            <a:extLst xmlns:a="http://schemas.openxmlformats.org/drawingml/2006/main">
              <a:ext uri="{FF2B5EF4-FFF2-40B4-BE49-F238E27FC236}">
                <a16:creationId xmlns:a16="http://schemas.microsoft.com/office/drawing/2014/main" id="{98C071A1-73D5-41EF-A7AE-891DEB9EED40}"/>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8" name="">
            <a:extLst xmlns:a="http://schemas.openxmlformats.org/drawingml/2006/main">
              <a:ext uri="{FF2B5EF4-FFF2-40B4-BE49-F238E27FC236}">
                <a16:creationId xmlns:a16="http://schemas.microsoft.com/office/drawing/2014/main" id="{35348A5F-C858-4E56-B611-8F4225196CBB}"/>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Portofoliul directorului adjunct</a:t>
            </a:r>
          </a:p>
        </p:txBody>
      </p:sp>
    </p:spTree>
    <p:extLst>
      <p:ext uri="{BB962C8B-B14F-4D97-AF65-F5344CB8AC3E}">
        <p14:creationId xmlns:p14="http://schemas.microsoft.com/office/powerpoint/2010/main" val="1486703736"/>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34CDA04-24BD-4034-9A69-6BC29591843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D2CCDC7B-FACB-4E3F-8D02-E5E3BBCEA3F6}"/>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Export si evidenta</a:t>
            </a:r>
          </a:p>
        </p:txBody>
      </p:sp>
      <p:sp>
        <p:nvSpPr>
          <p:cNvPr id="3" name="">
            <a:extLst xmlns:a="http://schemas.openxmlformats.org/drawingml/2006/main">
              <a:ext uri="{FF2B5EF4-FFF2-40B4-BE49-F238E27FC236}">
                <a16:creationId xmlns:a16="http://schemas.microsoft.com/office/drawing/2014/main" id="{2A1D80C0-D210-44F0-B0CC-DDF35D9838F4}"/>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Documente-model si PDF-uri oficiale</a:t>
            </a:r>
          </a:p>
        </p:txBody>
      </p:sp>
      <p:sp>
        <p:nvSpPr>
          <p:cNvPr id="4" name="">
            <a:extLst xmlns:a="http://schemas.openxmlformats.org/drawingml/2006/main">
              <a:ext uri="{FF2B5EF4-FFF2-40B4-BE49-F238E27FC236}">
                <a16:creationId xmlns:a16="http://schemas.microsoft.com/office/drawing/2014/main" id="{408E2181-E8A5-45B8-B077-254C9F706BCD}"/>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53</a:t>
            </a:r>
          </a:p>
        </p:txBody>
      </p:sp>
      <p:sp>
        <p:nvSpPr>
          <p:cNvPr id="5" name="">
            <a:extLst xmlns:a="http://schemas.openxmlformats.org/drawingml/2006/main">
              <a:ext uri="{FF2B5EF4-FFF2-40B4-BE49-F238E27FC236}">
                <a16:creationId xmlns:a16="http://schemas.microsoft.com/office/drawing/2014/main" id="{ABB1113A-0394-439C-8487-21DAA66846CE}"/>
              </a:ext>
            </a:extLst>
          </p:cNvPr>
          <p:cNvSpPr>
            <a:spLocks xmlns:a="http://schemas.openxmlformats.org/drawingml/2006/main" noGrp="1"/>
          </p:cNvSpPr>
          <p:nvPr/>
        </p:nvSpPr>
        <p:spPr>
          <a:xfrm xmlns:a="http://schemas.openxmlformats.org/drawingml/2006/main">
            <a:off x="514350" y="1181100"/>
            <a:ext cx="10858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314158"/>
                </a:solidFill>
              </a:defRPr>
            </a:pPr>
            <a:r>
              <a:rPr sz="1275">
                <a:solidFill>
                  <a:srgbClr val="314158"/>
                </a:solidFill>
              </a:rPr>
              <a:t>Multe fluxuri din aplicatie se pot transforma in documente usor de tiparit, arhivat sau trimis mai departe. Pentru utilizator, important este ca aceste iesiri sa fie consecvente si usor de obtinut.</a:t>
            </a:r>
          </a:p>
        </p:txBody>
      </p:sp>
      <p:sp>
        <p:nvSpPr>
          <p:cNvPr id="6" name="">
            <a:extLst xmlns:a="http://schemas.openxmlformats.org/drawingml/2006/main">
              <a:ext uri="{FF2B5EF4-FFF2-40B4-BE49-F238E27FC236}">
                <a16:creationId xmlns:a16="http://schemas.microsoft.com/office/drawing/2014/main" id="{2B32F9AA-C614-48A2-96E9-2D83795A356A}"/>
              </a:ext>
            </a:extLst>
          </p:cNvPr>
          <p:cNvSpPr>
            <a:spLocks xmlns:a="http://schemas.openxmlformats.org/drawingml/2006/main" noGrp="1"/>
          </p:cNvSpPr>
          <p:nvPr/>
        </p:nvSpPr>
        <p:spPr>
          <a:xfrm xmlns:a="http://schemas.openxmlformats.org/drawingml/2006/main">
            <a:off x="514350"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DF04C7AF-26EC-442D-A0AF-9EC99EC4AAA1}"/>
              </a:ext>
            </a:extLst>
          </p:cNvPr>
          <p:cNvSpPr>
            <a:spLocks xmlns:a="http://schemas.openxmlformats.org/drawingml/2006/main" noGrp="1"/>
          </p:cNvSpPr>
          <p:nvPr/>
        </p:nvSpPr>
        <p:spPr>
          <a:xfrm xmlns:a="http://schemas.openxmlformats.org/drawingml/2006/main">
            <a:off x="666750" y="23431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PDF-uri</a:t>
            </a:r>
          </a:p>
        </p:txBody>
      </p:sp>
      <p:sp>
        <p:nvSpPr>
          <p:cNvPr id="8" name="">
            <a:extLst xmlns:a="http://schemas.openxmlformats.org/drawingml/2006/main">
              <a:ext uri="{FF2B5EF4-FFF2-40B4-BE49-F238E27FC236}">
                <a16:creationId xmlns:a16="http://schemas.microsoft.com/office/drawing/2014/main" id="{6704C6AD-E655-4B33-AA9F-B5CA02E8FA2C}"/>
              </a:ext>
            </a:extLst>
          </p:cNvPr>
          <p:cNvSpPr>
            <a:spLocks xmlns:a="http://schemas.openxmlformats.org/drawingml/2006/main" noGrp="1"/>
          </p:cNvSpPr>
          <p:nvPr/>
        </p:nvSpPr>
        <p:spPr>
          <a:xfrm xmlns:a="http://schemas.openxmlformats.org/drawingml/2006/main">
            <a:off x="666750"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Portofolii, evaluari, mobilitate, gradatii sau rapoarte pot genera iesiri gata de utilizare.</a:t>
            </a:r>
          </a:p>
        </p:txBody>
      </p:sp>
      <p:sp>
        <p:nvSpPr>
          <p:cNvPr id="9" name="">
            <a:extLst xmlns:a="http://schemas.openxmlformats.org/drawingml/2006/main">
              <a:ext uri="{FF2B5EF4-FFF2-40B4-BE49-F238E27FC236}">
                <a16:creationId xmlns:a16="http://schemas.microsoft.com/office/drawing/2014/main" id="{84817B60-B28A-41BE-8A0B-3D1A5C3CD1F3}"/>
              </a:ext>
            </a:extLst>
          </p:cNvPr>
          <p:cNvSpPr>
            <a:spLocks xmlns:a="http://schemas.openxmlformats.org/drawingml/2006/main" noGrp="1"/>
          </p:cNvSpPr>
          <p:nvPr/>
        </p:nvSpPr>
        <p:spPr>
          <a:xfrm xmlns:a="http://schemas.openxmlformats.org/drawingml/2006/main">
            <a:off x="6086475"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1F37B5C3-B6C4-443C-A209-51A746E6A3DA}"/>
              </a:ext>
            </a:extLst>
          </p:cNvPr>
          <p:cNvSpPr>
            <a:spLocks xmlns:a="http://schemas.openxmlformats.org/drawingml/2006/main" noGrp="1"/>
          </p:cNvSpPr>
          <p:nvPr/>
        </p:nvSpPr>
        <p:spPr>
          <a:xfrm xmlns:a="http://schemas.openxmlformats.org/drawingml/2006/main">
            <a:off x="6238875" y="234315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Documente-model</a:t>
            </a:r>
          </a:p>
        </p:txBody>
      </p:sp>
      <p:sp>
        <p:nvSpPr>
          <p:cNvPr id="11" name="">
            <a:extLst xmlns:a="http://schemas.openxmlformats.org/drawingml/2006/main">
              <a:ext uri="{FF2B5EF4-FFF2-40B4-BE49-F238E27FC236}">
                <a16:creationId xmlns:a16="http://schemas.microsoft.com/office/drawing/2014/main" id="{65E3B868-8D74-4B36-A1EA-DF8DDE643C97}"/>
              </a:ext>
            </a:extLst>
          </p:cNvPr>
          <p:cNvSpPr>
            <a:spLocks xmlns:a="http://schemas.openxmlformats.org/drawingml/2006/main" noGrp="1"/>
          </p:cNvSpPr>
          <p:nvPr/>
        </p:nvSpPr>
        <p:spPr>
          <a:xfrm xmlns:a="http://schemas.openxmlformats.org/drawingml/2006/main">
            <a:off x="6238875"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Sedintele, hotararile si alte acte institutionale pornesc din aceeasi structura de lucru.</a:t>
            </a:r>
          </a:p>
        </p:txBody>
      </p:sp>
      <p:sp>
        <p:nvSpPr>
          <p:cNvPr id="12" name="">
            <a:extLst xmlns:a="http://schemas.openxmlformats.org/drawingml/2006/main">
              <a:ext uri="{FF2B5EF4-FFF2-40B4-BE49-F238E27FC236}">
                <a16:creationId xmlns:a16="http://schemas.microsoft.com/office/drawing/2014/main" id="{E1443794-17CE-4BAD-B494-84161264CE4E}"/>
              </a:ext>
            </a:extLst>
          </p:cNvPr>
          <p:cNvSpPr>
            <a:spLocks xmlns:a="http://schemas.openxmlformats.org/drawingml/2006/main" noGrp="1"/>
          </p:cNvSpPr>
          <p:nvPr/>
        </p:nvSpPr>
        <p:spPr>
          <a:xfrm xmlns:a="http://schemas.openxmlformats.org/drawingml/2006/main">
            <a:off x="514350" y="401955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74BCBC97-F65D-4D72-B41F-A37F1EF9038E}"/>
              </a:ext>
            </a:extLst>
          </p:cNvPr>
          <p:cNvSpPr>
            <a:spLocks xmlns:a="http://schemas.openxmlformats.org/drawingml/2006/main" noGrp="1"/>
          </p:cNvSpPr>
          <p:nvPr/>
        </p:nvSpPr>
        <p:spPr>
          <a:xfrm xmlns:a="http://schemas.openxmlformats.org/drawingml/2006/main">
            <a:off x="666750" y="415290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Trasabilitate</a:t>
            </a:r>
          </a:p>
        </p:txBody>
      </p:sp>
      <p:sp>
        <p:nvSpPr>
          <p:cNvPr id="14" name="">
            <a:extLst xmlns:a="http://schemas.openxmlformats.org/drawingml/2006/main">
              <a:ext uri="{FF2B5EF4-FFF2-40B4-BE49-F238E27FC236}">
                <a16:creationId xmlns:a16="http://schemas.microsoft.com/office/drawing/2014/main" id="{38D800E9-9A79-4D9B-B23E-2D96C55885A3}"/>
              </a:ext>
            </a:extLst>
          </p:cNvPr>
          <p:cNvSpPr>
            <a:spLocks xmlns:a="http://schemas.openxmlformats.org/drawingml/2006/main" noGrp="1"/>
          </p:cNvSpPr>
          <p:nvPr/>
        </p:nvSpPr>
        <p:spPr>
          <a:xfrm xmlns:a="http://schemas.openxmlformats.org/drawingml/2006/main">
            <a:off x="666750" y="451485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Documentele raman legate de inregistrarea sursa, ceea ce usureaza controlul si verificarea.</a:t>
            </a:r>
          </a:p>
        </p:txBody>
      </p:sp>
      <p:sp>
        <p:nvSpPr>
          <p:cNvPr id="15" name="">
            <a:extLst xmlns:a="http://schemas.openxmlformats.org/drawingml/2006/main">
              <a:ext uri="{FF2B5EF4-FFF2-40B4-BE49-F238E27FC236}">
                <a16:creationId xmlns:a16="http://schemas.microsoft.com/office/drawing/2014/main" id="{C8027BE7-8F74-41BC-B1A3-7411DDA68FAF}"/>
              </a:ext>
            </a:extLst>
          </p:cNvPr>
          <p:cNvSpPr>
            <a:spLocks xmlns:a="http://schemas.openxmlformats.org/drawingml/2006/main" noGrp="1"/>
          </p:cNvSpPr>
          <p:nvPr/>
        </p:nvSpPr>
        <p:spPr>
          <a:xfrm xmlns:a="http://schemas.openxmlformats.org/drawingml/2006/main">
            <a:off x="514350" y="5676900"/>
            <a:ext cx="1085850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3CBCB3CE-94C6-4472-BDE7-CB059E33E9F7}"/>
              </a:ext>
            </a:extLst>
          </p:cNvPr>
          <p:cNvSpPr>
            <a:spLocks xmlns:a="http://schemas.openxmlformats.org/drawingml/2006/main" noGrp="1"/>
          </p:cNvSpPr>
          <p:nvPr/>
        </p:nvSpPr>
        <p:spPr>
          <a:xfrm xmlns:a="http://schemas.openxmlformats.org/drawingml/2006/main">
            <a:off x="666750" y="5810250"/>
            <a:ext cx="1055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se foloseste in practica: Multe fluxuri din aplicatie se pot transforma in documente usor de tiparit, arhivat sau trimis mai departe. Pentru utilizator, important este ca aceste iesiri sa fie consecvente si usor de obtinut. PDF-uri: Portofolii, evaluari, mobilitate, gradatii sau rapoarte pot genera iesiri gata de utilizare. Documente-model: Sedintele, hotararile si alte acte institutionale pornesc din aceeasi structura de lucru. Trasabilitate: Documentele raman legate de inregistrarea sursa, ceea ce usureaza controlul si verificarea.</a:t>
            </a:r>
          </a:p>
        </p:txBody>
      </p:sp>
      <p:sp>
        <p:nvSpPr>
          <p:cNvPr id="17" name="">
            <a:extLst xmlns:a="http://schemas.openxmlformats.org/drawingml/2006/main">
              <a:ext uri="{FF2B5EF4-FFF2-40B4-BE49-F238E27FC236}">
                <a16:creationId xmlns:a16="http://schemas.microsoft.com/office/drawing/2014/main" id="{B0058CFC-7A31-4CC3-A7DD-7445C16484EB}"/>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8" name="">
            <a:extLst xmlns:a="http://schemas.openxmlformats.org/drawingml/2006/main">
              <a:ext uri="{FF2B5EF4-FFF2-40B4-BE49-F238E27FC236}">
                <a16:creationId xmlns:a16="http://schemas.microsoft.com/office/drawing/2014/main" id="{6F28B1A7-A007-4623-80B1-94857EB83892}"/>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Documente oficiale si PDF-uri</a:t>
            </a:r>
          </a:p>
        </p:txBody>
      </p:sp>
    </p:spTree>
    <p:extLst>
      <p:ext uri="{BB962C8B-B14F-4D97-AF65-F5344CB8AC3E}">
        <p14:creationId xmlns:p14="http://schemas.microsoft.com/office/powerpoint/2010/main" val="2106470813"/>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BD6C7F7-D47E-48B6-8566-291DB5ADA78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019AF084-ECEA-487E-8506-CBBA23D06EDF}"/>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Cockpit si analiza</a:t>
            </a:r>
          </a:p>
        </p:txBody>
      </p:sp>
      <p:sp>
        <p:nvSpPr>
          <p:cNvPr id="3" name="">
            <a:extLst xmlns:a="http://schemas.openxmlformats.org/drawingml/2006/main">
              <a:ext uri="{FF2B5EF4-FFF2-40B4-BE49-F238E27FC236}">
                <a16:creationId xmlns:a16="http://schemas.microsoft.com/office/drawing/2014/main" id="{386E5F64-8F90-4CEC-9128-E2DAC5F60F9A}"/>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Rapoarte manageriale strict necesare</a:t>
            </a:r>
          </a:p>
        </p:txBody>
      </p:sp>
      <p:sp>
        <p:nvSpPr>
          <p:cNvPr id="4" name="">
            <a:extLst xmlns:a="http://schemas.openxmlformats.org/drawingml/2006/main">
              <a:ext uri="{FF2B5EF4-FFF2-40B4-BE49-F238E27FC236}">
                <a16:creationId xmlns:a16="http://schemas.microsoft.com/office/drawing/2014/main" id="{FDF7BD80-A9CA-4F03-A2F7-98501475226B}"/>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54</a:t>
            </a:r>
          </a:p>
        </p:txBody>
      </p:sp>
      <p:sp>
        <p:nvSpPr>
          <p:cNvPr id="5" name="">
            <a:extLst xmlns:a="http://schemas.openxmlformats.org/drawingml/2006/main">
              <a:ext uri="{FF2B5EF4-FFF2-40B4-BE49-F238E27FC236}">
                <a16:creationId xmlns:a16="http://schemas.microsoft.com/office/drawing/2014/main" id="{509E91CA-D596-49B9-A29E-4C36337168BD}"/>
              </a:ext>
            </a:extLst>
          </p:cNvPr>
          <p:cNvSpPr>
            <a:spLocks xmlns:a="http://schemas.openxmlformats.org/drawingml/2006/main" noGrp="1"/>
          </p:cNvSpPr>
          <p:nvPr/>
        </p:nvSpPr>
        <p:spPr>
          <a:xfrm xmlns:a="http://schemas.openxmlformats.org/drawingml/2006/main">
            <a:off x="514350" y="1181100"/>
            <a:ext cx="10858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314158"/>
                </a:solidFill>
              </a:defRPr>
            </a:pPr>
            <a:r>
              <a:rPr sz="1275">
                <a:solidFill>
                  <a:srgbClr val="314158"/>
                </a:solidFill>
              </a:rPr>
              <a:t>Rapoartele manageriale sunt gandite pentru intrebari reale de conducere: ce sedinte lipsesc, cate portofolii sunt in lucru, unde sunt blocaje, ce evaluari trebuie urmarite si ce trebuie publicat.</a:t>
            </a:r>
          </a:p>
        </p:txBody>
      </p:sp>
      <p:sp>
        <p:nvSpPr>
          <p:cNvPr id="6" name="">
            <a:extLst xmlns:a="http://schemas.openxmlformats.org/drawingml/2006/main">
              <a:ext uri="{FF2B5EF4-FFF2-40B4-BE49-F238E27FC236}">
                <a16:creationId xmlns:a16="http://schemas.microsoft.com/office/drawing/2014/main" id="{ABF9661A-0900-45E8-9C14-72C2AA864D55}"/>
              </a:ext>
            </a:extLst>
          </p:cNvPr>
          <p:cNvSpPr>
            <a:spLocks xmlns:a="http://schemas.openxmlformats.org/drawingml/2006/main" noGrp="1"/>
          </p:cNvSpPr>
          <p:nvPr/>
        </p:nvSpPr>
        <p:spPr>
          <a:xfrm xmlns:a="http://schemas.openxmlformats.org/drawingml/2006/main">
            <a:off x="514350"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5847069F-C48A-4B45-A327-E575E199ADC6}"/>
              </a:ext>
            </a:extLst>
          </p:cNvPr>
          <p:cNvSpPr>
            <a:spLocks xmlns:a="http://schemas.openxmlformats.org/drawingml/2006/main" noGrp="1"/>
          </p:cNvSpPr>
          <p:nvPr/>
        </p:nvSpPr>
        <p:spPr>
          <a:xfrm xmlns:a="http://schemas.openxmlformats.org/drawingml/2006/main">
            <a:off x="666750" y="23431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Guvernanta</a:t>
            </a:r>
          </a:p>
        </p:txBody>
      </p:sp>
      <p:sp>
        <p:nvSpPr>
          <p:cNvPr id="8" name="">
            <a:extLst xmlns:a="http://schemas.openxmlformats.org/drawingml/2006/main">
              <a:ext uri="{FF2B5EF4-FFF2-40B4-BE49-F238E27FC236}">
                <a16:creationId xmlns:a16="http://schemas.microsoft.com/office/drawing/2014/main" id="{9B85CC74-60F5-4DA1-8A2D-4F22B33F219C}"/>
              </a:ext>
            </a:extLst>
          </p:cNvPr>
          <p:cNvSpPr>
            <a:spLocks xmlns:a="http://schemas.openxmlformats.org/drawingml/2006/main" noGrp="1"/>
          </p:cNvSpPr>
          <p:nvPr/>
        </p:nvSpPr>
        <p:spPr>
          <a:xfrm xmlns:a="http://schemas.openxmlformats.org/drawingml/2006/main">
            <a:off x="666750"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Sedinte, hotarari, prezenta, organisme si masuri de implementare.</a:t>
            </a:r>
          </a:p>
        </p:txBody>
      </p:sp>
      <p:sp>
        <p:nvSpPr>
          <p:cNvPr id="9" name="">
            <a:extLst xmlns:a="http://schemas.openxmlformats.org/drawingml/2006/main">
              <a:ext uri="{FF2B5EF4-FFF2-40B4-BE49-F238E27FC236}">
                <a16:creationId xmlns:a16="http://schemas.microsoft.com/office/drawing/2014/main" id="{BF599016-BDE5-4867-AC2F-34AABCB4AA72}"/>
              </a:ext>
            </a:extLst>
          </p:cNvPr>
          <p:cNvSpPr>
            <a:spLocks xmlns:a="http://schemas.openxmlformats.org/drawingml/2006/main" noGrp="1"/>
          </p:cNvSpPr>
          <p:nvPr/>
        </p:nvSpPr>
        <p:spPr>
          <a:xfrm xmlns:a="http://schemas.openxmlformats.org/drawingml/2006/main">
            <a:off x="6086475"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D1818770-DCD4-492D-A576-2C68C029AA13}"/>
              </a:ext>
            </a:extLst>
          </p:cNvPr>
          <p:cNvSpPr>
            <a:spLocks xmlns:a="http://schemas.openxmlformats.org/drawingml/2006/main" noGrp="1"/>
          </p:cNvSpPr>
          <p:nvPr/>
        </p:nvSpPr>
        <p:spPr>
          <a:xfrm xmlns:a="http://schemas.openxmlformats.org/drawingml/2006/main">
            <a:off x="6238875" y="234315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Portofolii si personal</a:t>
            </a:r>
          </a:p>
        </p:txBody>
      </p:sp>
      <p:sp>
        <p:nvSpPr>
          <p:cNvPr id="11" name="">
            <a:extLst xmlns:a="http://schemas.openxmlformats.org/drawingml/2006/main">
              <a:ext uri="{FF2B5EF4-FFF2-40B4-BE49-F238E27FC236}">
                <a16:creationId xmlns:a16="http://schemas.microsoft.com/office/drawing/2014/main" id="{6A8C0EC7-5D9A-486E-8F33-08937611E52D}"/>
              </a:ext>
            </a:extLst>
          </p:cNvPr>
          <p:cNvSpPr>
            <a:spLocks xmlns:a="http://schemas.openxmlformats.org/drawingml/2006/main" noGrp="1"/>
          </p:cNvSpPr>
          <p:nvPr/>
        </p:nvSpPr>
        <p:spPr>
          <a:xfrm xmlns:a="http://schemas.openxmlformats.org/drawingml/2006/main">
            <a:off x="6238875"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Situatia portofoliilor, evaluarilor, mobilitatii si gradatiilor.</a:t>
            </a:r>
          </a:p>
        </p:txBody>
      </p:sp>
      <p:sp>
        <p:nvSpPr>
          <p:cNvPr id="12" name="">
            <a:extLst xmlns:a="http://schemas.openxmlformats.org/drawingml/2006/main">
              <a:ext uri="{FF2B5EF4-FFF2-40B4-BE49-F238E27FC236}">
                <a16:creationId xmlns:a16="http://schemas.microsoft.com/office/drawing/2014/main" id="{12F53DF6-8513-40EC-9484-8BFB36EE5955}"/>
              </a:ext>
            </a:extLst>
          </p:cNvPr>
          <p:cNvSpPr>
            <a:spLocks xmlns:a="http://schemas.openxmlformats.org/drawingml/2006/main" noGrp="1"/>
          </p:cNvSpPr>
          <p:nvPr/>
        </p:nvSpPr>
        <p:spPr>
          <a:xfrm xmlns:a="http://schemas.openxmlformats.org/drawingml/2006/main">
            <a:off x="514350" y="401955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409831F9-A11C-423E-9012-95349FA28AB1}"/>
              </a:ext>
            </a:extLst>
          </p:cNvPr>
          <p:cNvSpPr>
            <a:spLocks xmlns:a="http://schemas.openxmlformats.org/drawingml/2006/main" noGrp="1"/>
          </p:cNvSpPr>
          <p:nvPr/>
        </p:nvSpPr>
        <p:spPr>
          <a:xfrm xmlns:a="http://schemas.openxmlformats.org/drawingml/2006/main">
            <a:off x="666750" y="415290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Conformitate</a:t>
            </a:r>
          </a:p>
        </p:txBody>
      </p:sp>
      <p:sp>
        <p:nvSpPr>
          <p:cNvPr id="14" name="">
            <a:extLst xmlns:a="http://schemas.openxmlformats.org/drawingml/2006/main">
              <a:ext uri="{FF2B5EF4-FFF2-40B4-BE49-F238E27FC236}">
                <a16:creationId xmlns:a16="http://schemas.microsoft.com/office/drawing/2014/main" id="{8D5A2D47-9AD7-4004-A2CC-E08157DFE854}"/>
              </a:ext>
            </a:extLst>
          </p:cNvPr>
          <p:cNvSpPr>
            <a:spLocks xmlns:a="http://schemas.openxmlformats.org/drawingml/2006/main" noGrp="1"/>
          </p:cNvSpPr>
          <p:nvPr/>
        </p:nvSpPr>
        <p:spPr>
          <a:xfrm xmlns:a="http://schemas.openxmlformats.org/drawingml/2006/main">
            <a:off x="666750" y="451485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Cerinte, publicari, dovada si starea documentelor institutionale.</a:t>
            </a:r>
          </a:p>
        </p:txBody>
      </p:sp>
      <p:sp>
        <p:nvSpPr>
          <p:cNvPr id="15" name="">
            <a:extLst xmlns:a="http://schemas.openxmlformats.org/drawingml/2006/main">
              <a:ext uri="{FF2B5EF4-FFF2-40B4-BE49-F238E27FC236}">
                <a16:creationId xmlns:a16="http://schemas.microsoft.com/office/drawing/2014/main" id="{58F5595E-545D-4435-9838-4549A3DAD563}"/>
              </a:ext>
            </a:extLst>
          </p:cNvPr>
          <p:cNvSpPr>
            <a:spLocks xmlns:a="http://schemas.openxmlformats.org/drawingml/2006/main" noGrp="1"/>
          </p:cNvSpPr>
          <p:nvPr/>
        </p:nvSpPr>
        <p:spPr>
          <a:xfrm xmlns:a="http://schemas.openxmlformats.org/drawingml/2006/main">
            <a:off x="514350" y="5676900"/>
            <a:ext cx="1085850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FAAB3B6E-265E-4DDD-A7D6-6C93C1470B5E}"/>
              </a:ext>
            </a:extLst>
          </p:cNvPr>
          <p:cNvSpPr>
            <a:spLocks xmlns:a="http://schemas.openxmlformats.org/drawingml/2006/main" noGrp="1"/>
          </p:cNvSpPr>
          <p:nvPr/>
        </p:nvSpPr>
        <p:spPr>
          <a:xfrm xmlns:a="http://schemas.openxmlformats.org/drawingml/2006/main">
            <a:off x="666750" y="5810250"/>
            <a:ext cx="1055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se foloseste in practica: Rapoartele manageriale sunt gandite pentru intrebari reale de conducere: ce sedinte lipsesc, cate portofolii sunt in lucru, unde sunt blocaje, ce evaluari trebuie urmarite si ce trebuie publicat. Guvernanta: Sedinte, hotarari, prezenta, organisme si masuri de implementare. Portofolii si personal: Situatia portofoliilor, evaluarilor, mobilitatii si gradatiilor. Conformitate: Cerinte, publicari, dovada si starea documentelor institutionale.</a:t>
            </a:r>
          </a:p>
        </p:txBody>
      </p:sp>
      <p:sp>
        <p:nvSpPr>
          <p:cNvPr id="17" name="">
            <a:extLst xmlns:a="http://schemas.openxmlformats.org/drawingml/2006/main">
              <a:ext uri="{FF2B5EF4-FFF2-40B4-BE49-F238E27FC236}">
                <a16:creationId xmlns:a16="http://schemas.microsoft.com/office/drawing/2014/main" id="{19585BAE-0245-4C57-8C2E-5BFB5B327524}"/>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8" name="">
            <a:extLst xmlns:a="http://schemas.openxmlformats.org/drawingml/2006/main">
              <a:ext uri="{FF2B5EF4-FFF2-40B4-BE49-F238E27FC236}">
                <a16:creationId xmlns:a16="http://schemas.microsoft.com/office/drawing/2014/main" id="{7C42103F-C750-4B22-9147-7EA183E4F00F}"/>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Rapoarte manageriale</a:t>
            </a:r>
          </a:p>
        </p:txBody>
      </p:sp>
    </p:spTree>
    <p:extLst>
      <p:ext uri="{BB962C8B-B14F-4D97-AF65-F5344CB8AC3E}">
        <p14:creationId xmlns:p14="http://schemas.microsoft.com/office/powerpoint/2010/main" val="342613346"/>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BF2C524-9434-4646-AB17-AAD334C3E29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39322007-209C-4C51-BE5B-3D33D7613D45}"/>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Parcurs pe rol</a:t>
            </a:r>
          </a:p>
        </p:txBody>
      </p:sp>
      <p:sp>
        <p:nvSpPr>
          <p:cNvPr id="3" name="">
            <a:extLst xmlns:a="http://schemas.openxmlformats.org/drawingml/2006/main">
              <a:ext uri="{FF2B5EF4-FFF2-40B4-BE49-F238E27FC236}">
                <a16:creationId xmlns:a16="http://schemas.microsoft.com/office/drawing/2014/main" id="{41F23ACD-F577-49A9-B464-5696D05654DD}"/>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Scenariu complet - profesor</a:t>
            </a:r>
          </a:p>
        </p:txBody>
      </p:sp>
      <p:sp>
        <p:nvSpPr>
          <p:cNvPr id="4" name="">
            <a:extLst xmlns:a="http://schemas.openxmlformats.org/drawingml/2006/main">
              <a:ext uri="{FF2B5EF4-FFF2-40B4-BE49-F238E27FC236}">
                <a16:creationId xmlns:a16="http://schemas.microsoft.com/office/drawing/2014/main" id="{7C56DF46-37F4-4EAF-9B77-C54EFA132A10}"/>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55</a:t>
            </a:r>
          </a:p>
        </p:txBody>
      </p:sp>
      <p:sp>
        <p:nvSpPr>
          <p:cNvPr id="5" name="">
            <a:extLst xmlns:a="http://schemas.openxmlformats.org/drawingml/2006/main">
              <a:ext uri="{FF2B5EF4-FFF2-40B4-BE49-F238E27FC236}">
                <a16:creationId xmlns:a16="http://schemas.microsoft.com/office/drawing/2014/main" id="{BB0C30E1-FE1C-4E83-B9DE-A410B3EEC909}"/>
              </a:ext>
            </a:extLst>
          </p:cNvPr>
          <p:cNvSpPr>
            <a:spLocks xmlns:a="http://schemas.openxmlformats.org/drawingml/2006/main" noGrp="1"/>
          </p:cNvSpPr>
          <p:nvPr/>
        </p:nvSpPr>
        <p:spPr>
          <a:xfrm xmlns:a="http://schemas.openxmlformats.org/drawingml/2006/main">
            <a:off x="514350" y="1123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Acesta este traseul tipic al profesorului in aplicatie, din punctul de vedere al muncii de zi cu zi.</a:t>
            </a:r>
          </a:p>
        </p:txBody>
      </p:sp>
      <p:sp>
        <p:nvSpPr>
          <p:cNvPr id="6" name="">
            <a:extLst xmlns:a="http://schemas.openxmlformats.org/drawingml/2006/main">
              <a:ext uri="{FF2B5EF4-FFF2-40B4-BE49-F238E27FC236}">
                <a16:creationId xmlns:a16="http://schemas.microsoft.com/office/drawing/2014/main" id="{55F059CB-43F3-461C-82FE-C526E63DD30F}"/>
              </a:ext>
            </a:extLst>
          </p:cNvPr>
          <p:cNvSpPr>
            <a:spLocks xmlns:a="http://schemas.openxmlformats.org/drawingml/2006/main" noGrp="1"/>
          </p:cNvSpPr>
          <p:nvPr/>
        </p:nvSpPr>
        <p:spPr>
          <a:xfrm xmlns:a="http://schemas.openxmlformats.org/drawingml/2006/main">
            <a:off x="514350" y="2286000"/>
            <a:ext cx="2381250" cy="2381250"/>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FCEC8189-87F2-4FA4-897E-52A0BE14C7F2}"/>
              </a:ext>
            </a:extLst>
          </p:cNvPr>
          <p:cNvSpPr>
            <a:spLocks xmlns:a="http://schemas.openxmlformats.org/drawingml/2006/main" noGrp="1"/>
          </p:cNvSpPr>
          <p:nvPr/>
        </p:nvSpPr>
        <p:spPr>
          <a:xfrm xmlns:a="http://schemas.openxmlformats.org/drawingml/2006/main">
            <a:off x="666750" y="2438400"/>
            <a:ext cx="400050" cy="247650"/>
          </a:xfrm>
          <a:prstGeom xmlns:a="http://schemas.openxmlformats.org/drawingml/2006/main" prst="roundRect">
            <a:avLst>
              <a:gd name="adj" fmla="val 50000"/>
            </a:avLst>
          </a:prstGeom>
          <a:solidFill xmlns:a="http://schemas.openxmlformats.org/drawingml/2006/main">
            <a:srgbClr val="0F172B"/>
          </a:solidFill>
          <a:ln xmlns:a="http://schemas.openxmlformats.org/drawingml/2006/main" w="0">
            <a:solidFill>
              <a:srgbClr val="0F172B"/>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1</a:t>
            </a:r>
          </a:p>
        </p:txBody>
      </p:sp>
      <p:sp>
        <p:nvSpPr>
          <p:cNvPr id="8" name="">
            <a:extLst xmlns:a="http://schemas.openxmlformats.org/drawingml/2006/main">
              <a:ext uri="{FF2B5EF4-FFF2-40B4-BE49-F238E27FC236}">
                <a16:creationId xmlns:a16="http://schemas.microsoft.com/office/drawing/2014/main" id="{A818A9FC-1175-4CC5-8D9A-5FC28E1D12B2}"/>
              </a:ext>
            </a:extLst>
          </p:cNvPr>
          <p:cNvSpPr>
            <a:spLocks xmlns:a="http://schemas.openxmlformats.org/drawingml/2006/main" noGrp="1"/>
          </p:cNvSpPr>
          <p:nvPr/>
        </p:nvSpPr>
        <p:spPr>
          <a:xfrm xmlns:a="http://schemas.openxmlformats.org/drawingml/2006/main">
            <a:off x="666750" y="283845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20618"/>
                </a:solidFill>
              </a:defRPr>
            </a:pPr>
            <a:r>
              <a:rPr sz="1425" b="1">
                <a:solidFill>
                  <a:srgbClr val="020618"/>
                </a:solidFill>
              </a:rPr>
              <a:t>Intrare</a:t>
            </a:r>
          </a:p>
        </p:txBody>
      </p:sp>
      <p:sp>
        <p:nvSpPr>
          <p:cNvPr id="9" name="">
            <a:extLst xmlns:a="http://schemas.openxmlformats.org/drawingml/2006/main">
              <a:ext uri="{FF2B5EF4-FFF2-40B4-BE49-F238E27FC236}">
                <a16:creationId xmlns:a16="http://schemas.microsoft.com/office/drawing/2014/main" id="{A196E37A-9AB7-4008-869E-909E95E0DE27}"/>
              </a:ext>
            </a:extLst>
          </p:cNvPr>
          <p:cNvSpPr>
            <a:spLocks xmlns:a="http://schemas.openxmlformats.org/drawingml/2006/main" noGrp="1"/>
          </p:cNvSpPr>
          <p:nvPr/>
        </p:nvSpPr>
        <p:spPr>
          <a:xfrm xmlns:a="http://schemas.openxmlformats.org/drawingml/2006/main">
            <a:off x="666750" y="3333750"/>
            <a:ext cx="20764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Profesorul porneste din cockpitul propriu si vede obligatiile active.</a:t>
            </a:r>
          </a:p>
        </p:txBody>
      </p:sp>
      <p:sp>
        <p:nvSpPr>
          <p:cNvPr id="10" name="">
            <a:extLst xmlns:a="http://schemas.openxmlformats.org/drawingml/2006/main">
              <a:ext uri="{FF2B5EF4-FFF2-40B4-BE49-F238E27FC236}">
                <a16:creationId xmlns:a16="http://schemas.microsoft.com/office/drawing/2014/main" id="{091F3269-1BFB-4FA7-8F20-ACE6049C1170}"/>
              </a:ext>
            </a:extLst>
          </p:cNvPr>
          <p:cNvSpPr>
            <a:spLocks xmlns:a="http://schemas.openxmlformats.org/drawingml/2006/main" noGrp="1"/>
          </p:cNvSpPr>
          <p:nvPr/>
        </p:nvSpPr>
        <p:spPr>
          <a:xfrm xmlns:a="http://schemas.openxmlformats.org/drawingml/2006/main">
            <a:off x="3295650" y="2286000"/>
            <a:ext cx="2381250" cy="2381250"/>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E2E8F0"/>
            </a:solidFill>
            <a:prstDash val="solid"/>
          </a:ln>
        </p:spPr>
      </p:sp>
      <p:sp>
        <p:nvSpPr>
          <p:cNvPr id="11" name="">
            <a:extLst xmlns:a="http://schemas.openxmlformats.org/drawingml/2006/main">
              <a:ext uri="{FF2B5EF4-FFF2-40B4-BE49-F238E27FC236}">
                <a16:creationId xmlns:a16="http://schemas.microsoft.com/office/drawing/2014/main" id="{9DE5891E-D2C4-457F-876B-ABC4D4A6E69A}"/>
              </a:ext>
            </a:extLst>
          </p:cNvPr>
          <p:cNvSpPr>
            <a:spLocks xmlns:a="http://schemas.openxmlformats.org/drawingml/2006/main" noGrp="1"/>
          </p:cNvSpPr>
          <p:nvPr/>
        </p:nvSpPr>
        <p:spPr>
          <a:xfrm xmlns:a="http://schemas.openxmlformats.org/drawingml/2006/main">
            <a:off x="3448050" y="2438400"/>
            <a:ext cx="400050" cy="247650"/>
          </a:xfrm>
          <a:prstGeom xmlns:a="http://schemas.openxmlformats.org/drawingml/2006/main" prst="roundRect">
            <a:avLst>
              <a:gd name="adj" fmla="val 50000"/>
            </a:avLst>
          </a:prstGeom>
          <a:solidFill xmlns:a="http://schemas.openxmlformats.org/drawingml/2006/main">
            <a:srgbClr val="0F172B"/>
          </a:solidFill>
          <a:ln xmlns:a="http://schemas.openxmlformats.org/drawingml/2006/main" w="0">
            <a:solidFill>
              <a:srgbClr val="0F172B"/>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2</a:t>
            </a:r>
          </a:p>
        </p:txBody>
      </p:sp>
      <p:sp>
        <p:nvSpPr>
          <p:cNvPr id="12" name="">
            <a:extLst xmlns:a="http://schemas.openxmlformats.org/drawingml/2006/main">
              <a:ext uri="{FF2B5EF4-FFF2-40B4-BE49-F238E27FC236}">
                <a16:creationId xmlns:a16="http://schemas.microsoft.com/office/drawing/2014/main" id="{1EA60511-C4F7-4D76-848F-08DD7AFA850C}"/>
              </a:ext>
            </a:extLst>
          </p:cNvPr>
          <p:cNvSpPr>
            <a:spLocks xmlns:a="http://schemas.openxmlformats.org/drawingml/2006/main" noGrp="1"/>
          </p:cNvSpPr>
          <p:nvPr/>
        </p:nvSpPr>
        <p:spPr>
          <a:xfrm xmlns:a="http://schemas.openxmlformats.org/drawingml/2006/main">
            <a:off x="3448050" y="283845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20618"/>
                </a:solidFill>
              </a:defRPr>
            </a:pPr>
            <a:r>
              <a:rPr sz="1425" b="1">
                <a:solidFill>
                  <a:srgbClr val="020618"/>
                </a:solidFill>
              </a:rPr>
              <a:t>Portofoliu</a:t>
            </a:r>
          </a:p>
        </p:txBody>
      </p:sp>
      <p:sp>
        <p:nvSpPr>
          <p:cNvPr id="13" name="">
            <a:extLst xmlns:a="http://schemas.openxmlformats.org/drawingml/2006/main">
              <a:ext uri="{FF2B5EF4-FFF2-40B4-BE49-F238E27FC236}">
                <a16:creationId xmlns:a16="http://schemas.microsoft.com/office/drawing/2014/main" id="{0CA21113-74F9-4301-9296-EA5593D54B7F}"/>
              </a:ext>
            </a:extLst>
          </p:cNvPr>
          <p:cNvSpPr>
            <a:spLocks xmlns:a="http://schemas.openxmlformats.org/drawingml/2006/main" noGrp="1"/>
          </p:cNvSpPr>
          <p:nvPr/>
        </p:nvSpPr>
        <p:spPr>
          <a:xfrm xmlns:a="http://schemas.openxmlformats.org/drawingml/2006/main">
            <a:off x="3448050" y="3333750"/>
            <a:ext cx="20764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Completeaza sau verifica propriul portofoliu profesional.</a:t>
            </a:r>
          </a:p>
        </p:txBody>
      </p:sp>
      <p:sp>
        <p:nvSpPr>
          <p:cNvPr id="14" name="">
            <a:extLst xmlns:a="http://schemas.openxmlformats.org/drawingml/2006/main">
              <a:ext uri="{FF2B5EF4-FFF2-40B4-BE49-F238E27FC236}">
                <a16:creationId xmlns:a16="http://schemas.microsoft.com/office/drawing/2014/main" id="{BAFE766A-EAF3-464E-8F85-A5D5E7EC1DEE}"/>
              </a:ext>
            </a:extLst>
          </p:cNvPr>
          <p:cNvSpPr>
            <a:spLocks xmlns:a="http://schemas.openxmlformats.org/drawingml/2006/main" noGrp="1"/>
          </p:cNvSpPr>
          <p:nvPr/>
        </p:nvSpPr>
        <p:spPr>
          <a:xfrm xmlns:a="http://schemas.openxmlformats.org/drawingml/2006/main">
            <a:off x="6076950" y="2286000"/>
            <a:ext cx="2381250" cy="2381250"/>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E2E8F0"/>
            </a:solidFill>
            <a:prstDash val="solid"/>
          </a:ln>
        </p:spPr>
      </p:sp>
      <p:sp>
        <p:nvSpPr>
          <p:cNvPr id="15" name="">
            <a:extLst xmlns:a="http://schemas.openxmlformats.org/drawingml/2006/main">
              <a:ext uri="{FF2B5EF4-FFF2-40B4-BE49-F238E27FC236}">
                <a16:creationId xmlns:a16="http://schemas.microsoft.com/office/drawing/2014/main" id="{5C632783-33DB-4201-8476-373A427E1677}"/>
              </a:ext>
            </a:extLst>
          </p:cNvPr>
          <p:cNvSpPr>
            <a:spLocks xmlns:a="http://schemas.openxmlformats.org/drawingml/2006/main" noGrp="1"/>
          </p:cNvSpPr>
          <p:nvPr/>
        </p:nvSpPr>
        <p:spPr>
          <a:xfrm xmlns:a="http://schemas.openxmlformats.org/drawingml/2006/main">
            <a:off x="6229350" y="2438400"/>
            <a:ext cx="400050" cy="247650"/>
          </a:xfrm>
          <a:prstGeom xmlns:a="http://schemas.openxmlformats.org/drawingml/2006/main" prst="roundRect">
            <a:avLst>
              <a:gd name="adj" fmla="val 50000"/>
            </a:avLst>
          </a:prstGeom>
          <a:solidFill xmlns:a="http://schemas.openxmlformats.org/drawingml/2006/main">
            <a:srgbClr val="0F172B"/>
          </a:solidFill>
          <a:ln xmlns:a="http://schemas.openxmlformats.org/drawingml/2006/main" w="0">
            <a:solidFill>
              <a:srgbClr val="0F172B"/>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3</a:t>
            </a:r>
          </a:p>
        </p:txBody>
      </p:sp>
      <p:sp>
        <p:nvSpPr>
          <p:cNvPr id="16" name="">
            <a:extLst xmlns:a="http://schemas.openxmlformats.org/drawingml/2006/main">
              <a:ext uri="{FF2B5EF4-FFF2-40B4-BE49-F238E27FC236}">
                <a16:creationId xmlns:a16="http://schemas.microsoft.com/office/drawing/2014/main" id="{DE1BB386-6EF5-4450-BC76-053A5A5A7AE5}"/>
              </a:ext>
            </a:extLst>
          </p:cNvPr>
          <p:cNvSpPr>
            <a:spLocks xmlns:a="http://schemas.openxmlformats.org/drawingml/2006/main" noGrp="1"/>
          </p:cNvSpPr>
          <p:nvPr/>
        </p:nvSpPr>
        <p:spPr>
          <a:xfrm xmlns:a="http://schemas.openxmlformats.org/drawingml/2006/main">
            <a:off x="6229350" y="283845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20618"/>
                </a:solidFill>
              </a:defRPr>
            </a:pPr>
            <a:r>
              <a:rPr sz="1425" b="1">
                <a:solidFill>
                  <a:srgbClr val="020618"/>
                </a:solidFill>
              </a:rPr>
              <a:t>Evaluare</a:t>
            </a:r>
          </a:p>
        </p:txBody>
      </p:sp>
      <p:sp>
        <p:nvSpPr>
          <p:cNvPr id="17" name="">
            <a:extLst xmlns:a="http://schemas.openxmlformats.org/drawingml/2006/main">
              <a:ext uri="{FF2B5EF4-FFF2-40B4-BE49-F238E27FC236}">
                <a16:creationId xmlns:a16="http://schemas.microsoft.com/office/drawing/2014/main" id="{A367C1BA-BE2A-4BB9-A0FD-94A608CCD953}"/>
              </a:ext>
            </a:extLst>
          </p:cNvPr>
          <p:cNvSpPr>
            <a:spLocks xmlns:a="http://schemas.openxmlformats.org/drawingml/2006/main" noGrp="1"/>
          </p:cNvSpPr>
          <p:nvPr/>
        </p:nvSpPr>
        <p:spPr>
          <a:xfrm xmlns:a="http://schemas.openxmlformats.org/drawingml/2006/main">
            <a:off x="6229350" y="3333750"/>
            <a:ext cx="20764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Consulta evaluarea si eventualele rezultate sau contestatii.</a:t>
            </a:r>
          </a:p>
        </p:txBody>
      </p:sp>
      <p:sp>
        <p:nvSpPr>
          <p:cNvPr id="18" name="">
            <a:extLst xmlns:a="http://schemas.openxmlformats.org/drawingml/2006/main">
              <a:ext uri="{FF2B5EF4-FFF2-40B4-BE49-F238E27FC236}">
                <a16:creationId xmlns:a16="http://schemas.microsoft.com/office/drawing/2014/main" id="{DF57CF6C-D683-4C48-AA69-E69A8A92290E}"/>
              </a:ext>
            </a:extLst>
          </p:cNvPr>
          <p:cNvSpPr>
            <a:spLocks xmlns:a="http://schemas.openxmlformats.org/drawingml/2006/main" noGrp="1"/>
          </p:cNvSpPr>
          <p:nvPr/>
        </p:nvSpPr>
        <p:spPr>
          <a:xfrm xmlns:a="http://schemas.openxmlformats.org/drawingml/2006/main">
            <a:off x="8858250" y="2286000"/>
            <a:ext cx="2381250" cy="2381250"/>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E2E8F0"/>
            </a:solidFill>
            <a:prstDash val="solid"/>
          </a:ln>
        </p:spPr>
      </p:sp>
      <p:sp>
        <p:nvSpPr>
          <p:cNvPr id="19" name="">
            <a:extLst xmlns:a="http://schemas.openxmlformats.org/drawingml/2006/main">
              <a:ext uri="{FF2B5EF4-FFF2-40B4-BE49-F238E27FC236}">
                <a16:creationId xmlns:a16="http://schemas.microsoft.com/office/drawing/2014/main" id="{B7BDE0EF-DC48-4EDF-BD81-05B7CB2A72C2}"/>
              </a:ext>
            </a:extLst>
          </p:cNvPr>
          <p:cNvSpPr>
            <a:spLocks xmlns:a="http://schemas.openxmlformats.org/drawingml/2006/main" noGrp="1"/>
          </p:cNvSpPr>
          <p:nvPr/>
        </p:nvSpPr>
        <p:spPr>
          <a:xfrm xmlns:a="http://schemas.openxmlformats.org/drawingml/2006/main">
            <a:off x="9010650" y="2438400"/>
            <a:ext cx="400050" cy="247650"/>
          </a:xfrm>
          <a:prstGeom xmlns:a="http://schemas.openxmlformats.org/drawingml/2006/main" prst="roundRect">
            <a:avLst>
              <a:gd name="adj" fmla="val 50000"/>
            </a:avLst>
          </a:prstGeom>
          <a:solidFill xmlns:a="http://schemas.openxmlformats.org/drawingml/2006/main">
            <a:srgbClr val="0F172B"/>
          </a:solidFill>
          <a:ln xmlns:a="http://schemas.openxmlformats.org/drawingml/2006/main" w="0">
            <a:solidFill>
              <a:srgbClr val="0F172B"/>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4</a:t>
            </a:r>
          </a:p>
        </p:txBody>
      </p:sp>
      <p:sp>
        <p:nvSpPr>
          <p:cNvPr id="20" name="">
            <a:extLst xmlns:a="http://schemas.openxmlformats.org/drawingml/2006/main">
              <a:ext uri="{FF2B5EF4-FFF2-40B4-BE49-F238E27FC236}">
                <a16:creationId xmlns:a16="http://schemas.microsoft.com/office/drawing/2014/main" id="{C71A1C96-B760-45DB-9F18-8DB624FF232E}"/>
              </a:ext>
            </a:extLst>
          </p:cNvPr>
          <p:cNvSpPr>
            <a:spLocks xmlns:a="http://schemas.openxmlformats.org/drawingml/2006/main" noGrp="1"/>
          </p:cNvSpPr>
          <p:nvPr/>
        </p:nvSpPr>
        <p:spPr>
          <a:xfrm xmlns:a="http://schemas.openxmlformats.org/drawingml/2006/main">
            <a:off x="9010650" y="283845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20618"/>
                </a:solidFill>
              </a:defRPr>
            </a:pPr>
            <a:r>
              <a:rPr sz="1425" b="1">
                <a:solidFill>
                  <a:srgbClr val="020618"/>
                </a:solidFill>
              </a:rPr>
              <a:t>Documente asumate</a:t>
            </a:r>
          </a:p>
        </p:txBody>
      </p:sp>
      <p:sp>
        <p:nvSpPr>
          <p:cNvPr id="21" name="">
            <a:extLst xmlns:a="http://schemas.openxmlformats.org/drawingml/2006/main">
              <a:ext uri="{FF2B5EF4-FFF2-40B4-BE49-F238E27FC236}">
                <a16:creationId xmlns:a16="http://schemas.microsoft.com/office/drawing/2014/main" id="{2A312D03-C967-43A1-A60A-9F9F4E42B67A}"/>
              </a:ext>
            </a:extLst>
          </p:cNvPr>
          <p:cNvSpPr>
            <a:spLocks xmlns:a="http://schemas.openxmlformats.org/drawingml/2006/main" noGrp="1"/>
          </p:cNvSpPr>
          <p:nvPr/>
        </p:nvSpPr>
        <p:spPr>
          <a:xfrm xmlns:a="http://schemas.openxmlformats.org/drawingml/2006/main">
            <a:off x="9010650" y="3333750"/>
            <a:ext cx="20764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Verifica declaratii, mobilitate si alte documente personale.</a:t>
            </a:r>
          </a:p>
        </p:txBody>
      </p:sp>
      <p:sp>
        <p:nvSpPr>
          <p:cNvPr id="22" name="">
            <a:extLst xmlns:a="http://schemas.openxmlformats.org/drawingml/2006/main">
              <a:ext uri="{FF2B5EF4-FFF2-40B4-BE49-F238E27FC236}">
                <a16:creationId xmlns:a16="http://schemas.microsoft.com/office/drawing/2014/main" id="{CA68AD96-F5C8-47DC-AEAD-85175BA92012}"/>
              </a:ext>
            </a:extLst>
          </p:cNvPr>
          <p:cNvSpPr>
            <a:spLocks xmlns:a="http://schemas.openxmlformats.org/drawingml/2006/main" noGrp="1"/>
          </p:cNvSpPr>
          <p:nvPr/>
        </p:nvSpPr>
        <p:spPr>
          <a:xfrm xmlns:a="http://schemas.openxmlformats.org/drawingml/2006/main">
            <a:off x="514350" y="5048250"/>
            <a:ext cx="11163300" cy="104775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E2E8F0"/>
            </a:solidFill>
            <a:prstDash val="solid"/>
          </a:ln>
        </p:spPr>
      </p:sp>
      <p:sp>
        <p:nvSpPr>
          <p:cNvPr id="23" name="">
            <a:extLst xmlns:a="http://schemas.openxmlformats.org/drawingml/2006/main">
              <a:ext uri="{FF2B5EF4-FFF2-40B4-BE49-F238E27FC236}">
                <a16:creationId xmlns:a16="http://schemas.microsoft.com/office/drawing/2014/main" id="{3CEA0992-9257-45B0-82B9-964518776B8F}"/>
              </a:ext>
            </a:extLst>
          </p:cNvPr>
          <p:cNvSpPr>
            <a:spLocks xmlns:a="http://schemas.openxmlformats.org/drawingml/2006/main" noGrp="1"/>
          </p:cNvSpPr>
          <p:nvPr/>
        </p:nvSpPr>
        <p:spPr>
          <a:xfrm xmlns:a="http://schemas.openxmlformats.org/drawingml/2006/main">
            <a:off x="666750" y="518160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Rezultatul final pentru utilizator</a:t>
            </a:r>
          </a:p>
        </p:txBody>
      </p:sp>
      <p:sp>
        <p:nvSpPr>
          <p:cNvPr id="24" name="">
            <a:extLst xmlns:a="http://schemas.openxmlformats.org/drawingml/2006/main">
              <a:ext uri="{FF2B5EF4-FFF2-40B4-BE49-F238E27FC236}">
                <a16:creationId xmlns:a16="http://schemas.microsoft.com/office/drawing/2014/main" id="{9939E037-96BE-4A41-809B-5437BFB52F9D}"/>
              </a:ext>
            </a:extLst>
          </p:cNvPr>
          <p:cNvSpPr>
            <a:spLocks xmlns:a="http://schemas.openxmlformats.org/drawingml/2006/main" noGrp="1"/>
          </p:cNvSpPr>
          <p:nvPr/>
        </p:nvSpPr>
        <p:spPr>
          <a:xfrm xmlns:a="http://schemas.openxmlformats.org/drawingml/2006/main">
            <a:off x="666750" y="5543550"/>
            <a:ext cx="1085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Profesorul poate lucra pe propriile responsabilitati fara sprijin tehnic suplimentar. Acest parcurs arata ordinea fireasca in care utilizatorul poate lucra, fara sa piarda contextul intre module si fara sa dubleze informatia in afara aplicatiei.</a:t>
            </a:r>
          </a:p>
        </p:txBody>
      </p:sp>
      <p:sp>
        <p:nvSpPr>
          <p:cNvPr id="25" name="">
            <a:extLst xmlns:a="http://schemas.openxmlformats.org/drawingml/2006/main">
              <a:ext uri="{FF2B5EF4-FFF2-40B4-BE49-F238E27FC236}">
                <a16:creationId xmlns:a16="http://schemas.microsoft.com/office/drawing/2014/main" id="{22042915-FE37-4DC7-A1E2-1A27BE5FA97F}"/>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26" name="">
            <a:extLst xmlns:a="http://schemas.openxmlformats.org/drawingml/2006/main">
              <a:ext uri="{FF2B5EF4-FFF2-40B4-BE49-F238E27FC236}">
                <a16:creationId xmlns:a16="http://schemas.microsoft.com/office/drawing/2014/main" id="{BECE5BB5-7E0C-4A6B-B5E8-B7DE56B43FC8}"/>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Parcurs pe rol - profesor</a:t>
            </a:r>
          </a:p>
        </p:txBody>
      </p:sp>
    </p:spTree>
    <p:extLst>
      <p:ext uri="{BB962C8B-B14F-4D97-AF65-F5344CB8AC3E}">
        <p14:creationId xmlns:p14="http://schemas.microsoft.com/office/powerpoint/2010/main" val="493074408"/>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8AAA7A0-0569-4622-9089-34929FA69FD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9EE25F2C-C69F-44EC-8060-D20A88448324}"/>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Parcurs pe rol</a:t>
            </a:r>
          </a:p>
        </p:txBody>
      </p:sp>
      <p:sp>
        <p:nvSpPr>
          <p:cNvPr id="3" name="">
            <a:extLst xmlns:a="http://schemas.openxmlformats.org/drawingml/2006/main">
              <a:ext uri="{FF2B5EF4-FFF2-40B4-BE49-F238E27FC236}">
                <a16:creationId xmlns:a16="http://schemas.microsoft.com/office/drawing/2014/main" id="{262EAD27-597C-4C24-952D-5525FF0B6EEB}"/>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Scenariu complet - director</a:t>
            </a:r>
          </a:p>
        </p:txBody>
      </p:sp>
      <p:sp>
        <p:nvSpPr>
          <p:cNvPr id="4" name="">
            <a:extLst xmlns:a="http://schemas.openxmlformats.org/drawingml/2006/main">
              <a:ext uri="{FF2B5EF4-FFF2-40B4-BE49-F238E27FC236}">
                <a16:creationId xmlns:a16="http://schemas.microsoft.com/office/drawing/2014/main" id="{56357F38-6FA8-48FB-9D23-72C1A09CBAEB}"/>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56</a:t>
            </a:r>
          </a:p>
        </p:txBody>
      </p:sp>
      <p:sp>
        <p:nvSpPr>
          <p:cNvPr id="5" name="">
            <a:extLst xmlns:a="http://schemas.openxmlformats.org/drawingml/2006/main">
              <a:ext uri="{FF2B5EF4-FFF2-40B4-BE49-F238E27FC236}">
                <a16:creationId xmlns:a16="http://schemas.microsoft.com/office/drawing/2014/main" id="{F8E0FA90-6F05-41A5-ACBE-A320CC963500}"/>
              </a:ext>
            </a:extLst>
          </p:cNvPr>
          <p:cNvSpPr>
            <a:spLocks xmlns:a="http://schemas.openxmlformats.org/drawingml/2006/main" noGrp="1"/>
          </p:cNvSpPr>
          <p:nvPr/>
        </p:nvSpPr>
        <p:spPr>
          <a:xfrm xmlns:a="http://schemas.openxmlformats.org/drawingml/2006/main">
            <a:off x="514350" y="1123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Directorul lucreaza in sistem prin decizie rapida, control operational si lansarea fluxurilor institutionale.</a:t>
            </a:r>
          </a:p>
        </p:txBody>
      </p:sp>
      <p:sp>
        <p:nvSpPr>
          <p:cNvPr id="6" name="">
            <a:extLst xmlns:a="http://schemas.openxmlformats.org/drawingml/2006/main">
              <a:ext uri="{FF2B5EF4-FFF2-40B4-BE49-F238E27FC236}">
                <a16:creationId xmlns:a16="http://schemas.microsoft.com/office/drawing/2014/main" id="{96A6FB30-C70E-4CFF-96AC-2D0724DBC1DC}"/>
              </a:ext>
            </a:extLst>
          </p:cNvPr>
          <p:cNvSpPr>
            <a:spLocks xmlns:a="http://schemas.openxmlformats.org/drawingml/2006/main" noGrp="1"/>
          </p:cNvSpPr>
          <p:nvPr/>
        </p:nvSpPr>
        <p:spPr>
          <a:xfrm xmlns:a="http://schemas.openxmlformats.org/drawingml/2006/main">
            <a:off x="514350" y="2286000"/>
            <a:ext cx="2381250" cy="2381250"/>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3675A7E6-46BD-4231-9B4F-5AF838CCEB00}"/>
              </a:ext>
            </a:extLst>
          </p:cNvPr>
          <p:cNvSpPr>
            <a:spLocks xmlns:a="http://schemas.openxmlformats.org/drawingml/2006/main" noGrp="1"/>
          </p:cNvSpPr>
          <p:nvPr/>
        </p:nvSpPr>
        <p:spPr>
          <a:xfrm xmlns:a="http://schemas.openxmlformats.org/drawingml/2006/main">
            <a:off x="666750" y="2438400"/>
            <a:ext cx="400050" cy="247650"/>
          </a:xfrm>
          <a:prstGeom xmlns:a="http://schemas.openxmlformats.org/drawingml/2006/main" prst="roundRect">
            <a:avLst>
              <a:gd name="adj" fmla="val 50000"/>
            </a:avLst>
          </a:prstGeom>
          <a:solidFill xmlns:a="http://schemas.openxmlformats.org/drawingml/2006/main">
            <a:srgbClr val="0F172B"/>
          </a:solidFill>
          <a:ln xmlns:a="http://schemas.openxmlformats.org/drawingml/2006/main" w="0">
            <a:solidFill>
              <a:srgbClr val="0F172B"/>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1</a:t>
            </a:r>
          </a:p>
        </p:txBody>
      </p:sp>
      <p:sp>
        <p:nvSpPr>
          <p:cNvPr id="8" name="">
            <a:extLst xmlns:a="http://schemas.openxmlformats.org/drawingml/2006/main">
              <a:ext uri="{FF2B5EF4-FFF2-40B4-BE49-F238E27FC236}">
                <a16:creationId xmlns:a16="http://schemas.microsoft.com/office/drawing/2014/main" id="{63294AE1-29FB-47D6-B7F5-8D791057EC73}"/>
              </a:ext>
            </a:extLst>
          </p:cNvPr>
          <p:cNvSpPr>
            <a:spLocks xmlns:a="http://schemas.openxmlformats.org/drawingml/2006/main" noGrp="1"/>
          </p:cNvSpPr>
          <p:nvPr/>
        </p:nvSpPr>
        <p:spPr>
          <a:xfrm xmlns:a="http://schemas.openxmlformats.org/drawingml/2006/main">
            <a:off x="666750" y="283845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20618"/>
                </a:solidFill>
              </a:defRPr>
            </a:pPr>
            <a:r>
              <a:rPr sz="1425" b="1">
                <a:solidFill>
                  <a:srgbClr val="020618"/>
                </a:solidFill>
              </a:rPr>
              <a:t>Cockpit</a:t>
            </a:r>
          </a:p>
        </p:txBody>
      </p:sp>
      <p:sp>
        <p:nvSpPr>
          <p:cNvPr id="9" name="">
            <a:extLst xmlns:a="http://schemas.openxmlformats.org/drawingml/2006/main">
              <a:ext uri="{FF2B5EF4-FFF2-40B4-BE49-F238E27FC236}">
                <a16:creationId xmlns:a16="http://schemas.microsoft.com/office/drawing/2014/main" id="{22EC94AA-D502-4A0D-BE53-DA2D87AFC1FC}"/>
              </a:ext>
            </a:extLst>
          </p:cNvPr>
          <p:cNvSpPr>
            <a:spLocks xmlns:a="http://schemas.openxmlformats.org/drawingml/2006/main" noGrp="1"/>
          </p:cNvSpPr>
          <p:nvPr/>
        </p:nvSpPr>
        <p:spPr>
          <a:xfrm xmlns:a="http://schemas.openxmlformats.org/drawingml/2006/main">
            <a:off x="666750" y="3333750"/>
            <a:ext cx="20764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Verifica indicatorii, alertele si punctele critice.</a:t>
            </a:r>
          </a:p>
        </p:txBody>
      </p:sp>
      <p:sp>
        <p:nvSpPr>
          <p:cNvPr id="10" name="">
            <a:extLst xmlns:a="http://schemas.openxmlformats.org/drawingml/2006/main">
              <a:ext uri="{FF2B5EF4-FFF2-40B4-BE49-F238E27FC236}">
                <a16:creationId xmlns:a16="http://schemas.microsoft.com/office/drawing/2014/main" id="{8F413B25-45B1-464A-B308-5215E6935908}"/>
              </a:ext>
            </a:extLst>
          </p:cNvPr>
          <p:cNvSpPr>
            <a:spLocks xmlns:a="http://schemas.openxmlformats.org/drawingml/2006/main" noGrp="1"/>
          </p:cNvSpPr>
          <p:nvPr/>
        </p:nvSpPr>
        <p:spPr>
          <a:xfrm xmlns:a="http://schemas.openxmlformats.org/drawingml/2006/main">
            <a:off x="3295650" y="2286000"/>
            <a:ext cx="2381250" cy="2381250"/>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E2E8F0"/>
            </a:solidFill>
            <a:prstDash val="solid"/>
          </a:ln>
        </p:spPr>
      </p:sp>
      <p:sp>
        <p:nvSpPr>
          <p:cNvPr id="11" name="">
            <a:extLst xmlns:a="http://schemas.openxmlformats.org/drawingml/2006/main">
              <a:ext uri="{FF2B5EF4-FFF2-40B4-BE49-F238E27FC236}">
                <a16:creationId xmlns:a16="http://schemas.microsoft.com/office/drawing/2014/main" id="{E08E2743-2BE0-4998-82EF-2F58F1297B97}"/>
              </a:ext>
            </a:extLst>
          </p:cNvPr>
          <p:cNvSpPr>
            <a:spLocks xmlns:a="http://schemas.openxmlformats.org/drawingml/2006/main" noGrp="1"/>
          </p:cNvSpPr>
          <p:nvPr/>
        </p:nvSpPr>
        <p:spPr>
          <a:xfrm xmlns:a="http://schemas.openxmlformats.org/drawingml/2006/main">
            <a:off x="3448050" y="2438400"/>
            <a:ext cx="400050" cy="247650"/>
          </a:xfrm>
          <a:prstGeom xmlns:a="http://schemas.openxmlformats.org/drawingml/2006/main" prst="roundRect">
            <a:avLst>
              <a:gd name="adj" fmla="val 50000"/>
            </a:avLst>
          </a:prstGeom>
          <a:solidFill xmlns:a="http://schemas.openxmlformats.org/drawingml/2006/main">
            <a:srgbClr val="0F172B"/>
          </a:solidFill>
          <a:ln xmlns:a="http://schemas.openxmlformats.org/drawingml/2006/main" w="0">
            <a:solidFill>
              <a:srgbClr val="0F172B"/>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2</a:t>
            </a:r>
          </a:p>
        </p:txBody>
      </p:sp>
      <p:sp>
        <p:nvSpPr>
          <p:cNvPr id="12" name="">
            <a:extLst xmlns:a="http://schemas.openxmlformats.org/drawingml/2006/main">
              <a:ext uri="{FF2B5EF4-FFF2-40B4-BE49-F238E27FC236}">
                <a16:creationId xmlns:a16="http://schemas.microsoft.com/office/drawing/2014/main" id="{D81F91C2-A793-4DF5-AE39-5592F0FFA5B2}"/>
              </a:ext>
            </a:extLst>
          </p:cNvPr>
          <p:cNvSpPr>
            <a:spLocks xmlns:a="http://schemas.openxmlformats.org/drawingml/2006/main" noGrp="1"/>
          </p:cNvSpPr>
          <p:nvPr/>
        </p:nvSpPr>
        <p:spPr>
          <a:xfrm xmlns:a="http://schemas.openxmlformats.org/drawingml/2006/main">
            <a:off x="3448050" y="283845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20618"/>
                </a:solidFill>
              </a:defRPr>
            </a:pPr>
            <a:r>
              <a:rPr sz="1425" b="1">
                <a:solidFill>
                  <a:srgbClr val="020618"/>
                </a:solidFill>
              </a:rPr>
              <a:t>Guvernanta</a:t>
            </a:r>
          </a:p>
        </p:txBody>
      </p:sp>
      <p:sp>
        <p:nvSpPr>
          <p:cNvPr id="13" name="">
            <a:extLst xmlns:a="http://schemas.openxmlformats.org/drawingml/2006/main">
              <a:ext uri="{FF2B5EF4-FFF2-40B4-BE49-F238E27FC236}">
                <a16:creationId xmlns:a16="http://schemas.microsoft.com/office/drawing/2014/main" id="{4F2F12D6-56D8-4F96-9D49-7406A7127031}"/>
              </a:ext>
            </a:extLst>
          </p:cNvPr>
          <p:cNvSpPr>
            <a:spLocks xmlns:a="http://schemas.openxmlformats.org/drawingml/2006/main" noGrp="1"/>
          </p:cNvSpPr>
          <p:nvPr/>
        </p:nvSpPr>
        <p:spPr>
          <a:xfrm xmlns:a="http://schemas.openxmlformats.org/drawingml/2006/main">
            <a:off x="3448050" y="3333750"/>
            <a:ext cx="20764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Gestioneaza sedinte, hotarari, comisii si documente manageriale.</a:t>
            </a:r>
          </a:p>
        </p:txBody>
      </p:sp>
      <p:sp>
        <p:nvSpPr>
          <p:cNvPr id="14" name="">
            <a:extLst xmlns:a="http://schemas.openxmlformats.org/drawingml/2006/main">
              <a:ext uri="{FF2B5EF4-FFF2-40B4-BE49-F238E27FC236}">
                <a16:creationId xmlns:a16="http://schemas.microsoft.com/office/drawing/2014/main" id="{1A5CB81A-0D38-45C0-B77E-5E729FC2ECB3}"/>
              </a:ext>
            </a:extLst>
          </p:cNvPr>
          <p:cNvSpPr>
            <a:spLocks xmlns:a="http://schemas.openxmlformats.org/drawingml/2006/main" noGrp="1"/>
          </p:cNvSpPr>
          <p:nvPr/>
        </p:nvSpPr>
        <p:spPr>
          <a:xfrm xmlns:a="http://schemas.openxmlformats.org/drawingml/2006/main">
            <a:off x="6076950" y="2286000"/>
            <a:ext cx="2381250" cy="2381250"/>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E2E8F0"/>
            </a:solidFill>
            <a:prstDash val="solid"/>
          </a:ln>
        </p:spPr>
      </p:sp>
      <p:sp>
        <p:nvSpPr>
          <p:cNvPr id="15" name="">
            <a:extLst xmlns:a="http://schemas.openxmlformats.org/drawingml/2006/main">
              <a:ext uri="{FF2B5EF4-FFF2-40B4-BE49-F238E27FC236}">
                <a16:creationId xmlns:a16="http://schemas.microsoft.com/office/drawing/2014/main" id="{32D2E06F-D571-40FF-8DF1-C4C536D652A3}"/>
              </a:ext>
            </a:extLst>
          </p:cNvPr>
          <p:cNvSpPr>
            <a:spLocks xmlns:a="http://schemas.openxmlformats.org/drawingml/2006/main" noGrp="1"/>
          </p:cNvSpPr>
          <p:nvPr/>
        </p:nvSpPr>
        <p:spPr>
          <a:xfrm xmlns:a="http://schemas.openxmlformats.org/drawingml/2006/main">
            <a:off x="6229350" y="2438400"/>
            <a:ext cx="400050" cy="247650"/>
          </a:xfrm>
          <a:prstGeom xmlns:a="http://schemas.openxmlformats.org/drawingml/2006/main" prst="roundRect">
            <a:avLst>
              <a:gd name="adj" fmla="val 50000"/>
            </a:avLst>
          </a:prstGeom>
          <a:solidFill xmlns:a="http://schemas.openxmlformats.org/drawingml/2006/main">
            <a:srgbClr val="0F172B"/>
          </a:solidFill>
          <a:ln xmlns:a="http://schemas.openxmlformats.org/drawingml/2006/main" w="0">
            <a:solidFill>
              <a:srgbClr val="0F172B"/>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3</a:t>
            </a:r>
          </a:p>
        </p:txBody>
      </p:sp>
      <p:sp>
        <p:nvSpPr>
          <p:cNvPr id="16" name="">
            <a:extLst xmlns:a="http://schemas.openxmlformats.org/drawingml/2006/main">
              <a:ext uri="{FF2B5EF4-FFF2-40B4-BE49-F238E27FC236}">
                <a16:creationId xmlns:a16="http://schemas.microsoft.com/office/drawing/2014/main" id="{79A38059-0136-420D-BBF2-99894B8E70D5}"/>
              </a:ext>
            </a:extLst>
          </p:cNvPr>
          <p:cNvSpPr>
            <a:spLocks xmlns:a="http://schemas.openxmlformats.org/drawingml/2006/main" noGrp="1"/>
          </p:cNvSpPr>
          <p:nvPr/>
        </p:nvSpPr>
        <p:spPr>
          <a:xfrm xmlns:a="http://schemas.openxmlformats.org/drawingml/2006/main">
            <a:off x="6229350" y="283845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20618"/>
                </a:solidFill>
              </a:defRPr>
            </a:pPr>
            <a:r>
              <a:rPr sz="1425" b="1">
                <a:solidFill>
                  <a:srgbClr val="020618"/>
                </a:solidFill>
              </a:rPr>
              <a:t>Personal</a:t>
            </a:r>
          </a:p>
        </p:txBody>
      </p:sp>
      <p:sp>
        <p:nvSpPr>
          <p:cNvPr id="17" name="">
            <a:extLst xmlns:a="http://schemas.openxmlformats.org/drawingml/2006/main">
              <a:ext uri="{FF2B5EF4-FFF2-40B4-BE49-F238E27FC236}">
                <a16:creationId xmlns:a16="http://schemas.microsoft.com/office/drawing/2014/main" id="{685162D7-AB20-4CBB-8F6B-10812642FEAF}"/>
              </a:ext>
            </a:extLst>
          </p:cNvPr>
          <p:cNvSpPr>
            <a:spLocks xmlns:a="http://schemas.openxmlformats.org/drawingml/2006/main" noGrp="1"/>
          </p:cNvSpPr>
          <p:nvPr/>
        </p:nvSpPr>
        <p:spPr>
          <a:xfrm xmlns:a="http://schemas.openxmlformats.org/drawingml/2006/main">
            <a:off x="6229350" y="3333750"/>
            <a:ext cx="20764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Urmareste evaluari, portofolii si cazuri administrative importante.</a:t>
            </a:r>
          </a:p>
        </p:txBody>
      </p:sp>
      <p:sp>
        <p:nvSpPr>
          <p:cNvPr id="18" name="">
            <a:extLst xmlns:a="http://schemas.openxmlformats.org/drawingml/2006/main">
              <a:ext uri="{FF2B5EF4-FFF2-40B4-BE49-F238E27FC236}">
                <a16:creationId xmlns:a16="http://schemas.microsoft.com/office/drawing/2014/main" id="{D0CB9F9D-E13E-4C55-A2B0-58257F9D2538}"/>
              </a:ext>
            </a:extLst>
          </p:cNvPr>
          <p:cNvSpPr>
            <a:spLocks xmlns:a="http://schemas.openxmlformats.org/drawingml/2006/main" noGrp="1"/>
          </p:cNvSpPr>
          <p:nvPr/>
        </p:nvSpPr>
        <p:spPr>
          <a:xfrm xmlns:a="http://schemas.openxmlformats.org/drawingml/2006/main">
            <a:off x="8858250" y="2286000"/>
            <a:ext cx="2381250" cy="2381250"/>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E2E8F0"/>
            </a:solidFill>
            <a:prstDash val="solid"/>
          </a:ln>
        </p:spPr>
      </p:sp>
      <p:sp>
        <p:nvSpPr>
          <p:cNvPr id="19" name="">
            <a:extLst xmlns:a="http://schemas.openxmlformats.org/drawingml/2006/main">
              <a:ext uri="{FF2B5EF4-FFF2-40B4-BE49-F238E27FC236}">
                <a16:creationId xmlns:a16="http://schemas.microsoft.com/office/drawing/2014/main" id="{D3DAE567-47E9-41C5-BCE6-A04C62CD25F5}"/>
              </a:ext>
            </a:extLst>
          </p:cNvPr>
          <p:cNvSpPr>
            <a:spLocks xmlns:a="http://schemas.openxmlformats.org/drawingml/2006/main" noGrp="1"/>
          </p:cNvSpPr>
          <p:nvPr/>
        </p:nvSpPr>
        <p:spPr>
          <a:xfrm xmlns:a="http://schemas.openxmlformats.org/drawingml/2006/main">
            <a:off x="9010650" y="2438400"/>
            <a:ext cx="400050" cy="247650"/>
          </a:xfrm>
          <a:prstGeom xmlns:a="http://schemas.openxmlformats.org/drawingml/2006/main" prst="roundRect">
            <a:avLst>
              <a:gd name="adj" fmla="val 50000"/>
            </a:avLst>
          </a:prstGeom>
          <a:solidFill xmlns:a="http://schemas.openxmlformats.org/drawingml/2006/main">
            <a:srgbClr val="0F172B"/>
          </a:solidFill>
          <a:ln xmlns:a="http://schemas.openxmlformats.org/drawingml/2006/main" w="0">
            <a:solidFill>
              <a:srgbClr val="0F172B"/>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4</a:t>
            </a:r>
          </a:p>
        </p:txBody>
      </p:sp>
      <p:sp>
        <p:nvSpPr>
          <p:cNvPr id="20" name="">
            <a:extLst xmlns:a="http://schemas.openxmlformats.org/drawingml/2006/main">
              <a:ext uri="{FF2B5EF4-FFF2-40B4-BE49-F238E27FC236}">
                <a16:creationId xmlns:a16="http://schemas.microsoft.com/office/drawing/2014/main" id="{44DE79EC-E9E8-48EA-819F-A053BC6AB882}"/>
              </a:ext>
            </a:extLst>
          </p:cNvPr>
          <p:cNvSpPr>
            <a:spLocks xmlns:a="http://schemas.openxmlformats.org/drawingml/2006/main" noGrp="1"/>
          </p:cNvSpPr>
          <p:nvPr/>
        </p:nvSpPr>
        <p:spPr>
          <a:xfrm xmlns:a="http://schemas.openxmlformats.org/drawingml/2006/main">
            <a:off x="9010650" y="283845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20618"/>
                </a:solidFill>
              </a:defRPr>
            </a:pPr>
            <a:r>
              <a:rPr sz="1425" b="1">
                <a:solidFill>
                  <a:srgbClr val="020618"/>
                </a:solidFill>
              </a:rPr>
              <a:t>Rapoarte</a:t>
            </a:r>
          </a:p>
        </p:txBody>
      </p:sp>
      <p:sp>
        <p:nvSpPr>
          <p:cNvPr id="21" name="">
            <a:extLst xmlns:a="http://schemas.openxmlformats.org/drawingml/2006/main">
              <a:ext uri="{FF2B5EF4-FFF2-40B4-BE49-F238E27FC236}">
                <a16:creationId xmlns:a16="http://schemas.microsoft.com/office/drawing/2014/main" id="{C76AB74E-6070-4C47-9A45-971931E5AD46}"/>
              </a:ext>
            </a:extLst>
          </p:cNvPr>
          <p:cNvSpPr>
            <a:spLocks xmlns:a="http://schemas.openxmlformats.org/drawingml/2006/main" noGrp="1"/>
          </p:cNvSpPr>
          <p:nvPr/>
        </p:nvSpPr>
        <p:spPr>
          <a:xfrm xmlns:a="http://schemas.openxmlformats.org/drawingml/2006/main">
            <a:off x="9010650" y="3333750"/>
            <a:ext cx="20764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Consulta rapoarte standard pentru decizie si raportare.</a:t>
            </a:r>
          </a:p>
        </p:txBody>
      </p:sp>
      <p:sp>
        <p:nvSpPr>
          <p:cNvPr id="22" name="">
            <a:extLst xmlns:a="http://schemas.openxmlformats.org/drawingml/2006/main">
              <a:ext uri="{FF2B5EF4-FFF2-40B4-BE49-F238E27FC236}">
                <a16:creationId xmlns:a16="http://schemas.microsoft.com/office/drawing/2014/main" id="{D06E8E93-65A6-4F5D-BA5D-8B7DB67877FE}"/>
              </a:ext>
            </a:extLst>
          </p:cNvPr>
          <p:cNvSpPr>
            <a:spLocks xmlns:a="http://schemas.openxmlformats.org/drawingml/2006/main" noGrp="1"/>
          </p:cNvSpPr>
          <p:nvPr/>
        </p:nvSpPr>
        <p:spPr>
          <a:xfrm xmlns:a="http://schemas.openxmlformats.org/drawingml/2006/main">
            <a:off x="514350" y="5048250"/>
            <a:ext cx="11163300" cy="104775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E2E8F0"/>
            </a:solidFill>
            <a:prstDash val="solid"/>
          </a:ln>
        </p:spPr>
      </p:sp>
      <p:sp>
        <p:nvSpPr>
          <p:cNvPr id="23" name="">
            <a:extLst xmlns:a="http://schemas.openxmlformats.org/drawingml/2006/main">
              <a:ext uri="{FF2B5EF4-FFF2-40B4-BE49-F238E27FC236}">
                <a16:creationId xmlns:a16="http://schemas.microsoft.com/office/drawing/2014/main" id="{056F7CF0-9386-4A72-8DBE-59A2A0B2136A}"/>
              </a:ext>
            </a:extLst>
          </p:cNvPr>
          <p:cNvSpPr>
            <a:spLocks xmlns:a="http://schemas.openxmlformats.org/drawingml/2006/main" noGrp="1"/>
          </p:cNvSpPr>
          <p:nvPr/>
        </p:nvSpPr>
        <p:spPr>
          <a:xfrm xmlns:a="http://schemas.openxmlformats.org/drawingml/2006/main">
            <a:off x="666750" y="518160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Rezultatul final pentru utilizator</a:t>
            </a:r>
          </a:p>
        </p:txBody>
      </p:sp>
      <p:sp>
        <p:nvSpPr>
          <p:cNvPr id="24" name="">
            <a:extLst xmlns:a="http://schemas.openxmlformats.org/drawingml/2006/main">
              <a:ext uri="{FF2B5EF4-FFF2-40B4-BE49-F238E27FC236}">
                <a16:creationId xmlns:a16="http://schemas.microsoft.com/office/drawing/2014/main" id="{2F71C860-1A4E-4C41-9F5A-EBEC0894C7FC}"/>
              </a:ext>
            </a:extLst>
          </p:cNvPr>
          <p:cNvSpPr>
            <a:spLocks xmlns:a="http://schemas.openxmlformats.org/drawingml/2006/main" noGrp="1"/>
          </p:cNvSpPr>
          <p:nvPr/>
        </p:nvSpPr>
        <p:spPr>
          <a:xfrm xmlns:a="http://schemas.openxmlformats.org/drawingml/2006/main">
            <a:off x="666750" y="5543550"/>
            <a:ext cx="1085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Directorul vede rapid unde trebuie sa intervina si ce documente trebuie finalizate. Acest parcurs arata ordinea fireasca in care utilizatorul poate lucra, fara sa piarda contextul intre module si fara sa dubleze informatia in afara aplicatiei.</a:t>
            </a:r>
          </a:p>
        </p:txBody>
      </p:sp>
      <p:sp>
        <p:nvSpPr>
          <p:cNvPr id="25" name="">
            <a:extLst xmlns:a="http://schemas.openxmlformats.org/drawingml/2006/main">
              <a:ext uri="{FF2B5EF4-FFF2-40B4-BE49-F238E27FC236}">
                <a16:creationId xmlns:a16="http://schemas.microsoft.com/office/drawing/2014/main" id="{D97C6745-9815-482C-AD61-7763F94FCB41}"/>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26" name="">
            <a:extLst xmlns:a="http://schemas.openxmlformats.org/drawingml/2006/main">
              <a:ext uri="{FF2B5EF4-FFF2-40B4-BE49-F238E27FC236}">
                <a16:creationId xmlns:a16="http://schemas.microsoft.com/office/drawing/2014/main" id="{64499AA2-465E-4BF8-809C-388FE38B76A0}"/>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Parcurs pe rol - director</a:t>
            </a:r>
          </a:p>
        </p:txBody>
      </p:sp>
    </p:spTree>
    <p:extLst>
      <p:ext uri="{BB962C8B-B14F-4D97-AF65-F5344CB8AC3E}">
        <p14:creationId xmlns:p14="http://schemas.microsoft.com/office/powerpoint/2010/main" val="421275423"/>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3DE2139-C67E-4EFD-A75C-C29151EFB58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79A345F9-8208-4AF5-B4A7-C032367E7913}"/>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Parcurs pe rol</a:t>
            </a:r>
          </a:p>
        </p:txBody>
      </p:sp>
      <p:sp>
        <p:nvSpPr>
          <p:cNvPr id="3" name="">
            <a:extLst xmlns:a="http://schemas.openxmlformats.org/drawingml/2006/main">
              <a:ext uri="{FF2B5EF4-FFF2-40B4-BE49-F238E27FC236}">
                <a16:creationId xmlns:a16="http://schemas.microsoft.com/office/drawing/2014/main" id="{8BD05DA3-E754-4A94-BD30-D92960FB285B}"/>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Scenariu complet - secretariat</a:t>
            </a:r>
          </a:p>
        </p:txBody>
      </p:sp>
      <p:sp>
        <p:nvSpPr>
          <p:cNvPr id="4" name="">
            <a:extLst xmlns:a="http://schemas.openxmlformats.org/drawingml/2006/main">
              <a:ext uri="{FF2B5EF4-FFF2-40B4-BE49-F238E27FC236}">
                <a16:creationId xmlns:a16="http://schemas.microsoft.com/office/drawing/2014/main" id="{4460F476-0660-4507-ADA5-CD02731F7279}"/>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57</a:t>
            </a:r>
          </a:p>
        </p:txBody>
      </p:sp>
      <p:sp>
        <p:nvSpPr>
          <p:cNvPr id="5" name="">
            <a:extLst xmlns:a="http://schemas.openxmlformats.org/drawingml/2006/main">
              <a:ext uri="{FF2B5EF4-FFF2-40B4-BE49-F238E27FC236}">
                <a16:creationId xmlns:a16="http://schemas.microsoft.com/office/drawing/2014/main" id="{E7437EAB-8C89-4996-908B-9997617C1140}"/>
              </a:ext>
            </a:extLst>
          </p:cNvPr>
          <p:cNvSpPr>
            <a:spLocks xmlns:a="http://schemas.openxmlformats.org/drawingml/2006/main" noGrp="1"/>
          </p:cNvSpPr>
          <p:nvPr/>
        </p:nvSpPr>
        <p:spPr>
          <a:xfrm xmlns:a="http://schemas.openxmlformats.org/drawingml/2006/main">
            <a:off x="514350" y="1123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Secretariatul foloseste aplicatia pentru pregatire, evidenta, trimitere in flux si controlul documentelor rezultate.</a:t>
            </a:r>
          </a:p>
        </p:txBody>
      </p:sp>
      <p:sp>
        <p:nvSpPr>
          <p:cNvPr id="6" name="">
            <a:extLst xmlns:a="http://schemas.openxmlformats.org/drawingml/2006/main">
              <a:ext uri="{FF2B5EF4-FFF2-40B4-BE49-F238E27FC236}">
                <a16:creationId xmlns:a16="http://schemas.microsoft.com/office/drawing/2014/main" id="{D46E7C61-9054-4974-8BF9-4EE9D3639F26}"/>
              </a:ext>
            </a:extLst>
          </p:cNvPr>
          <p:cNvSpPr>
            <a:spLocks xmlns:a="http://schemas.openxmlformats.org/drawingml/2006/main" noGrp="1"/>
          </p:cNvSpPr>
          <p:nvPr/>
        </p:nvSpPr>
        <p:spPr>
          <a:xfrm xmlns:a="http://schemas.openxmlformats.org/drawingml/2006/main">
            <a:off x="514350" y="2286000"/>
            <a:ext cx="2381250" cy="2381250"/>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634F7918-2534-435C-B6BD-F51ED3A9393F}"/>
              </a:ext>
            </a:extLst>
          </p:cNvPr>
          <p:cNvSpPr>
            <a:spLocks xmlns:a="http://schemas.openxmlformats.org/drawingml/2006/main" noGrp="1"/>
          </p:cNvSpPr>
          <p:nvPr/>
        </p:nvSpPr>
        <p:spPr>
          <a:xfrm xmlns:a="http://schemas.openxmlformats.org/drawingml/2006/main">
            <a:off x="666750" y="2438400"/>
            <a:ext cx="400050" cy="247650"/>
          </a:xfrm>
          <a:prstGeom xmlns:a="http://schemas.openxmlformats.org/drawingml/2006/main" prst="roundRect">
            <a:avLst>
              <a:gd name="adj" fmla="val 50000"/>
            </a:avLst>
          </a:prstGeom>
          <a:solidFill xmlns:a="http://schemas.openxmlformats.org/drawingml/2006/main">
            <a:srgbClr val="0F172B"/>
          </a:solidFill>
          <a:ln xmlns:a="http://schemas.openxmlformats.org/drawingml/2006/main" w="0">
            <a:solidFill>
              <a:srgbClr val="0F172B"/>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1</a:t>
            </a:r>
          </a:p>
        </p:txBody>
      </p:sp>
      <p:sp>
        <p:nvSpPr>
          <p:cNvPr id="8" name="">
            <a:extLst xmlns:a="http://schemas.openxmlformats.org/drawingml/2006/main">
              <a:ext uri="{FF2B5EF4-FFF2-40B4-BE49-F238E27FC236}">
                <a16:creationId xmlns:a16="http://schemas.microsoft.com/office/drawing/2014/main" id="{1867FFC5-BFA5-4022-9E4B-C3531AE21E64}"/>
              </a:ext>
            </a:extLst>
          </p:cNvPr>
          <p:cNvSpPr>
            <a:spLocks xmlns:a="http://schemas.openxmlformats.org/drawingml/2006/main" noGrp="1"/>
          </p:cNvSpPr>
          <p:nvPr/>
        </p:nvSpPr>
        <p:spPr>
          <a:xfrm xmlns:a="http://schemas.openxmlformats.org/drawingml/2006/main">
            <a:off x="666750" y="283845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20618"/>
                </a:solidFill>
              </a:defRPr>
            </a:pPr>
            <a:r>
              <a:rPr sz="1425" b="1">
                <a:solidFill>
                  <a:srgbClr val="020618"/>
                </a:solidFill>
              </a:rPr>
              <a:t>Cockpit</a:t>
            </a:r>
          </a:p>
        </p:txBody>
      </p:sp>
      <p:sp>
        <p:nvSpPr>
          <p:cNvPr id="9" name="">
            <a:extLst xmlns:a="http://schemas.openxmlformats.org/drawingml/2006/main">
              <a:ext uri="{FF2B5EF4-FFF2-40B4-BE49-F238E27FC236}">
                <a16:creationId xmlns:a16="http://schemas.microsoft.com/office/drawing/2014/main" id="{67074E63-8732-449C-8493-882984974838}"/>
              </a:ext>
            </a:extLst>
          </p:cNvPr>
          <p:cNvSpPr>
            <a:spLocks xmlns:a="http://schemas.openxmlformats.org/drawingml/2006/main" noGrp="1"/>
          </p:cNvSpPr>
          <p:nvPr/>
        </p:nvSpPr>
        <p:spPr>
          <a:xfrm xmlns:a="http://schemas.openxmlformats.org/drawingml/2006/main">
            <a:off x="666750" y="3333750"/>
            <a:ext cx="20764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Vede ce sedinte, dosare sau portofolii sunt active.</a:t>
            </a:r>
          </a:p>
        </p:txBody>
      </p:sp>
      <p:sp>
        <p:nvSpPr>
          <p:cNvPr id="10" name="">
            <a:extLst xmlns:a="http://schemas.openxmlformats.org/drawingml/2006/main">
              <a:ext uri="{FF2B5EF4-FFF2-40B4-BE49-F238E27FC236}">
                <a16:creationId xmlns:a16="http://schemas.microsoft.com/office/drawing/2014/main" id="{80C4F641-4705-427E-99B8-DBEA5A953878}"/>
              </a:ext>
            </a:extLst>
          </p:cNvPr>
          <p:cNvSpPr>
            <a:spLocks xmlns:a="http://schemas.openxmlformats.org/drawingml/2006/main" noGrp="1"/>
          </p:cNvSpPr>
          <p:nvPr/>
        </p:nvSpPr>
        <p:spPr>
          <a:xfrm xmlns:a="http://schemas.openxmlformats.org/drawingml/2006/main">
            <a:off x="3295650" y="2286000"/>
            <a:ext cx="2381250" cy="2381250"/>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E2E8F0"/>
            </a:solidFill>
            <a:prstDash val="solid"/>
          </a:ln>
        </p:spPr>
      </p:sp>
      <p:sp>
        <p:nvSpPr>
          <p:cNvPr id="11" name="">
            <a:extLst xmlns:a="http://schemas.openxmlformats.org/drawingml/2006/main">
              <a:ext uri="{FF2B5EF4-FFF2-40B4-BE49-F238E27FC236}">
                <a16:creationId xmlns:a16="http://schemas.microsoft.com/office/drawing/2014/main" id="{F7DFE67A-FE19-494B-BAD6-F8BDA2A5D290}"/>
              </a:ext>
            </a:extLst>
          </p:cNvPr>
          <p:cNvSpPr>
            <a:spLocks xmlns:a="http://schemas.openxmlformats.org/drawingml/2006/main" noGrp="1"/>
          </p:cNvSpPr>
          <p:nvPr/>
        </p:nvSpPr>
        <p:spPr>
          <a:xfrm xmlns:a="http://schemas.openxmlformats.org/drawingml/2006/main">
            <a:off x="3448050" y="2438400"/>
            <a:ext cx="400050" cy="247650"/>
          </a:xfrm>
          <a:prstGeom xmlns:a="http://schemas.openxmlformats.org/drawingml/2006/main" prst="roundRect">
            <a:avLst>
              <a:gd name="adj" fmla="val 50000"/>
            </a:avLst>
          </a:prstGeom>
          <a:solidFill xmlns:a="http://schemas.openxmlformats.org/drawingml/2006/main">
            <a:srgbClr val="0F172B"/>
          </a:solidFill>
          <a:ln xmlns:a="http://schemas.openxmlformats.org/drawingml/2006/main" w="0">
            <a:solidFill>
              <a:srgbClr val="0F172B"/>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2</a:t>
            </a:r>
          </a:p>
        </p:txBody>
      </p:sp>
      <p:sp>
        <p:nvSpPr>
          <p:cNvPr id="12" name="">
            <a:extLst xmlns:a="http://schemas.openxmlformats.org/drawingml/2006/main">
              <a:ext uri="{FF2B5EF4-FFF2-40B4-BE49-F238E27FC236}">
                <a16:creationId xmlns:a16="http://schemas.microsoft.com/office/drawing/2014/main" id="{6F47A8CB-B201-418B-9D93-F4600E87D216}"/>
              </a:ext>
            </a:extLst>
          </p:cNvPr>
          <p:cNvSpPr>
            <a:spLocks xmlns:a="http://schemas.openxmlformats.org/drawingml/2006/main" noGrp="1"/>
          </p:cNvSpPr>
          <p:nvPr/>
        </p:nvSpPr>
        <p:spPr>
          <a:xfrm xmlns:a="http://schemas.openxmlformats.org/drawingml/2006/main">
            <a:off x="3448050" y="283845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20618"/>
                </a:solidFill>
              </a:defRPr>
            </a:pPr>
            <a:r>
              <a:rPr sz="1425" b="1">
                <a:solidFill>
                  <a:srgbClr val="020618"/>
                </a:solidFill>
              </a:rPr>
              <a:t>Guvernanta</a:t>
            </a:r>
          </a:p>
        </p:txBody>
      </p:sp>
      <p:sp>
        <p:nvSpPr>
          <p:cNvPr id="13" name="">
            <a:extLst xmlns:a="http://schemas.openxmlformats.org/drawingml/2006/main">
              <a:ext uri="{FF2B5EF4-FFF2-40B4-BE49-F238E27FC236}">
                <a16:creationId xmlns:a16="http://schemas.microsoft.com/office/drawing/2014/main" id="{E776F251-9D81-4C78-822A-C9FA1E75E803}"/>
              </a:ext>
            </a:extLst>
          </p:cNvPr>
          <p:cNvSpPr>
            <a:spLocks xmlns:a="http://schemas.openxmlformats.org/drawingml/2006/main" noGrp="1"/>
          </p:cNvSpPr>
          <p:nvPr/>
        </p:nvSpPr>
        <p:spPr>
          <a:xfrm xmlns:a="http://schemas.openxmlformats.org/drawingml/2006/main">
            <a:off x="3448050" y="3333750"/>
            <a:ext cx="20764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Pregateste sedinte, minute, hotarari si documente manageriale.</a:t>
            </a:r>
          </a:p>
        </p:txBody>
      </p:sp>
      <p:sp>
        <p:nvSpPr>
          <p:cNvPr id="14" name="">
            <a:extLst xmlns:a="http://schemas.openxmlformats.org/drawingml/2006/main">
              <a:ext uri="{FF2B5EF4-FFF2-40B4-BE49-F238E27FC236}">
                <a16:creationId xmlns:a16="http://schemas.microsoft.com/office/drawing/2014/main" id="{9043B331-930B-4B01-9A1A-91979E436D74}"/>
              </a:ext>
            </a:extLst>
          </p:cNvPr>
          <p:cNvSpPr>
            <a:spLocks xmlns:a="http://schemas.openxmlformats.org/drawingml/2006/main" noGrp="1"/>
          </p:cNvSpPr>
          <p:nvPr/>
        </p:nvSpPr>
        <p:spPr>
          <a:xfrm xmlns:a="http://schemas.openxmlformats.org/drawingml/2006/main">
            <a:off x="6076950" y="2286000"/>
            <a:ext cx="2381250" cy="2381250"/>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E2E8F0"/>
            </a:solidFill>
            <a:prstDash val="solid"/>
          </a:ln>
        </p:spPr>
      </p:sp>
      <p:sp>
        <p:nvSpPr>
          <p:cNvPr id="15" name="">
            <a:extLst xmlns:a="http://schemas.openxmlformats.org/drawingml/2006/main">
              <a:ext uri="{FF2B5EF4-FFF2-40B4-BE49-F238E27FC236}">
                <a16:creationId xmlns:a16="http://schemas.microsoft.com/office/drawing/2014/main" id="{49633CF4-2D54-4E8A-880B-817D1A21E490}"/>
              </a:ext>
            </a:extLst>
          </p:cNvPr>
          <p:cNvSpPr>
            <a:spLocks xmlns:a="http://schemas.openxmlformats.org/drawingml/2006/main" noGrp="1"/>
          </p:cNvSpPr>
          <p:nvPr/>
        </p:nvSpPr>
        <p:spPr>
          <a:xfrm xmlns:a="http://schemas.openxmlformats.org/drawingml/2006/main">
            <a:off x="6229350" y="2438400"/>
            <a:ext cx="400050" cy="247650"/>
          </a:xfrm>
          <a:prstGeom xmlns:a="http://schemas.openxmlformats.org/drawingml/2006/main" prst="roundRect">
            <a:avLst>
              <a:gd name="adj" fmla="val 50000"/>
            </a:avLst>
          </a:prstGeom>
          <a:solidFill xmlns:a="http://schemas.openxmlformats.org/drawingml/2006/main">
            <a:srgbClr val="0F172B"/>
          </a:solidFill>
          <a:ln xmlns:a="http://schemas.openxmlformats.org/drawingml/2006/main" w="0">
            <a:solidFill>
              <a:srgbClr val="0F172B"/>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3</a:t>
            </a:r>
          </a:p>
        </p:txBody>
      </p:sp>
      <p:sp>
        <p:nvSpPr>
          <p:cNvPr id="16" name="">
            <a:extLst xmlns:a="http://schemas.openxmlformats.org/drawingml/2006/main">
              <a:ext uri="{FF2B5EF4-FFF2-40B4-BE49-F238E27FC236}">
                <a16:creationId xmlns:a16="http://schemas.microsoft.com/office/drawing/2014/main" id="{55DFD811-B0F3-4CC5-95DE-AA9FCFD6BBF5}"/>
              </a:ext>
            </a:extLst>
          </p:cNvPr>
          <p:cNvSpPr>
            <a:spLocks xmlns:a="http://schemas.openxmlformats.org/drawingml/2006/main" noGrp="1"/>
          </p:cNvSpPr>
          <p:nvPr/>
        </p:nvSpPr>
        <p:spPr>
          <a:xfrm xmlns:a="http://schemas.openxmlformats.org/drawingml/2006/main">
            <a:off x="6229350" y="283845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20618"/>
                </a:solidFill>
              </a:defRPr>
            </a:pPr>
            <a:r>
              <a:rPr sz="1425" b="1">
                <a:solidFill>
                  <a:srgbClr val="020618"/>
                </a:solidFill>
              </a:rPr>
              <a:t>Personal</a:t>
            </a:r>
          </a:p>
        </p:txBody>
      </p:sp>
      <p:sp>
        <p:nvSpPr>
          <p:cNvPr id="17" name="">
            <a:extLst xmlns:a="http://schemas.openxmlformats.org/drawingml/2006/main">
              <a:ext uri="{FF2B5EF4-FFF2-40B4-BE49-F238E27FC236}">
                <a16:creationId xmlns:a16="http://schemas.microsoft.com/office/drawing/2014/main" id="{CA07951C-EFE2-4472-9253-762A098DAB7A}"/>
              </a:ext>
            </a:extLst>
          </p:cNvPr>
          <p:cNvSpPr>
            <a:spLocks xmlns:a="http://schemas.openxmlformats.org/drawingml/2006/main" noGrp="1"/>
          </p:cNvSpPr>
          <p:nvPr/>
        </p:nvSpPr>
        <p:spPr>
          <a:xfrm xmlns:a="http://schemas.openxmlformats.org/drawingml/2006/main">
            <a:off x="6229350" y="3333750"/>
            <a:ext cx="20764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Administreaza fise, declaratii si alte inregistrari de personal.</a:t>
            </a:r>
          </a:p>
        </p:txBody>
      </p:sp>
      <p:sp>
        <p:nvSpPr>
          <p:cNvPr id="18" name="">
            <a:extLst xmlns:a="http://schemas.openxmlformats.org/drawingml/2006/main">
              <a:ext uri="{FF2B5EF4-FFF2-40B4-BE49-F238E27FC236}">
                <a16:creationId xmlns:a16="http://schemas.microsoft.com/office/drawing/2014/main" id="{0DA70B1B-5B27-4589-BBAB-C2DC9D0D7F08}"/>
              </a:ext>
            </a:extLst>
          </p:cNvPr>
          <p:cNvSpPr>
            <a:spLocks xmlns:a="http://schemas.openxmlformats.org/drawingml/2006/main" noGrp="1"/>
          </p:cNvSpPr>
          <p:nvPr/>
        </p:nvSpPr>
        <p:spPr>
          <a:xfrm xmlns:a="http://schemas.openxmlformats.org/drawingml/2006/main">
            <a:off x="8858250" y="2286000"/>
            <a:ext cx="2381250" cy="2381250"/>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E2E8F0"/>
            </a:solidFill>
            <a:prstDash val="solid"/>
          </a:ln>
        </p:spPr>
      </p:sp>
      <p:sp>
        <p:nvSpPr>
          <p:cNvPr id="19" name="">
            <a:extLst xmlns:a="http://schemas.openxmlformats.org/drawingml/2006/main">
              <a:ext uri="{FF2B5EF4-FFF2-40B4-BE49-F238E27FC236}">
                <a16:creationId xmlns:a16="http://schemas.microsoft.com/office/drawing/2014/main" id="{65F54874-A622-4757-83B6-7D4A7411FEED}"/>
              </a:ext>
            </a:extLst>
          </p:cNvPr>
          <p:cNvSpPr>
            <a:spLocks xmlns:a="http://schemas.openxmlformats.org/drawingml/2006/main" noGrp="1"/>
          </p:cNvSpPr>
          <p:nvPr/>
        </p:nvSpPr>
        <p:spPr>
          <a:xfrm xmlns:a="http://schemas.openxmlformats.org/drawingml/2006/main">
            <a:off x="9010650" y="2438400"/>
            <a:ext cx="400050" cy="247650"/>
          </a:xfrm>
          <a:prstGeom xmlns:a="http://schemas.openxmlformats.org/drawingml/2006/main" prst="roundRect">
            <a:avLst>
              <a:gd name="adj" fmla="val 50000"/>
            </a:avLst>
          </a:prstGeom>
          <a:solidFill xmlns:a="http://schemas.openxmlformats.org/drawingml/2006/main">
            <a:srgbClr val="0F172B"/>
          </a:solidFill>
          <a:ln xmlns:a="http://schemas.openxmlformats.org/drawingml/2006/main" w="0">
            <a:solidFill>
              <a:srgbClr val="0F172B"/>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4</a:t>
            </a:r>
          </a:p>
        </p:txBody>
      </p:sp>
      <p:sp>
        <p:nvSpPr>
          <p:cNvPr id="20" name="">
            <a:extLst xmlns:a="http://schemas.openxmlformats.org/drawingml/2006/main">
              <a:ext uri="{FF2B5EF4-FFF2-40B4-BE49-F238E27FC236}">
                <a16:creationId xmlns:a16="http://schemas.microsoft.com/office/drawing/2014/main" id="{4E4C7E6B-584C-4F34-BE88-AF91BC53EFDF}"/>
              </a:ext>
            </a:extLst>
          </p:cNvPr>
          <p:cNvSpPr>
            <a:spLocks xmlns:a="http://schemas.openxmlformats.org/drawingml/2006/main" noGrp="1"/>
          </p:cNvSpPr>
          <p:nvPr/>
        </p:nvSpPr>
        <p:spPr>
          <a:xfrm xmlns:a="http://schemas.openxmlformats.org/drawingml/2006/main">
            <a:off x="9010650" y="283845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20618"/>
                </a:solidFill>
              </a:defRPr>
            </a:pPr>
            <a:r>
              <a:rPr sz="1425" b="1">
                <a:solidFill>
                  <a:srgbClr val="020618"/>
                </a:solidFill>
              </a:rPr>
              <a:t>Portofolii</a:t>
            </a:r>
          </a:p>
        </p:txBody>
      </p:sp>
      <p:sp>
        <p:nvSpPr>
          <p:cNvPr id="21" name="">
            <a:extLst xmlns:a="http://schemas.openxmlformats.org/drawingml/2006/main">
              <a:ext uri="{FF2B5EF4-FFF2-40B4-BE49-F238E27FC236}">
                <a16:creationId xmlns:a16="http://schemas.microsoft.com/office/drawing/2014/main" id="{3C93FAD7-064B-44B6-BD04-F2769DA998B4}"/>
              </a:ext>
            </a:extLst>
          </p:cNvPr>
          <p:cNvSpPr>
            <a:spLocks xmlns:a="http://schemas.openxmlformats.org/drawingml/2006/main" noGrp="1"/>
          </p:cNvSpPr>
          <p:nvPr/>
        </p:nvSpPr>
        <p:spPr>
          <a:xfrm xmlns:a="http://schemas.openxmlformats.org/drawingml/2006/main">
            <a:off x="9010650" y="3333750"/>
            <a:ext cx="20764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Controleaza starea, descrierea si transferul portofoliilor.</a:t>
            </a:r>
          </a:p>
        </p:txBody>
      </p:sp>
      <p:sp>
        <p:nvSpPr>
          <p:cNvPr id="22" name="">
            <a:extLst xmlns:a="http://schemas.openxmlformats.org/drawingml/2006/main">
              <a:ext uri="{FF2B5EF4-FFF2-40B4-BE49-F238E27FC236}">
                <a16:creationId xmlns:a16="http://schemas.microsoft.com/office/drawing/2014/main" id="{0F6042E4-9721-45AF-9BF9-BA60523A2783}"/>
              </a:ext>
            </a:extLst>
          </p:cNvPr>
          <p:cNvSpPr>
            <a:spLocks xmlns:a="http://schemas.openxmlformats.org/drawingml/2006/main" noGrp="1"/>
          </p:cNvSpPr>
          <p:nvPr/>
        </p:nvSpPr>
        <p:spPr>
          <a:xfrm xmlns:a="http://schemas.openxmlformats.org/drawingml/2006/main">
            <a:off x="514350" y="5048250"/>
            <a:ext cx="11163300" cy="104775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E2E8F0"/>
            </a:solidFill>
            <a:prstDash val="solid"/>
          </a:ln>
        </p:spPr>
      </p:sp>
      <p:sp>
        <p:nvSpPr>
          <p:cNvPr id="23" name="">
            <a:extLst xmlns:a="http://schemas.openxmlformats.org/drawingml/2006/main">
              <a:ext uri="{FF2B5EF4-FFF2-40B4-BE49-F238E27FC236}">
                <a16:creationId xmlns:a16="http://schemas.microsoft.com/office/drawing/2014/main" id="{3776F0F1-88D1-47C5-B1DD-3F4C41AF5890}"/>
              </a:ext>
            </a:extLst>
          </p:cNvPr>
          <p:cNvSpPr>
            <a:spLocks xmlns:a="http://schemas.openxmlformats.org/drawingml/2006/main" noGrp="1"/>
          </p:cNvSpPr>
          <p:nvPr/>
        </p:nvSpPr>
        <p:spPr>
          <a:xfrm xmlns:a="http://schemas.openxmlformats.org/drawingml/2006/main">
            <a:off x="666750" y="518160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Rezultatul final pentru utilizator</a:t>
            </a:r>
          </a:p>
        </p:txBody>
      </p:sp>
      <p:sp>
        <p:nvSpPr>
          <p:cNvPr id="24" name="">
            <a:extLst xmlns:a="http://schemas.openxmlformats.org/drawingml/2006/main">
              <a:ext uri="{FF2B5EF4-FFF2-40B4-BE49-F238E27FC236}">
                <a16:creationId xmlns:a16="http://schemas.microsoft.com/office/drawing/2014/main" id="{70BF6AEC-B0B0-4D3F-A95F-95BFB3814B73}"/>
              </a:ext>
            </a:extLst>
          </p:cNvPr>
          <p:cNvSpPr>
            <a:spLocks xmlns:a="http://schemas.openxmlformats.org/drawingml/2006/main" noGrp="1"/>
          </p:cNvSpPr>
          <p:nvPr/>
        </p:nvSpPr>
        <p:spPr>
          <a:xfrm xmlns:a="http://schemas.openxmlformats.org/drawingml/2006/main">
            <a:off x="666750" y="5543550"/>
            <a:ext cx="1085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Secretariatul pastreaza ordinea operationala a scolii fara a dubla informatia in afara sistemului. Acest parcurs arata ordinea fireasca in care utilizatorul poate lucra, fara sa piarda contextul intre module si fara sa dubleze informatia in afara aplicatiei.</a:t>
            </a:r>
          </a:p>
        </p:txBody>
      </p:sp>
      <p:sp>
        <p:nvSpPr>
          <p:cNvPr id="25" name="">
            <a:extLst xmlns:a="http://schemas.openxmlformats.org/drawingml/2006/main">
              <a:ext uri="{FF2B5EF4-FFF2-40B4-BE49-F238E27FC236}">
                <a16:creationId xmlns:a16="http://schemas.microsoft.com/office/drawing/2014/main" id="{1421FFDB-2C9C-4DF8-9A5C-CEBF311285F0}"/>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26" name="">
            <a:extLst xmlns:a="http://schemas.openxmlformats.org/drawingml/2006/main">
              <a:ext uri="{FF2B5EF4-FFF2-40B4-BE49-F238E27FC236}">
                <a16:creationId xmlns:a16="http://schemas.microsoft.com/office/drawing/2014/main" id="{BD4F7E22-7B2B-41B8-9AEA-A6C9A47EE73B}"/>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Parcurs pe rol - secretariat</a:t>
            </a:r>
          </a:p>
        </p:txBody>
      </p:sp>
    </p:spTree>
    <p:extLst>
      <p:ext uri="{BB962C8B-B14F-4D97-AF65-F5344CB8AC3E}">
        <p14:creationId xmlns:p14="http://schemas.microsoft.com/office/powerpoint/2010/main" val="2116521203"/>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DE3B55F-0746-4C38-91E1-0E47E9DA3BC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2AB777BD-032B-4898-AD8D-7E28DA4064F8}"/>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Parcurs pe rol</a:t>
            </a:r>
          </a:p>
        </p:txBody>
      </p:sp>
      <p:sp>
        <p:nvSpPr>
          <p:cNvPr id="3" name="">
            <a:extLst xmlns:a="http://schemas.openxmlformats.org/drawingml/2006/main">
              <a:ext uri="{FF2B5EF4-FFF2-40B4-BE49-F238E27FC236}">
                <a16:creationId xmlns:a16="http://schemas.microsoft.com/office/drawing/2014/main" id="{0F7E2449-5644-4E8D-ABD8-70949164C4ED}"/>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Scenariu complet - registratura si arhiva</a:t>
            </a:r>
          </a:p>
        </p:txBody>
      </p:sp>
      <p:sp>
        <p:nvSpPr>
          <p:cNvPr id="4" name="">
            <a:extLst xmlns:a="http://schemas.openxmlformats.org/drawingml/2006/main">
              <a:ext uri="{FF2B5EF4-FFF2-40B4-BE49-F238E27FC236}">
                <a16:creationId xmlns:a16="http://schemas.microsoft.com/office/drawing/2014/main" id="{A3E00504-8DF1-4752-A10F-F6B866AECFEE}"/>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58</a:t>
            </a:r>
          </a:p>
        </p:txBody>
      </p:sp>
      <p:sp>
        <p:nvSpPr>
          <p:cNvPr id="5" name="">
            <a:extLst xmlns:a="http://schemas.openxmlformats.org/drawingml/2006/main">
              <a:ext uri="{FF2B5EF4-FFF2-40B4-BE49-F238E27FC236}">
                <a16:creationId xmlns:a16="http://schemas.microsoft.com/office/drawing/2014/main" id="{57C2FC1A-87B3-4319-B0C4-09C3346BE2CB}"/>
              </a:ext>
            </a:extLst>
          </p:cNvPr>
          <p:cNvSpPr>
            <a:spLocks xmlns:a="http://schemas.openxmlformats.org/drawingml/2006/main" noGrp="1"/>
          </p:cNvSpPr>
          <p:nvPr/>
        </p:nvSpPr>
        <p:spPr>
          <a:xfrm xmlns:a="http://schemas.openxmlformats.org/drawingml/2006/main">
            <a:off x="514350" y="1123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Pentru zona administrativa, aplicatia acopera toata viata documentului, de la intrare pana la arhivare.</a:t>
            </a:r>
          </a:p>
        </p:txBody>
      </p:sp>
      <p:sp>
        <p:nvSpPr>
          <p:cNvPr id="6" name="">
            <a:extLst xmlns:a="http://schemas.openxmlformats.org/drawingml/2006/main">
              <a:ext uri="{FF2B5EF4-FFF2-40B4-BE49-F238E27FC236}">
                <a16:creationId xmlns:a16="http://schemas.microsoft.com/office/drawing/2014/main" id="{4FA9A129-96FA-441C-AECA-7259A688075E}"/>
              </a:ext>
            </a:extLst>
          </p:cNvPr>
          <p:cNvSpPr>
            <a:spLocks xmlns:a="http://schemas.openxmlformats.org/drawingml/2006/main" noGrp="1"/>
          </p:cNvSpPr>
          <p:nvPr/>
        </p:nvSpPr>
        <p:spPr>
          <a:xfrm xmlns:a="http://schemas.openxmlformats.org/drawingml/2006/main">
            <a:off x="514350" y="2286000"/>
            <a:ext cx="2381250" cy="2381250"/>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B43164DE-47E2-4F98-846D-9BB03E99FAD5}"/>
              </a:ext>
            </a:extLst>
          </p:cNvPr>
          <p:cNvSpPr>
            <a:spLocks xmlns:a="http://schemas.openxmlformats.org/drawingml/2006/main" noGrp="1"/>
          </p:cNvSpPr>
          <p:nvPr/>
        </p:nvSpPr>
        <p:spPr>
          <a:xfrm xmlns:a="http://schemas.openxmlformats.org/drawingml/2006/main">
            <a:off x="666750" y="2438400"/>
            <a:ext cx="400050" cy="247650"/>
          </a:xfrm>
          <a:prstGeom xmlns:a="http://schemas.openxmlformats.org/drawingml/2006/main" prst="roundRect">
            <a:avLst>
              <a:gd name="adj" fmla="val 50000"/>
            </a:avLst>
          </a:prstGeom>
          <a:solidFill xmlns:a="http://schemas.openxmlformats.org/drawingml/2006/main">
            <a:srgbClr val="0F172B"/>
          </a:solidFill>
          <a:ln xmlns:a="http://schemas.openxmlformats.org/drawingml/2006/main" w="0">
            <a:solidFill>
              <a:srgbClr val="0F172B"/>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1</a:t>
            </a:r>
          </a:p>
        </p:txBody>
      </p:sp>
      <p:sp>
        <p:nvSpPr>
          <p:cNvPr id="8" name="">
            <a:extLst xmlns:a="http://schemas.openxmlformats.org/drawingml/2006/main">
              <a:ext uri="{FF2B5EF4-FFF2-40B4-BE49-F238E27FC236}">
                <a16:creationId xmlns:a16="http://schemas.microsoft.com/office/drawing/2014/main" id="{A54B1E07-9A7B-439E-91D3-7FABAC37D351}"/>
              </a:ext>
            </a:extLst>
          </p:cNvPr>
          <p:cNvSpPr>
            <a:spLocks xmlns:a="http://schemas.openxmlformats.org/drawingml/2006/main" noGrp="1"/>
          </p:cNvSpPr>
          <p:nvPr/>
        </p:nvSpPr>
        <p:spPr>
          <a:xfrm xmlns:a="http://schemas.openxmlformats.org/drawingml/2006/main">
            <a:off x="666750" y="283845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20618"/>
                </a:solidFill>
              </a:defRPr>
            </a:pPr>
            <a:r>
              <a:rPr sz="1425" b="1">
                <a:solidFill>
                  <a:srgbClr val="020618"/>
                </a:solidFill>
              </a:rPr>
              <a:t>Inregistrare</a:t>
            </a:r>
          </a:p>
        </p:txBody>
      </p:sp>
      <p:sp>
        <p:nvSpPr>
          <p:cNvPr id="9" name="">
            <a:extLst xmlns:a="http://schemas.openxmlformats.org/drawingml/2006/main">
              <a:ext uri="{FF2B5EF4-FFF2-40B4-BE49-F238E27FC236}">
                <a16:creationId xmlns:a16="http://schemas.microsoft.com/office/drawing/2014/main" id="{92436596-6AB9-4622-ADB1-A8229D8A197B}"/>
              </a:ext>
            </a:extLst>
          </p:cNvPr>
          <p:cNvSpPr>
            <a:spLocks xmlns:a="http://schemas.openxmlformats.org/drawingml/2006/main" noGrp="1"/>
          </p:cNvSpPr>
          <p:nvPr/>
        </p:nvSpPr>
        <p:spPr>
          <a:xfrm xmlns:a="http://schemas.openxmlformats.org/drawingml/2006/main">
            <a:off x="666750" y="3333750"/>
            <a:ext cx="20764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Documentul este introdus in registratura cu toate datele necesare.</a:t>
            </a:r>
          </a:p>
        </p:txBody>
      </p:sp>
      <p:sp>
        <p:nvSpPr>
          <p:cNvPr id="10" name="">
            <a:extLst xmlns:a="http://schemas.openxmlformats.org/drawingml/2006/main">
              <a:ext uri="{FF2B5EF4-FFF2-40B4-BE49-F238E27FC236}">
                <a16:creationId xmlns:a16="http://schemas.microsoft.com/office/drawing/2014/main" id="{A2B68BFB-8F7D-4ACD-AB07-60DA9A2E0EA4}"/>
              </a:ext>
            </a:extLst>
          </p:cNvPr>
          <p:cNvSpPr>
            <a:spLocks xmlns:a="http://schemas.openxmlformats.org/drawingml/2006/main" noGrp="1"/>
          </p:cNvSpPr>
          <p:nvPr/>
        </p:nvSpPr>
        <p:spPr>
          <a:xfrm xmlns:a="http://schemas.openxmlformats.org/drawingml/2006/main">
            <a:off x="3295650" y="2286000"/>
            <a:ext cx="2381250" cy="2381250"/>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E2E8F0"/>
            </a:solidFill>
            <a:prstDash val="solid"/>
          </a:ln>
        </p:spPr>
      </p:sp>
      <p:sp>
        <p:nvSpPr>
          <p:cNvPr id="11" name="">
            <a:extLst xmlns:a="http://schemas.openxmlformats.org/drawingml/2006/main">
              <a:ext uri="{FF2B5EF4-FFF2-40B4-BE49-F238E27FC236}">
                <a16:creationId xmlns:a16="http://schemas.microsoft.com/office/drawing/2014/main" id="{113B4233-08E1-4E66-A558-C4F10215C271}"/>
              </a:ext>
            </a:extLst>
          </p:cNvPr>
          <p:cNvSpPr>
            <a:spLocks xmlns:a="http://schemas.openxmlformats.org/drawingml/2006/main" noGrp="1"/>
          </p:cNvSpPr>
          <p:nvPr/>
        </p:nvSpPr>
        <p:spPr>
          <a:xfrm xmlns:a="http://schemas.openxmlformats.org/drawingml/2006/main">
            <a:off x="3448050" y="2438400"/>
            <a:ext cx="400050" cy="247650"/>
          </a:xfrm>
          <a:prstGeom xmlns:a="http://schemas.openxmlformats.org/drawingml/2006/main" prst="roundRect">
            <a:avLst>
              <a:gd name="adj" fmla="val 50000"/>
            </a:avLst>
          </a:prstGeom>
          <a:solidFill xmlns:a="http://schemas.openxmlformats.org/drawingml/2006/main">
            <a:srgbClr val="0F172B"/>
          </a:solidFill>
          <a:ln xmlns:a="http://schemas.openxmlformats.org/drawingml/2006/main" w="0">
            <a:solidFill>
              <a:srgbClr val="0F172B"/>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2</a:t>
            </a:r>
          </a:p>
        </p:txBody>
      </p:sp>
      <p:sp>
        <p:nvSpPr>
          <p:cNvPr id="12" name="">
            <a:extLst xmlns:a="http://schemas.openxmlformats.org/drawingml/2006/main">
              <a:ext uri="{FF2B5EF4-FFF2-40B4-BE49-F238E27FC236}">
                <a16:creationId xmlns:a16="http://schemas.microsoft.com/office/drawing/2014/main" id="{12F26346-30A7-418F-A4D4-2C329E4EBCAD}"/>
              </a:ext>
            </a:extLst>
          </p:cNvPr>
          <p:cNvSpPr>
            <a:spLocks xmlns:a="http://schemas.openxmlformats.org/drawingml/2006/main" noGrp="1"/>
          </p:cNvSpPr>
          <p:nvPr/>
        </p:nvSpPr>
        <p:spPr>
          <a:xfrm xmlns:a="http://schemas.openxmlformats.org/drawingml/2006/main">
            <a:off x="3448050" y="283845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20618"/>
                </a:solidFill>
              </a:defRPr>
            </a:pPr>
            <a:r>
              <a:rPr sz="1425" b="1">
                <a:solidFill>
                  <a:srgbClr val="020618"/>
                </a:solidFill>
              </a:rPr>
              <a:t>Urmarire</a:t>
            </a:r>
          </a:p>
        </p:txBody>
      </p:sp>
      <p:sp>
        <p:nvSpPr>
          <p:cNvPr id="13" name="">
            <a:extLst xmlns:a="http://schemas.openxmlformats.org/drawingml/2006/main">
              <a:ext uri="{FF2B5EF4-FFF2-40B4-BE49-F238E27FC236}">
                <a16:creationId xmlns:a16="http://schemas.microsoft.com/office/drawing/2014/main" id="{54CAD026-06C6-4F10-8680-420C3382A766}"/>
              </a:ext>
            </a:extLst>
          </p:cNvPr>
          <p:cNvSpPr>
            <a:spLocks xmlns:a="http://schemas.openxmlformats.org/drawingml/2006/main" noGrp="1"/>
          </p:cNvSpPr>
          <p:nvPr/>
        </p:nvSpPr>
        <p:spPr>
          <a:xfrm xmlns:a="http://schemas.openxmlformats.org/drawingml/2006/main">
            <a:off x="3448050" y="3333750"/>
            <a:ext cx="20764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Se verifica detaliul, legaturile si eventualul task de workflow.</a:t>
            </a:r>
          </a:p>
        </p:txBody>
      </p:sp>
      <p:sp>
        <p:nvSpPr>
          <p:cNvPr id="14" name="">
            <a:extLst xmlns:a="http://schemas.openxmlformats.org/drawingml/2006/main">
              <a:ext uri="{FF2B5EF4-FFF2-40B4-BE49-F238E27FC236}">
                <a16:creationId xmlns:a16="http://schemas.microsoft.com/office/drawing/2014/main" id="{59DC1D6A-E520-4444-B7C2-CB972901A9F1}"/>
              </a:ext>
            </a:extLst>
          </p:cNvPr>
          <p:cNvSpPr>
            <a:spLocks xmlns:a="http://schemas.openxmlformats.org/drawingml/2006/main" noGrp="1"/>
          </p:cNvSpPr>
          <p:nvPr/>
        </p:nvSpPr>
        <p:spPr>
          <a:xfrm xmlns:a="http://schemas.openxmlformats.org/drawingml/2006/main">
            <a:off x="6076950" y="2286000"/>
            <a:ext cx="2381250" cy="2381250"/>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E2E8F0"/>
            </a:solidFill>
            <a:prstDash val="solid"/>
          </a:ln>
        </p:spPr>
      </p:sp>
      <p:sp>
        <p:nvSpPr>
          <p:cNvPr id="15" name="">
            <a:extLst xmlns:a="http://schemas.openxmlformats.org/drawingml/2006/main">
              <a:ext uri="{FF2B5EF4-FFF2-40B4-BE49-F238E27FC236}">
                <a16:creationId xmlns:a16="http://schemas.microsoft.com/office/drawing/2014/main" id="{EA1DD877-1A62-4FC0-AA89-6841A187B63B}"/>
              </a:ext>
            </a:extLst>
          </p:cNvPr>
          <p:cNvSpPr>
            <a:spLocks xmlns:a="http://schemas.openxmlformats.org/drawingml/2006/main" noGrp="1"/>
          </p:cNvSpPr>
          <p:nvPr/>
        </p:nvSpPr>
        <p:spPr>
          <a:xfrm xmlns:a="http://schemas.openxmlformats.org/drawingml/2006/main">
            <a:off x="6229350" y="2438400"/>
            <a:ext cx="400050" cy="247650"/>
          </a:xfrm>
          <a:prstGeom xmlns:a="http://schemas.openxmlformats.org/drawingml/2006/main" prst="roundRect">
            <a:avLst>
              <a:gd name="adj" fmla="val 50000"/>
            </a:avLst>
          </a:prstGeom>
          <a:solidFill xmlns:a="http://schemas.openxmlformats.org/drawingml/2006/main">
            <a:srgbClr val="0F172B"/>
          </a:solidFill>
          <a:ln xmlns:a="http://schemas.openxmlformats.org/drawingml/2006/main" w="0">
            <a:solidFill>
              <a:srgbClr val="0F172B"/>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3</a:t>
            </a:r>
          </a:p>
        </p:txBody>
      </p:sp>
      <p:sp>
        <p:nvSpPr>
          <p:cNvPr id="16" name="">
            <a:extLst xmlns:a="http://schemas.openxmlformats.org/drawingml/2006/main">
              <a:ext uri="{FF2B5EF4-FFF2-40B4-BE49-F238E27FC236}">
                <a16:creationId xmlns:a16="http://schemas.microsoft.com/office/drawing/2014/main" id="{5653CE0B-F216-4176-81C3-198C917D3671}"/>
              </a:ext>
            </a:extLst>
          </p:cNvPr>
          <p:cNvSpPr>
            <a:spLocks xmlns:a="http://schemas.openxmlformats.org/drawingml/2006/main" noGrp="1"/>
          </p:cNvSpPr>
          <p:nvPr/>
        </p:nvSpPr>
        <p:spPr>
          <a:xfrm xmlns:a="http://schemas.openxmlformats.org/drawingml/2006/main">
            <a:off x="6229350" y="283845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20618"/>
                </a:solidFill>
              </a:defRPr>
            </a:pPr>
            <a:r>
              <a:rPr sz="1425" b="1">
                <a:solidFill>
                  <a:srgbClr val="020618"/>
                </a:solidFill>
              </a:rPr>
              <a:t>Finalizare</a:t>
            </a:r>
          </a:p>
        </p:txBody>
      </p:sp>
      <p:sp>
        <p:nvSpPr>
          <p:cNvPr id="17" name="">
            <a:extLst xmlns:a="http://schemas.openxmlformats.org/drawingml/2006/main">
              <a:ext uri="{FF2B5EF4-FFF2-40B4-BE49-F238E27FC236}">
                <a16:creationId xmlns:a16="http://schemas.microsoft.com/office/drawing/2014/main" id="{288EFF7A-34C2-49DC-9D9E-E6FFBE1311D6}"/>
              </a:ext>
            </a:extLst>
          </p:cNvPr>
          <p:cNvSpPr>
            <a:spLocks xmlns:a="http://schemas.openxmlformats.org/drawingml/2006/main" noGrp="1"/>
          </p:cNvSpPr>
          <p:nvPr/>
        </p:nvSpPr>
        <p:spPr>
          <a:xfrm xmlns:a="http://schemas.openxmlformats.org/drawingml/2006/main">
            <a:off x="6229350" y="3333750"/>
            <a:ext cx="20764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Documentul este inchis dupa raspuns sau decizie.</a:t>
            </a:r>
          </a:p>
        </p:txBody>
      </p:sp>
      <p:sp>
        <p:nvSpPr>
          <p:cNvPr id="18" name="">
            <a:extLst xmlns:a="http://schemas.openxmlformats.org/drawingml/2006/main">
              <a:ext uri="{FF2B5EF4-FFF2-40B4-BE49-F238E27FC236}">
                <a16:creationId xmlns:a16="http://schemas.microsoft.com/office/drawing/2014/main" id="{E9A622DB-BDD3-48FC-9E44-39B39A5C5091}"/>
              </a:ext>
            </a:extLst>
          </p:cNvPr>
          <p:cNvSpPr>
            <a:spLocks xmlns:a="http://schemas.openxmlformats.org/drawingml/2006/main" noGrp="1"/>
          </p:cNvSpPr>
          <p:nvPr/>
        </p:nvSpPr>
        <p:spPr>
          <a:xfrm xmlns:a="http://schemas.openxmlformats.org/drawingml/2006/main">
            <a:off x="8858250" y="2286000"/>
            <a:ext cx="2381250" cy="2381250"/>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E2E8F0"/>
            </a:solidFill>
            <a:prstDash val="solid"/>
          </a:ln>
        </p:spPr>
      </p:sp>
      <p:sp>
        <p:nvSpPr>
          <p:cNvPr id="19" name="">
            <a:extLst xmlns:a="http://schemas.openxmlformats.org/drawingml/2006/main">
              <a:ext uri="{FF2B5EF4-FFF2-40B4-BE49-F238E27FC236}">
                <a16:creationId xmlns:a16="http://schemas.microsoft.com/office/drawing/2014/main" id="{2F1568A1-DEBE-432A-AA53-9973A87B62CA}"/>
              </a:ext>
            </a:extLst>
          </p:cNvPr>
          <p:cNvSpPr>
            <a:spLocks xmlns:a="http://schemas.openxmlformats.org/drawingml/2006/main" noGrp="1"/>
          </p:cNvSpPr>
          <p:nvPr/>
        </p:nvSpPr>
        <p:spPr>
          <a:xfrm xmlns:a="http://schemas.openxmlformats.org/drawingml/2006/main">
            <a:off x="9010650" y="2438400"/>
            <a:ext cx="400050" cy="247650"/>
          </a:xfrm>
          <a:prstGeom xmlns:a="http://schemas.openxmlformats.org/drawingml/2006/main" prst="roundRect">
            <a:avLst>
              <a:gd name="adj" fmla="val 50000"/>
            </a:avLst>
          </a:prstGeom>
          <a:solidFill xmlns:a="http://schemas.openxmlformats.org/drawingml/2006/main">
            <a:srgbClr val="0F172B"/>
          </a:solidFill>
          <a:ln xmlns:a="http://schemas.openxmlformats.org/drawingml/2006/main" w="0">
            <a:solidFill>
              <a:srgbClr val="0F172B"/>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4</a:t>
            </a:r>
          </a:p>
        </p:txBody>
      </p:sp>
      <p:sp>
        <p:nvSpPr>
          <p:cNvPr id="20" name="">
            <a:extLst xmlns:a="http://schemas.openxmlformats.org/drawingml/2006/main">
              <a:ext uri="{FF2B5EF4-FFF2-40B4-BE49-F238E27FC236}">
                <a16:creationId xmlns:a16="http://schemas.microsoft.com/office/drawing/2014/main" id="{0C39D7DE-5469-419B-A12F-20C37DF809C2}"/>
              </a:ext>
            </a:extLst>
          </p:cNvPr>
          <p:cNvSpPr>
            <a:spLocks xmlns:a="http://schemas.openxmlformats.org/drawingml/2006/main" noGrp="1"/>
          </p:cNvSpPr>
          <p:nvPr/>
        </p:nvSpPr>
        <p:spPr>
          <a:xfrm xmlns:a="http://schemas.openxmlformats.org/drawingml/2006/main">
            <a:off x="9010650" y="283845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020618"/>
                </a:solidFill>
              </a:defRPr>
            </a:pPr>
            <a:r>
              <a:rPr sz="1425" b="1">
                <a:solidFill>
                  <a:srgbClr val="020618"/>
                </a:solidFill>
              </a:rPr>
              <a:t>Arhivare</a:t>
            </a:r>
          </a:p>
        </p:txBody>
      </p:sp>
      <p:sp>
        <p:nvSpPr>
          <p:cNvPr id="21" name="">
            <a:extLst xmlns:a="http://schemas.openxmlformats.org/drawingml/2006/main">
              <a:ext uri="{FF2B5EF4-FFF2-40B4-BE49-F238E27FC236}">
                <a16:creationId xmlns:a16="http://schemas.microsoft.com/office/drawing/2014/main" id="{C3909EB9-44C6-4BE2-8006-6744174BF7AF}"/>
              </a:ext>
            </a:extLst>
          </p:cNvPr>
          <p:cNvSpPr>
            <a:spLocks xmlns:a="http://schemas.openxmlformats.org/drawingml/2006/main" noGrp="1"/>
          </p:cNvSpPr>
          <p:nvPr/>
        </p:nvSpPr>
        <p:spPr>
          <a:xfrm xmlns:a="http://schemas.openxmlformats.org/drawingml/2006/main">
            <a:off x="9010650" y="3333750"/>
            <a:ext cx="20764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Inregistrarea este transferata in eArhiva cu fond, serie si locatie.</a:t>
            </a:r>
          </a:p>
        </p:txBody>
      </p:sp>
      <p:sp>
        <p:nvSpPr>
          <p:cNvPr id="22" name="">
            <a:extLst xmlns:a="http://schemas.openxmlformats.org/drawingml/2006/main">
              <a:ext uri="{FF2B5EF4-FFF2-40B4-BE49-F238E27FC236}">
                <a16:creationId xmlns:a16="http://schemas.microsoft.com/office/drawing/2014/main" id="{A210CACC-9DC2-40A6-9F87-7D400074E5A0}"/>
              </a:ext>
            </a:extLst>
          </p:cNvPr>
          <p:cNvSpPr>
            <a:spLocks xmlns:a="http://schemas.openxmlformats.org/drawingml/2006/main" noGrp="1"/>
          </p:cNvSpPr>
          <p:nvPr/>
        </p:nvSpPr>
        <p:spPr>
          <a:xfrm xmlns:a="http://schemas.openxmlformats.org/drawingml/2006/main">
            <a:off x="514350" y="5048250"/>
            <a:ext cx="11163300" cy="104775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E2E8F0"/>
            </a:solidFill>
            <a:prstDash val="solid"/>
          </a:ln>
        </p:spPr>
      </p:sp>
      <p:sp>
        <p:nvSpPr>
          <p:cNvPr id="23" name="">
            <a:extLst xmlns:a="http://schemas.openxmlformats.org/drawingml/2006/main">
              <a:ext uri="{FF2B5EF4-FFF2-40B4-BE49-F238E27FC236}">
                <a16:creationId xmlns:a16="http://schemas.microsoft.com/office/drawing/2014/main" id="{CBAD500F-81BE-4ED1-A931-6B7481611E24}"/>
              </a:ext>
            </a:extLst>
          </p:cNvPr>
          <p:cNvSpPr>
            <a:spLocks xmlns:a="http://schemas.openxmlformats.org/drawingml/2006/main" noGrp="1"/>
          </p:cNvSpPr>
          <p:nvPr/>
        </p:nvSpPr>
        <p:spPr>
          <a:xfrm xmlns:a="http://schemas.openxmlformats.org/drawingml/2006/main">
            <a:off x="666750" y="518160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Rezultatul final pentru utilizator</a:t>
            </a:r>
          </a:p>
        </p:txBody>
      </p:sp>
      <p:sp>
        <p:nvSpPr>
          <p:cNvPr id="24" name="">
            <a:extLst xmlns:a="http://schemas.openxmlformats.org/drawingml/2006/main">
              <a:ext uri="{FF2B5EF4-FFF2-40B4-BE49-F238E27FC236}">
                <a16:creationId xmlns:a16="http://schemas.microsoft.com/office/drawing/2014/main" id="{A9AFE2E9-CD3E-477A-91AE-96F9A73B00D0}"/>
              </a:ext>
            </a:extLst>
          </p:cNvPr>
          <p:cNvSpPr>
            <a:spLocks xmlns:a="http://schemas.openxmlformats.org/drawingml/2006/main" noGrp="1"/>
          </p:cNvSpPr>
          <p:nvPr/>
        </p:nvSpPr>
        <p:spPr>
          <a:xfrm xmlns:a="http://schemas.openxmlformats.org/drawingml/2006/main">
            <a:off x="666750" y="5543550"/>
            <a:ext cx="1085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Administratia poate demonstra traseul documentului fara rupturi intre module. Acest parcurs arata ordinea fireasca in care utilizatorul poate lucra, fara sa piarda contextul intre module si fara sa dubleze informatia in afara aplicatiei.</a:t>
            </a:r>
          </a:p>
        </p:txBody>
      </p:sp>
      <p:sp>
        <p:nvSpPr>
          <p:cNvPr id="25" name="">
            <a:extLst xmlns:a="http://schemas.openxmlformats.org/drawingml/2006/main">
              <a:ext uri="{FF2B5EF4-FFF2-40B4-BE49-F238E27FC236}">
                <a16:creationId xmlns:a16="http://schemas.microsoft.com/office/drawing/2014/main" id="{2D2E127E-F505-4CCA-934D-79A52ECBF2D5}"/>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26" name="">
            <a:extLst xmlns:a="http://schemas.openxmlformats.org/drawingml/2006/main">
              <a:ext uri="{FF2B5EF4-FFF2-40B4-BE49-F238E27FC236}">
                <a16:creationId xmlns:a16="http://schemas.microsoft.com/office/drawing/2014/main" id="{899C263D-3001-456B-BE97-5874DC4840FB}"/>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Parcurs pe rol - registratura si arhiva</a:t>
            </a:r>
          </a:p>
        </p:txBody>
      </p:sp>
    </p:spTree>
    <p:extLst>
      <p:ext uri="{BB962C8B-B14F-4D97-AF65-F5344CB8AC3E}">
        <p14:creationId xmlns:p14="http://schemas.microsoft.com/office/powerpoint/2010/main" val="1323469651"/>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6FD4193-75E6-4705-9F14-0E0BDCD7C19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5C74AB07-D5F0-43A5-BF3C-6DCF4C62A56B}"/>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Ajutor contextual</a:t>
            </a:r>
          </a:p>
        </p:txBody>
      </p:sp>
      <p:sp>
        <p:nvSpPr>
          <p:cNvPr id="3" name="">
            <a:extLst xmlns:a="http://schemas.openxmlformats.org/drawingml/2006/main">
              <a:ext uri="{FF2B5EF4-FFF2-40B4-BE49-F238E27FC236}">
                <a16:creationId xmlns:a16="http://schemas.microsoft.com/office/drawing/2014/main" id="{6183383D-B966-410E-956F-D0AE83C9686E}"/>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Centrul de ajutor din aplicatie</a:t>
            </a:r>
          </a:p>
        </p:txBody>
      </p:sp>
      <p:sp>
        <p:nvSpPr>
          <p:cNvPr id="4" name="">
            <a:extLst xmlns:a="http://schemas.openxmlformats.org/drawingml/2006/main">
              <a:ext uri="{FF2B5EF4-FFF2-40B4-BE49-F238E27FC236}">
                <a16:creationId xmlns:a16="http://schemas.microsoft.com/office/drawing/2014/main" id="{8721424C-F6F8-4E35-84B0-BE5E5F43F500}"/>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59</a:t>
            </a:r>
          </a:p>
        </p:txBody>
      </p:sp>
      <p:sp>
        <p:nvSpPr>
          <p:cNvPr id="5" name="">
            <a:extLst xmlns:a="http://schemas.openxmlformats.org/drawingml/2006/main">
              <a:ext uri="{FF2B5EF4-FFF2-40B4-BE49-F238E27FC236}">
                <a16:creationId xmlns:a16="http://schemas.microsoft.com/office/drawing/2014/main" id="{14198E28-5A4A-4FB4-BE65-A21705334FF6}"/>
              </a:ext>
            </a:extLst>
          </p:cNvPr>
          <p:cNvSpPr>
            <a:spLocks xmlns:a="http://schemas.openxmlformats.org/drawingml/2006/main" noGrp="1"/>
          </p:cNvSpPr>
          <p:nvPr/>
        </p:nvSpPr>
        <p:spPr>
          <a:xfrm xmlns:a="http://schemas.openxmlformats.org/drawingml/2006/main">
            <a:off x="514350" y="112395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314158"/>
                </a:solidFill>
              </a:defRPr>
            </a:pPr>
            <a:r>
              <a:rPr sz="1200">
                <a:solidFill>
                  <a:srgbClr val="314158"/>
                </a:solidFill>
              </a:rPr>
              <a:t>Aplicatia include si un ecran de ajutor intern. Acesta poate fi folosit ca punct de pornire atunci cand utilizatorii au nevoie de orientare pe fluxuri sau rute.</a:t>
            </a:r>
          </a:p>
        </p:txBody>
      </p:sp>
      <p:sp>
        <p:nvSpPr>
          <p:cNvPr id="6" name="">
            <a:extLst xmlns:a="http://schemas.openxmlformats.org/drawingml/2006/main">
              <a:ext uri="{FF2B5EF4-FFF2-40B4-BE49-F238E27FC236}">
                <a16:creationId xmlns:a16="http://schemas.microsoft.com/office/drawing/2014/main" id="{36AE9842-0A26-492D-8B31-66AA6EA79B18}"/>
              </a:ext>
            </a:extLst>
          </p:cNvPr>
          <p:cNvSpPr>
            <a:spLocks xmlns:a="http://schemas.openxmlformats.org/drawingml/2006/main" noGrp="1"/>
          </p:cNvSpPr>
          <p:nvPr/>
        </p:nvSpPr>
        <p:spPr>
          <a:xfrm xmlns:a="http://schemas.openxmlformats.org/drawingml/2006/main">
            <a:off x="514350" y="1809750"/>
            <a:ext cx="11163300" cy="2990850"/>
          </a:xfrm>
          <a:prstGeom xmlns:a="http://schemas.openxmlformats.org/drawingml/2006/main" prst="roundRect">
            <a:avLst>
              <a:gd name="adj" fmla="val 5096"/>
            </a:avLst>
          </a:prstGeom>
          <a:solidFill xmlns:a="http://schemas.openxmlformats.org/drawingml/2006/main">
            <a:srgbClr val="F8FAFC"/>
          </a:solidFill>
          <a:ln xmlns:a="http://schemas.openxmlformats.org/drawingml/2006/main" w="9525">
            <a:solidFill>
              <a:srgbClr val="E2E8F0"/>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31a3c68673144155"/>
          <a:stretch xmlns:a="http://schemas.openxmlformats.org/drawingml/2006/main"/>
        </p:blipFill>
        <p:spPr>
          <a:xfrm xmlns:a="http://schemas.openxmlformats.org/drawingml/2006/main">
            <a:off x="3640667" y="1924050"/>
            <a:ext cx="4910667" cy="2762250"/>
          </a:xfrm>
          <a:prstGeom xmlns:a="http://schemas.openxmlformats.org/drawingml/2006/main" prst="roundRect">
            <a:avLst>
              <a:gd name="adj" fmla="val 4138"/>
            </a:avLst>
          </a:prstGeom>
        </p:spPr>
      </p:pic>
      <p:sp>
        <p:nvSpPr>
          <p:cNvPr id="8" name="">
            <a:extLst xmlns:a="http://schemas.openxmlformats.org/drawingml/2006/main">
              <a:ext uri="{FF2B5EF4-FFF2-40B4-BE49-F238E27FC236}">
                <a16:creationId xmlns:a16="http://schemas.microsoft.com/office/drawing/2014/main" id="{FB7D0D85-0330-4261-B64D-4FBB359C45CE}"/>
              </a:ext>
            </a:extLst>
          </p:cNvPr>
          <p:cNvSpPr>
            <a:spLocks xmlns:a="http://schemas.openxmlformats.org/drawingml/2006/main" noGrp="1"/>
          </p:cNvSpPr>
          <p:nvPr/>
        </p:nvSpPr>
        <p:spPr>
          <a:xfrm xmlns:a="http://schemas.openxmlformats.org/drawingml/2006/main">
            <a:off x="514350" y="4972050"/>
            <a:ext cx="5334000" cy="12954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E2E8F0"/>
            </a:solidFill>
            <a:prstDash val="solid"/>
          </a:ln>
        </p:spPr>
      </p:sp>
      <p:sp>
        <p:nvSpPr>
          <p:cNvPr id="9" name="">
            <a:extLst xmlns:a="http://schemas.openxmlformats.org/drawingml/2006/main">
              <a:ext uri="{FF2B5EF4-FFF2-40B4-BE49-F238E27FC236}">
                <a16:creationId xmlns:a16="http://schemas.microsoft.com/office/drawing/2014/main" id="{18B70196-6AD0-488B-A459-E1AA25287D7B}"/>
              </a:ext>
            </a:extLst>
          </p:cNvPr>
          <p:cNvSpPr>
            <a:spLocks xmlns:a="http://schemas.openxmlformats.org/drawingml/2006/main" noGrp="1"/>
          </p:cNvSpPr>
          <p:nvPr/>
        </p:nvSpPr>
        <p:spPr>
          <a:xfrm xmlns:a="http://schemas.openxmlformats.org/drawingml/2006/main">
            <a:off x="666750" y="510540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Cum lucrezi</a:t>
            </a:r>
          </a:p>
        </p:txBody>
      </p:sp>
      <p:sp>
        <p:nvSpPr>
          <p:cNvPr id="10" name="">
            <a:extLst xmlns:a="http://schemas.openxmlformats.org/drawingml/2006/main">
              <a:ext uri="{FF2B5EF4-FFF2-40B4-BE49-F238E27FC236}">
                <a16:creationId xmlns:a16="http://schemas.microsoft.com/office/drawing/2014/main" id="{3AF66365-0B3C-4C4E-9C46-B9FDAA7F286C}"/>
              </a:ext>
            </a:extLst>
          </p:cNvPr>
          <p:cNvSpPr>
            <a:spLocks xmlns:a="http://schemas.openxmlformats.org/drawingml/2006/main" noGrp="1"/>
          </p:cNvSpPr>
          <p:nvPr/>
        </p:nvSpPr>
        <p:spPr>
          <a:xfrm xmlns:a="http://schemas.openxmlformats.org/drawingml/2006/main">
            <a:off x="666750" y="5467350"/>
            <a:ext cx="5029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 Deschizi Ajutor din meniul principal.</a:t>
            </a:r>
          </a:p>
          <a:p xmlns:a="http://schemas.openxmlformats.org/drawingml/2006/main">
            <a:pPr>
              <a:defRPr sz="1125">
                <a:solidFill>
                  <a:srgbClr val="314158"/>
                </a:solidFill>
              </a:defRPr>
            </a:pPr>
            <a:r>
              <a:rPr sz="1125">
                <a:solidFill>
                  <a:srgbClr val="314158"/>
                </a:solidFill>
              </a:rPr>
              <a:t>• Cauti capitolul relevant pentru rolul sau fluxul tau.</a:t>
            </a:r>
          </a:p>
          <a:p xmlns:a="http://schemas.openxmlformats.org/drawingml/2006/main">
            <a:pPr>
              <a:defRPr sz="1125">
                <a:solidFill>
                  <a:srgbClr val="314158"/>
                </a:solidFill>
              </a:defRPr>
            </a:pPr>
            <a:r>
              <a:rPr sz="1125">
                <a:solidFill>
                  <a:srgbClr val="314158"/>
                </a:solidFill>
              </a:rPr>
              <a:t>• Intri apoi direct in zona operationala din linkurile rapide.</a:t>
            </a:r>
          </a:p>
        </p:txBody>
      </p:sp>
      <p:sp>
        <p:nvSpPr>
          <p:cNvPr id="11" name="">
            <a:extLst xmlns:a="http://schemas.openxmlformats.org/drawingml/2006/main">
              <a:ext uri="{FF2B5EF4-FFF2-40B4-BE49-F238E27FC236}">
                <a16:creationId xmlns:a16="http://schemas.microsoft.com/office/drawing/2014/main" id="{9D97BD74-B31C-479D-ADE4-38A8C0681614}"/>
              </a:ext>
            </a:extLst>
          </p:cNvPr>
          <p:cNvSpPr>
            <a:spLocks xmlns:a="http://schemas.openxmlformats.org/drawingml/2006/main" noGrp="1"/>
          </p:cNvSpPr>
          <p:nvPr/>
        </p:nvSpPr>
        <p:spPr>
          <a:xfrm xmlns:a="http://schemas.openxmlformats.org/drawingml/2006/main">
            <a:off x="6343650" y="4972050"/>
            <a:ext cx="533400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E2E8F0"/>
            </a:solidFill>
            <a:prstDash val="solid"/>
          </a:ln>
        </p:spPr>
      </p:sp>
      <p:sp>
        <p:nvSpPr>
          <p:cNvPr id="12" name="">
            <a:extLst xmlns:a="http://schemas.openxmlformats.org/drawingml/2006/main">
              <a:ext uri="{FF2B5EF4-FFF2-40B4-BE49-F238E27FC236}">
                <a16:creationId xmlns:a16="http://schemas.microsoft.com/office/drawing/2014/main" id="{B49378CF-0423-4A1E-A493-7592823F3382}"/>
              </a:ext>
            </a:extLst>
          </p:cNvPr>
          <p:cNvSpPr>
            <a:spLocks xmlns:a="http://schemas.openxmlformats.org/drawingml/2006/main" noGrp="1"/>
          </p:cNvSpPr>
          <p:nvPr/>
        </p:nvSpPr>
        <p:spPr>
          <a:xfrm xmlns:a="http://schemas.openxmlformats.org/drawingml/2006/main">
            <a:off x="6496050" y="5105400"/>
            <a:ext cx="5029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Ce obtii: Manualul de lucru este accesibil chiar din interiorul aplicatiei.</a:t>
            </a:r>
          </a:p>
        </p:txBody>
      </p:sp>
      <p:sp>
        <p:nvSpPr>
          <p:cNvPr id="13" name="">
            <a:extLst xmlns:a="http://schemas.openxmlformats.org/drawingml/2006/main">
              <a:ext uri="{FF2B5EF4-FFF2-40B4-BE49-F238E27FC236}">
                <a16:creationId xmlns:a16="http://schemas.microsoft.com/office/drawing/2014/main" id="{86F9B8A7-4FCA-4BA6-8E93-FC92DACB3E5E}"/>
              </a:ext>
            </a:extLst>
          </p:cNvPr>
          <p:cNvSpPr>
            <a:spLocks xmlns:a="http://schemas.openxmlformats.org/drawingml/2006/main" noGrp="1"/>
          </p:cNvSpPr>
          <p:nvPr/>
        </p:nvSpPr>
        <p:spPr>
          <a:xfrm xmlns:a="http://schemas.openxmlformats.org/drawingml/2006/main">
            <a:off x="6343650" y="5734050"/>
            <a:ext cx="5334000" cy="5334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94E86F1A-49E7-4F52-8F52-F61C81E1B46C}"/>
              </a:ext>
            </a:extLst>
          </p:cNvPr>
          <p:cNvSpPr>
            <a:spLocks xmlns:a="http://schemas.openxmlformats.org/drawingml/2006/main" noGrp="1"/>
          </p:cNvSpPr>
          <p:nvPr/>
        </p:nvSpPr>
        <p:spPr>
          <a:xfrm xmlns:a="http://schemas.openxmlformats.org/drawingml/2006/main">
            <a:off x="6496050" y="5867400"/>
            <a:ext cx="502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citesti captura: Captura prezinta ecranul real folosit de utilizator in centrul de ajutor din aplicatie, cu zonele de lista, filtrare, completare si actiune vizibile exact asa cum apar in aplicatie.</a:t>
            </a:r>
          </a:p>
        </p:txBody>
      </p:sp>
      <p:sp>
        <p:nvSpPr>
          <p:cNvPr id="15" name="">
            <a:extLst xmlns:a="http://schemas.openxmlformats.org/drawingml/2006/main">
              <a:ext uri="{FF2B5EF4-FFF2-40B4-BE49-F238E27FC236}">
                <a16:creationId xmlns:a16="http://schemas.microsoft.com/office/drawing/2014/main" id="{DE321FB0-ACE8-4781-8973-7C595417FC37}"/>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6" name="">
            <a:extLst xmlns:a="http://schemas.openxmlformats.org/drawingml/2006/main">
              <a:ext uri="{FF2B5EF4-FFF2-40B4-BE49-F238E27FC236}">
                <a16:creationId xmlns:a16="http://schemas.microsoft.com/office/drawing/2014/main" id="{63D61E70-C091-413D-B6C0-4C43E84030AD}"/>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Ajutor contextual in aplicatie</a:t>
            </a:r>
          </a:p>
        </p:txBody>
      </p:sp>
    </p:spTree>
    <p:extLst>
      <p:ext uri="{BB962C8B-B14F-4D97-AF65-F5344CB8AC3E}">
        <p14:creationId xmlns:p14="http://schemas.microsoft.com/office/powerpoint/2010/main" val="687101488"/>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CDE5E7D-9942-4222-9539-66968E59570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172B"/>
          </a:solidFill>
          <a:ln xmlns:a="http://schemas.openxmlformats.org/drawingml/2006/main" w="0">
            <a:solidFill>
              <a:srgbClr val="0F172B"/>
            </a:solidFill>
            <a:prstDash val="solid"/>
          </a:ln>
        </p:spPr>
      </p:sp>
      <p:sp>
        <p:nvSpPr>
          <p:cNvPr id="2" name="">
            <a:extLst xmlns:a="http://schemas.openxmlformats.org/drawingml/2006/main">
              <a:ext uri="{FF2B5EF4-FFF2-40B4-BE49-F238E27FC236}">
                <a16:creationId xmlns:a16="http://schemas.microsoft.com/office/drawing/2014/main" id="{46C41165-DB4E-4BDA-A704-1C6EB05D165A}"/>
              </a:ext>
            </a:extLst>
          </p:cNvPr>
          <p:cNvSpPr>
            <a:spLocks xmlns:a="http://schemas.openxmlformats.org/drawingml/2006/main" noGrp="1"/>
          </p:cNvSpPr>
          <p:nvPr/>
        </p:nvSpPr>
        <p:spPr>
          <a:xfrm xmlns:a="http://schemas.openxmlformats.org/drawingml/2006/main">
            <a:off x="514350" y="228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69A8"/>
                </a:solidFill>
              </a:defRPr>
            </a:pPr>
            <a:r>
              <a:rPr sz="900" b="1">
                <a:solidFill>
                  <a:srgbClr val="0069A8"/>
                </a:solidFill>
              </a:rPr>
              <a:t>Inchidere</a:t>
            </a:r>
          </a:p>
        </p:txBody>
      </p:sp>
      <p:sp>
        <p:nvSpPr>
          <p:cNvPr id="3" name="">
            <a:extLst xmlns:a="http://schemas.openxmlformats.org/drawingml/2006/main">
              <a:ext uri="{FF2B5EF4-FFF2-40B4-BE49-F238E27FC236}">
                <a16:creationId xmlns:a16="http://schemas.microsoft.com/office/drawing/2014/main" id="{053F8092-F830-42D9-A5B0-A05F52AD5DFF}"/>
              </a:ext>
            </a:extLst>
          </p:cNvPr>
          <p:cNvSpPr>
            <a:spLocks xmlns:a="http://schemas.openxmlformats.org/drawingml/2006/main" noGrp="1"/>
          </p:cNvSpPr>
          <p:nvPr/>
        </p:nvSpPr>
        <p:spPr>
          <a:xfrm xmlns:a="http://schemas.openxmlformats.org/drawingml/2006/main">
            <a:off x="514350" y="4953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020618"/>
                </a:solidFill>
              </a:defRPr>
            </a:pPr>
            <a:r>
              <a:rPr sz="2550" b="1">
                <a:solidFill>
                  <a:srgbClr val="020618"/>
                </a:solidFill>
              </a:rPr>
              <a:t>Recomandari de utilizare</a:t>
            </a:r>
          </a:p>
        </p:txBody>
      </p:sp>
      <p:sp>
        <p:nvSpPr>
          <p:cNvPr id="4" name="">
            <a:extLst xmlns:a="http://schemas.openxmlformats.org/drawingml/2006/main">
              <a:ext uri="{FF2B5EF4-FFF2-40B4-BE49-F238E27FC236}">
                <a16:creationId xmlns:a16="http://schemas.microsoft.com/office/drawing/2014/main" id="{A1EF7995-EF5E-449B-A414-C02819D1DF48}"/>
              </a:ext>
            </a:extLst>
          </p:cNvPr>
          <p:cNvSpPr>
            <a:spLocks xmlns:a="http://schemas.openxmlformats.org/drawingml/2006/main" noGrp="1"/>
          </p:cNvSpPr>
          <p:nvPr/>
        </p:nvSpPr>
        <p:spPr>
          <a:xfrm xmlns:a="http://schemas.openxmlformats.org/drawingml/2006/main">
            <a:off x="11144250" y="2667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748E"/>
                </a:solidFill>
              </a:defRPr>
            </a:pPr>
            <a:r>
              <a:rPr sz="825" b="1">
                <a:solidFill>
                  <a:srgbClr val="62748E"/>
                </a:solidFill>
              </a:rPr>
              <a:t>60</a:t>
            </a:r>
          </a:p>
        </p:txBody>
      </p:sp>
      <p:sp>
        <p:nvSpPr>
          <p:cNvPr id="5" name="">
            <a:extLst xmlns:a="http://schemas.openxmlformats.org/drawingml/2006/main">
              <a:ext uri="{FF2B5EF4-FFF2-40B4-BE49-F238E27FC236}">
                <a16:creationId xmlns:a16="http://schemas.microsoft.com/office/drawing/2014/main" id="{44B7FD58-5724-4562-BCAE-AFC2D8817031}"/>
              </a:ext>
            </a:extLst>
          </p:cNvPr>
          <p:cNvSpPr>
            <a:spLocks xmlns:a="http://schemas.openxmlformats.org/drawingml/2006/main" noGrp="1"/>
          </p:cNvSpPr>
          <p:nvPr/>
        </p:nvSpPr>
        <p:spPr>
          <a:xfrm xmlns:a="http://schemas.openxmlformats.org/drawingml/2006/main">
            <a:off x="514350" y="1181100"/>
            <a:ext cx="10858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314158"/>
                </a:solidFill>
              </a:defRPr>
            </a:pPr>
            <a:r>
              <a:rPr sz="1275">
                <a:solidFill>
                  <a:srgbClr val="314158"/>
                </a:solidFill>
              </a:rPr>
              <a:t>Pentru ca utilizarea sa ramana simpla si sigura, aplicatia trebuie folosita consecvent pe aceeasi logica: listare, filtrare, detaliu, wizard, rezultat. Aceasta disciplina ajuta atat utilizatorul, cat si institutia.</a:t>
            </a:r>
          </a:p>
        </p:txBody>
      </p:sp>
      <p:sp>
        <p:nvSpPr>
          <p:cNvPr id="6" name="">
            <a:extLst xmlns:a="http://schemas.openxmlformats.org/drawingml/2006/main">
              <a:ext uri="{FF2B5EF4-FFF2-40B4-BE49-F238E27FC236}">
                <a16:creationId xmlns:a16="http://schemas.microsoft.com/office/drawing/2014/main" id="{2A70E14A-F64E-46B9-98E6-F06A74FED708}"/>
              </a:ext>
            </a:extLst>
          </p:cNvPr>
          <p:cNvSpPr>
            <a:spLocks xmlns:a="http://schemas.openxmlformats.org/drawingml/2006/main" noGrp="1"/>
          </p:cNvSpPr>
          <p:nvPr/>
        </p:nvSpPr>
        <p:spPr>
          <a:xfrm xmlns:a="http://schemas.openxmlformats.org/drawingml/2006/main">
            <a:off x="514350"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2B523FBD-9E9F-41A2-9AC9-293D9BBE9213}"/>
              </a:ext>
            </a:extLst>
          </p:cNvPr>
          <p:cNvSpPr>
            <a:spLocks xmlns:a="http://schemas.openxmlformats.org/drawingml/2006/main" noGrp="1"/>
          </p:cNvSpPr>
          <p:nvPr/>
        </p:nvSpPr>
        <p:spPr>
          <a:xfrm xmlns:a="http://schemas.openxmlformats.org/drawingml/2006/main">
            <a:off x="666750" y="2343150"/>
            <a:ext cx="1143000" cy="247650"/>
          </a:xfrm>
          <a:prstGeom xmlns:a="http://schemas.openxmlformats.org/drawingml/2006/main" prst="roundRect">
            <a:avLst>
              <a:gd name="adj" fmla="val 50000"/>
            </a:avLst>
          </a:prstGeom>
          <a:solidFill xmlns:a="http://schemas.openxmlformats.org/drawingml/2006/main">
            <a:srgbClr val="0069A8"/>
          </a:solidFill>
          <a:ln xmlns:a="http://schemas.openxmlformats.org/drawingml/2006/main" w="0">
            <a:solidFill>
              <a:srgbClr val="0069A8"/>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Lucreaza din module</a:t>
            </a:r>
          </a:p>
        </p:txBody>
      </p:sp>
      <p:sp>
        <p:nvSpPr>
          <p:cNvPr id="8" name="">
            <a:extLst xmlns:a="http://schemas.openxmlformats.org/drawingml/2006/main">
              <a:ext uri="{FF2B5EF4-FFF2-40B4-BE49-F238E27FC236}">
                <a16:creationId xmlns:a16="http://schemas.microsoft.com/office/drawing/2014/main" id="{1248355B-4931-4FC9-A7CB-DBEE80C9E019}"/>
              </a:ext>
            </a:extLst>
          </p:cNvPr>
          <p:cNvSpPr>
            <a:spLocks xmlns:a="http://schemas.openxmlformats.org/drawingml/2006/main" noGrp="1"/>
          </p:cNvSpPr>
          <p:nvPr/>
        </p:nvSpPr>
        <p:spPr>
          <a:xfrm xmlns:a="http://schemas.openxmlformats.org/drawingml/2006/main">
            <a:off x="666750"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Porneste intotdeauna din modulul potrivit, nu din documente salvate local.</a:t>
            </a:r>
          </a:p>
        </p:txBody>
      </p:sp>
      <p:sp>
        <p:nvSpPr>
          <p:cNvPr id="9" name="">
            <a:extLst xmlns:a="http://schemas.openxmlformats.org/drawingml/2006/main">
              <a:ext uri="{FF2B5EF4-FFF2-40B4-BE49-F238E27FC236}">
                <a16:creationId xmlns:a16="http://schemas.microsoft.com/office/drawing/2014/main" id="{A813DAE5-97E0-4221-BA30-42484E984C20}"/>
              </a:ext>
            </a:extLst>
          </p:cNvPr>
          <p:cNvSpPr>
            <a:spLocks xmlns:a="http://schemas.openxmlformats.org/drawingml/2006/main" noGrp="1"/>
          </p:cNvSpPr>
          <p:nvPr/>
        </p:nvSpPr>
        <p:spPr>
          <a:xfrm xmlns:a="http://schemas.openxmlformats.org/drawingml/2006/main">
            <a:off x="6086475" y="220980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1EA7C3EA-3C44-48D0-AC73-36780F6EB2A2}"/>
              </a:ext>
            </a:extLst>
          </p:cNvPr>
          <p:cNvSpPr>
            <a:spLocks xmlns:a="http://schemas.openxmlformats.org/drawingml/2006/main" noGrp="1"/>
          </p:cNvSpPr>
          <p:nvPr/>
        </p:nvSpPr>
        <p:spPr>
          <a:xfrm xmlns:a="http://schemas.openxmlformats.org/drawingml/2006/main">
            <a:off x="6238875" y="2343150"/>
            <a:ext cx="1143000" cy="247650"/>
          </a:xfrm>
          <a:prstGeom xmlns:a="http://schemas.openxmlformats.org/drawingml/2006/main" prst="roundRect">
            <a:avLst>
              <a:gd name="adj" fmla="val 50000"/>
            </a:avLst>
          </a:prstGeom>
          <a:solidFill xmlns:a="http://schemas.openxmlformats.org/drawingml/2006/main">
            <a:srgbClr val="009966"/>
          </a:solidFill>
          <a:ln xmlns:a="http://schemas.openxmlformats.org/drawingml/2006/main" w="0">
            <a:solidFill>
              <a:srgbClr val="009966"/>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Foloseste stari si filtre</a:t>
            </a:r>
          </a:p>
        </p:txBody>
      </p:sp>
      <p:sp>
        <p:nvSpPr>
          <p:cNvPr id="11" name="">
            <a:extLst xmlns:a="http://schemas.openxmlformats.org/drawingml/2006/main">
              <a:ext uri="{FF2B5EF4-FFF2-40B4-BE49-F238E27FC236}">
                <a16:creationId xmlns:a16="http://schemas.microsoft.com/office/drawing/2014/main" id="{0146EFE4-DB54-4437-9724-558921166E17}"/>
              </a:ext>
            </a:extLst>
          </p:cNvPr>
          <p:cNvSpPr>
            <a:spLocks xmlns:a="http://schemas.openxmlformats.org/drawingml/2006/main" noGrp="1"/>
          </p:cNvSpPr>
          <p:nvPr/>
        </p:nvSpPr>
        <p:spPr>
          <a:xfrm xmlns:a="http://schemas.openxmlformats.org/drawingml/2006/main">
            <a:off x="6238875" y="270510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Ele sunt gandite sa-ti arate exact ce ai de facut in momentul curent.</a:t>
            </a:r>
          </a:p>
        </p:txBody>
      </p:sp>
      <p:sp>
        <p:nvSpPr>
          <p:cNvPr id="12" name="">
            <a:extLst xmlns:a="http://schemas.openxmlformats.org/drawingml/2006/main">
              <a:ext uri="{FF2B5EF4-FFF2-40B4-BE49-F238E27FC236}">
                <a16:creationId xmlns:a16="http://schemas.microsoft.com/office/drawing/2014/main" id="{D4D5B996-4248-42A6-8997-2666AA789E65}"/>
              </a:ext>
            </a:extLst>
          </p:cNvPr>
          <p:cNvSpPr>
            <a:spLocks xmlns:a="http://schemas.openxmlformats.org/drawingml/2006/main" noGrp="1"/>
          </p:cNvSpPr>
          <p:nvPr/>
        </p:nvSpPr>
        <p:spPr>
          <a:xfrm xmlns:a="http://schemas.openxmlformats.org/drawingml/2006/main">
            <a:off x="514350" y="4019550"/>
            <a:ext cx="5286375"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537162D2-34C6-4D03-A8E3-C4FBBC576381}"/>
              </a:ext>
            </a:extLst>
          </p:cNvPr>
          <p:cNvSpPr>
            <a:spLocks xmlns:a="http://schemas.openxmlformats.org/drawingml/2006/main" noGrp="1"/>
          </p:cNvSpPr>
          <p:nvPr/>
        </p:nvSpPr>
        <p:spPr>
          <a:xfrm xmlns:a="http://schemas.openxmlformats.org/drawingml/2006/main">
            <a:off x="666750" y="4152900"/>
            <a:ext cx="1143000" cy="247650"/>
          </a:xfrm>
          <a:prstGeom xmlns:a="http://schemas.openxmlformats.org/drawingml/2006/main" prst="roundRect">
            <a:avLst>
              <a:gd name="adj" fmla="val 50000"/>
            </a:avLst>
          </a:prstGeom>
          <a:solidFill xmlns:a="http://schemas.openxmlformats.org/drawingml/2006/main">
            <a:srgbClr val="FE9A00"/>
          </a:solidFill>
          <a:ln xmlns:a="http://schemas.openxmlformats.org/drawingml/2006/main" w="0">
            <a:solidFill>
              <a:srgbClr val="FE9A00"/>
            </a:solid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Pastreaza traseul in sistem</a:t>
            </a:r>
          </a:p>
        </p:txBody>
      </p:sp>
      <p:sp>
        <p:nvSpPr>
          <p:cNvPr id="14" name="">
            <a:extLst xmlns:a="http://schemas.openxmlformats.org/drawingml/2006/main">
              <a:ext uri="{FF2B5EF4-FFF2-40B4-BE49-F238E27FC236}">
                <a16:creationId xmlns:a16="http://schemas.microsoft.com/office/drawing/2014/main" id="{1016256B-4E37-47E8-9C44-900B584D5910}"/>
              </a:ext>
            </a:extLst>
          </p:cNvPr>
          <p:cNvSpPr>
            <a:spLocks xmlns:a="http://schemas.openxmlformats.org/drawingml/2006/main" noGrp="1"/>
          </p:cNvSpPr>
          <p:nvPr/>
        </p:nvSpPr>
        <p:spPr>
          <a:xfrm xmlns:a="http://schemas.openxmlformats.org/drawingml/2006/main">
            <a:off x="666750" y="4514850"/>
            <a:ext cx="49815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314158"/>
                </a:solidFill>
              </a:defRPr>
            </a:pPr>
            <a:r>
              <a:rPr sz="1125">
                <a:solidFill>
                  <a:srgbClr val="314158"/>
                </a:solidFill>
              </a:rPr>
              <a:t>Documentele, sedintele, evaluarile si portofoliile trebuie continuate in aplicatie pentru a ramane urmaribile.</a:t>
            </a:r>
          </a:p>
        </p:txBody>
      </p:sp>
      <p:sp>
        <p:nvSpPr>
          <p:cNvPr id="15" name="">
            <a:extLst xmlns:a="http://schemas.openxmlformats.org/drawingml/2006/main">
              <a:ext uri="{FF2B5EF4-FFF2-40B4-BE49-F238E27FC236}">
                <a16:creationId xmlns:a16="http://schemas.microsoft.com/office/drawing/2014/main" id="{CABC0377-4A5A-408E-851A-5B159707A7CE}"/>
              </a:ext>
            </a:extLst>
          </p:cNvPr>
          <p:cNvSpPr>
            <a:spLocks xmlns:a="http://schemas.openxmlformats.org/drawingml/2006/main" noGrp="1"/>
          </p:cNvSpPr>
          <p:nvPr/>
        </p:nvSpPr>
        <p:spPr>
          <a:xfrm xmlns:a="http://schemas.openxmlformats.org/drawingml/2006/main">
            <a:off x="514350" y="5676900"/>
            <a:ext cx="10858500" cy="590550"/>
          </a:xfrm>
          <a:prstGeom xmlns:a="http://schemas.openxmlformats.org/drawingml/2006/main" prst="roundRect">
            <a:avLst>
              <a:gd name="adj" fmla="val 25806"/>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6FE71037-378D-4329-B632-7217BC370024}"/>
              </a:ext>
            </a:extLst>
          </p:cNvPr>
          <p:cNvSpPr>
            <a:spLocks xmlns:a="http://schemas.openxmlformats.org/drawingml/2006/main" noGrp="1"/>
          </p:cNvSpPr>
          <p:nvPr/>
        </p:nvSpPr>
        <p:spPr>
          <a:xfrm xmlns:a="http://schemas.openxmlformats.org/drawingml/2006/main">
            <a:off x="666750" y="5810250"/>
            <a:ext cx="1055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a:solidFill>
                  <a:srgbClr val="314158"/>
                </a:solidFill>
              </a:defRPr>
            </a:pPr>
            <a:r>
              <a:rPr sz="975">
                <a:solidFill>
                  <a:srgbClr val="314158"/>
                </a:solidFill>
              </a:rPr>
              <a:t>Cum se foloseste in practica: Pentru ca utilizarea sa ramana simpla si sigura, aplicatia trebuie folosita consecvent pe aceeasi logica: listare, filtrare, detaliu, wizard, rezultat. Aceasta disciplina ajuta atat utilizatorul, cat si institutia. Lucreaza din module: Porneste intotdeauna din modulul potrivit, nu din documente salvate local. Foloseste stari si filtre: Ele sunt gandite sa-ti arate exact ce ai de facut in momentul curent. Pastreaza traseul in sistem: Documentele, sedintele, evaluarile si portofoliile trebuie continuate in aplicatie pentru a ramane urmaribile.</a:t>
            </a:r>
          </a:p>
        </p:txBody>
      </p:sp>
      <p:sp>
        <p:nvSpPr>
          <p:cNvPr id="17" name="">
            <a:extLst xmlns:a="http://schemas.openxmlformats.org/drawingml/2006/main">
              <a:ext uri="{FF2B5EF4-FFF2-40B4-BE49-F238E27FC236}">
                <a16:creationId xmlns:a16="http://schemas.microsoft.com/office/drawing/2014/main" id="{1523A5B3-EEFE-4918-87FD-F1E9BB5451FF}"/>
              </a:ext>
            </a:extLst>
          </p:cNvPr>
          <p:cNvSpPr>
            <a:spLocks xmlns:a="http://schemas.openxmlformats.org/drawingml/2006/main" noGrp="1"/>
          </p:cNvSpPr>
          <p:nvPr/>
        </p:nvSpPr>
        <p:spPr>
          <a:xfrm xmlns:a="http://schemas.openxmlformats.org/drawingml/2006/main">
            <a:off x="514350" y="6429375"/>
            <a:ext cx="111633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18" name="">
            <a:extLst xmlns:a="http://schemas.openxmlformats.org/drawingml/2006/main">
              <a:ext uri="{FF2B5EF4-FFF2-40B4-BE49-F238E27FC236}">
                <a16:creationId xmlns:a16="http://schemas.microsoft.com/office/drawing/2014/main" id="{306ACABD-5415-4844-88DB-B7E6B73413C3}"/>
              </a:ext>
            </a:extLst>
          </p:cNvPr>
          <p:cNvSpPr>
            <a:spLocks xmlns:a="http://schemas.openxmlformats.org/drawingml/2006/main" noGrp="1"/>
          </p:cNvSpPr>
          <p:nvPr/>
        </p:nvSpPr>
        <p:spPr>
          <a:xfrm xmlns:a="http://schemas.openxmlformats.org/drawingml/2006/main">
            <a:off x="514350" y="6486525"/>
            <a:ext cx="8572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62748E"/>
                </a:solidFill>
              </a:defRPr>
            </a:pPr>
            <a:r>
              <a:rPr sz="750">
                <a:solidFill>
                  <a:srgbClr val="62748E"/>
                </a:solidFill>
              </a:rPr>
              <a:t>Bune practici de utilizare</a:t>
            </a:r>
          </a:p>
        </p:txBody>
      </p:sp>
    </p:spTree>
    <p:extLst>
      <p:ext uri="{BB962C8B-B14F-4D97-AF65-F5344CB8AC3E}">
        <p14:creationId xmlns:p14="http://schemas.microsoft.com/office/powerpoint/2010/main" val="3787916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2026-06-24T19:26:53.2480000Z</dcterms:created>
  <dcterms:modified xsi:type="dcterms:W3CDTF">2026-06-24T19:26:53.2480000Z</dcterms:modified>
</coreProperties>
</file>