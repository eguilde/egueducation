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5214a7fb6d4d86" /><Relationship Type="http://schemas.openxmlformats.org/officeDocument/2006/relationships/extended-properties" Target="/docProps/app.xml" Id="R932dbba1cef54384" /><Relationship Type="http://schemas.openxmlformats.org/officeDocument/2006/relationships/officeDocument" Target="/ppt/presentation.xml" Id="Rad477d9f945f4b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4f496c890d461a"/>
  </p:sldMasterIdLst>
  <p:notesMasterIdLst>
    <p:notesMasterId xmlns:r="http://schemas.openxmlformats.org/officeDocument/2006/relationships" r:id="R2bc734ae045f49c2"/>
  </p:notesMasterIdLst>
  <p:sldIdLst>
    <p:sldId xmlns:r="http://schemas.openxmlformats.org/officeDocument/2006/relationships" id="256" r:id="Rb2ea4e58020f4467"/>
    <p:sldId xmlns:r="http://schemas.openxmlformats.org/officeDocument/2006/relationships" id="257" r:id="R2bad164e31c441c1"/>
    <p:sldId xmlns:r="http://schemas.openxmlformats.org/officeDocument/2006/relationships" id="258" r:id="R87af0d10c4754d9c"/>
    <p:sldId xmlns:r="http://schemas.openxmlformats.org/officeDocument/2006/relationships" id="259" r:id="R336b6a6529d04178"/>
    <p:sldId xmlns:r="http://schemas.openxmlformats.org/officeDocument/2006/relationships" id="260" r:id="Rd1ba91313ff2401b"/>
    <p:sldId xmlns:r="http://schemas.openxmlformats.org/officeDocument/2006/relationships" id="261" r:id="R297f4a0164e5470f"/>
    <p:sldId xmlns:r="http://schemas.openxmlformats.org/officeDocument/2006/relationships" id="262" r:id="Rdd5da9e3285043bf"/>
    <p:sldId xmlns:r="http://schemas.openxmlformats.org/officeDocument/2006/relationships" id="263" r:id="Rcec1013cf70c4b9b"/>
    <p:sldId xmlns:r="http://schemas.openxmlformats.org/officeDocument/2006/relationships" id="264" r:id="Refec23b3153b41da"/>
    <p:sldId xmlns:r="http://schemas.openxmlformats.org/officeDocument/2006/relationships" id="265" r:id="Rccdbe3dc5d7f4532"/>
    <p:sldId xmlns:r="http://schemas.openxmlformats.org/officeDocument/2006/relationships" id="266" r:id="R9880155a02634980"/>
    <p:sldId xmlns:r="http://schemas.openxmlformats.org/officeDocument/2006/relationships" id="267" r:id="R67fa483a38a949ae"/>
    <p:sldId xmlns:r="http://schemas.openxmlformats.org/officeDocument/2006/relationships" id="268" r:id="Rf95ed2ce2aa64675"/>
    <p:sldId xmlns:r="http://schemas.openxmlformats.org/officeDocument/2006/relationships" id="269" r:id="R6b496d63fb5b48f9"/>
    <p:sldId xmlns:r="http://schemas.openxmlformats.org/officeDocument/2006/relationships" id="270" r:id="R312ed87690cc42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da9d25667046d4" /><Relationship Type="http://schemas.openxmlformats.org/officeDocument/2006/relationships/slideMaster" Target="/ppt/slideMasters/slideMaster1.xml" Id="R1d4f496c890d461a" /><Relationship Type="http://schemas.openxmlformats.org/officeDocument/2006/relationships/notesMaster" Target="/ppt/notesMasters/notesMaster1.xml" Id="R2bc734ae045f49c2" /><Relationship Type="http://schemas.openxmlformats.org/officeDocument/2006/relationships/presProps" Target="/ppt/presProps.xml" Id="R433709ca743b4d57" /><Relationship Type="http://schemas.openxmlformats.org/officeDocument/2006/relationships/tableStyles" Target="/ppt/tableStyles.xml" Id="R60f8255a8e9d4827" /><Relationship Type="http://schemas.openxmlformats.org/officeDocument/2006/relationships/slide" Target="/ppt/slides/slide1.xml" Id="Rb2ea4e58020f4467" /><Relationship Type="http://schemas.openxmlformats.org/officeDocument/2006/relationships/slide" Target="/ppt/slides/slide2.xml" Id="R2bad164e31c441c1" /><Relationship Type="http://schemas.openxmlformats.org/officeDocument/2006/relationships/slide" Target="/ppt/slides/slide3.xml" Id="R87af0d10c4754d9c" /><Relationship Type="http://schemas.openxmlformats.org/officeDocument/2006/relationships/slide" Target="/ppt/slides/slide4.xml" Id="R336b6a6529d04178" /><Relationship Type="http://schemas.openxmlformats.org/officeDocument/2006/relationships/slide" Target="/ppt/slides/slide5.xml" Id="Rd1ba91313ff2401b" /><Relationship Type="http://schemas.openxmlformats.org/officeDocument/2006/relationships/slide" Target="/ppt/slides/slide6.xml" Id="R297f4a0164e5470f" /><Relationship Type="http://schemas.openxmlformats.org/officeDocument/2006/relationships/slide" Target="/ppt/slides/slide7.xml" Id="Rdd5da9e3285043bf" /><Relationship Type="http://schemas.openxmlformats.org/officeDocument/2006/relationships/slide" Target="/ppt/slides/slide8.xml" Id="Rcec1013cf70c4b9b" /><Relationship Type="http://schemas.openxmlformats.org/officeDocument/2006/relationships/slide" Target="/ppt/slides/slide9.xml" Id="Refec23b3153b41da" /><Relationship Type="http://schemas.openxmlformats.org/officeDocument/2006/relationships/slide" Target="/ppt/slides/slide10.xml" Id="Rccdbe3dc5d7f4532" /><Relationship Type="http://schemas.openxmlformats.org/officeDocument/2006/relationships/slide" Target="/ppt/slides/slide11.xml" Id="R9880155a02634980" /><Relationship Type="http://schemas.openxmlformats.org/officeDocument/2006/relationships/slide" Target="/ppt/slides/slide12.xml" Id="R67fa483a38a949ae" /><Relationship Type="http://schemas.openxmlformats.org/officeDocument/2006/relationships/slide" Target="/ppt/slides/slide13.xml" Id="Rf95ed2ce2aa64675" /><Relationship Type="http://schemas.openxmlformats.org/officeDocument/2006/relationships/slide" Target="/ppt/slides/slide14.xml" Id="R6b496d63fb5b48f9" /><Relationship Type="http://schemas.openxmlformats.org/officeDocument/2006/relationships/slide" Target="/ppt/slides/slide15.xml" Id="R312ed87690cc42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e65f40f29c41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d53b7cc72a4bbf" /><Relationship Type="http://schemas.openxmlformats.org/officeDocument/2006/relationships/notesMaster" Target="/ppt/notesMasters/notesMaster1.xml" Id="R9e58c8f688e143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1615278fc44f2d" /><Relationship Type="http://schemas.openxmlformats.org/officeDocument/2006/relationships/notesMaster" Target="/ppt/notesMasters/notesMaster1.xml" Id="R1b140ea57b1146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42ee830dfa4e6a" /><Relationship Type="http://schemas.openxmlformats.org/officeDocument/2006/relationships/notesMaster" Target="/ppt/notesMasters/notesMaster1.xml" Id="R48683ea94fe848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c8dc6368294fa8" /><Relationship Type="http://schemas.openxmlformats.org/officeDocument/2006/relationships/notesMaster" Target="/ppt/notesMasters/notesMaster1.xml" Id="Red5d20a4e0e04f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6388f0013e458f" /><Relationship Type="http://schemas.openxmlformats.org/officeDocument/2006/relationships/notesMaster" Target="/ppt/notesMasters/notesMaster1.xml" Id="Rf93d4d6ab0224f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09a6f09eda4124" /><Relationship Type="http://schemas.openxmlformats.org/officeDocument/2006/relationships/notesMaster" Target="/ppt/notesMasters/notesMaster1.xml" Id="R210b12e96a0748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a18f8688f744e6" /><Relationship Type="http://schemas.openxmlformats.org/officeDocument/2006/relationships/notesMaster" Target="/ppt/notesMasters/notesMaster1.xml" Id="Rba64ca1834fc4c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14a1cd182148f6" /><Relationship Type="http://schemas.openxmlformats.org/officeDocument/2006/relationships/notesMaster" Target="/ppt/notesMasters/notesMaster1.xml" Id="R11552468462b46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c22c66ca054ad2" /><Relationship Type="http://schemas.openxmlformats.org/officeDocument/2006/relationships/notesMaster" Target="/ppt/notesMasters/notesMaster1.xml" Id="R10060445f9544f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50ee71900744c0" /><Relationship Type="http://schemas.openxmlformats.org/officeDocument/2006/relationships/notesMaster" Target="/ppt/notesMasters/notesMaster1.xml" Id="R5f5c7ca3ed4549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a1918e227e42fc" /><Relationship Type="http://schemas.openxmlformats.org/officeDocument/2006/relationships/notesMaster" Target="/ppt/notesMasters/notesMaster1.xml" Id="R90f160e97df944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3e9e7f5e7a4331" /><Relationship Type="http://schemas.openxmlformats.org/officeDocument/2006/relationships/notesMaster" Target="/ppt/notesMasters/notesMaster1.xml" Id="R3e895f1a0c814f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c6c43ccf644862" /><Relationship Type="http://schemas.openxmlformats.org/officeDocument/2006/relationships/notesMaster" Target="/ppt/notesMasters/notesMaster1.xml" Id="R1446acae366d43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55f81e390e4079" /><Relationship Type="http://schemas.openxmlformats.org/officeDocument/2006/relationships/notesMaster" Target="/ppt/notesMasters/notesMaster1.xml" Id="Rdbb41b5a814949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ddbc4d66a149bf" /><Relationship Type="http://schemas.openxmlformats.org/officeDocument/2006/relationships/notesMaster" Target="/ppt/notesMasters/notesMaster1.xml" Id="R35a4b384425e49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0d6e6d6ba42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1dbe1e29ee42db" /><Relationship Type="http://schemas.openxmlformats.org/officeDocument/2006/relationships/slideLayout" Target="/ppt/slideLayouts/slideLayout1.xml" Id="Ra46138aa5d1448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6138aa5d1448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88852e44d4cda" /><Relationship Type="http://schemas.openxmlformats.org/officeDocument/2006/relationships/notesSlide" Target="/ppt/notesSlides/notesSlide1.xml" Id="R4f8b5c660f4c45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e51bee75740a9" /><Relationship Type="http://schemas.openxmlformats.org/officeDocument/2006/relationships/notesSlide" Target="/ppt/notesSlides/notesSlide2.xml" Id="Rfca3f87706884d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00f59a591425d" /><Relationship Type="http://schemas.openxmlformats.org/officeDocument/2006/relationships/notesSlide" Target="/ppt/notesSlides/notesSlide3.xml" Id="R557117dbf28746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9c1e3ea664836" /><Relationship Type="http://schemas.openxmlformats.org/officeDocument/2006/relationships/notesSlide" Target="/ppt/notesSlides/notesSlide4.xml" Id="R056573a4f2cd40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ed7fd9c1940c5" /><Relationship Type="http://schemas.openxmlformats.org/officeDocument/2006/relationships/notesSlide" Target="/ppt/notesSlides/notesSlide5.xml" Id="R706c3fec1e5c4e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e82df4c084b7a" /><Relationship Type="http://schemas.openxmlformats.org/officeDocument/2006/relationships/notesSlide" Target="/ppt/notesSlides/notesSlide6.xml" Id="Rc875acd5760b45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57a35f34c48b6" /><Relationship Type="http://schemas.openxmlformats.org/officeDocument/2006/relationships/notesSlide" Target="/ppt/notesSlides/notesSlide7.xml" Id="Rebbc375e36ae41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89bf9b8894b0f" /><Relationship Type="http://schemas.openxmlformats.org/officeDocument/2006/relationships/notesSlide" Target="/ppt/notesSlides/notesSlide8.xml" Id="R7acd57cd1fa34b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0f1a806774325" /><Relationship Type="http://schemas.openxmlformats.org/officeDocument/2006/relationships/notesSlide" Target="/ppt/notesSlides/notesSlide9.xml" Id="R4fbd817508fc48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647ba65464818" /><Relationship Type="http://schemas.openxmlformats.org/officeDocument/2006/relationships/notesSlide" Target="/ppt/notesSlides/notesSlide10.xml" Id="R9561d751a86343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283aaa5384fd2" /><Relationship Type="http://schemas.openxmlformats.org/officeDocument/2006/relationships/notesSlide" Target="/ppt/notesSlides/notesSlide11.xml" Id="Rec6eb365c5f842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a5f15dff44f65" /><Relationship Type="http://schemas.openxmlformats.org/officeDocument/2006/relationships/notesSlide" Target="/ppt/notesSlides/notesSlide12.xml" Id="Rec84eb2335dd4c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86012c93d44a4" /><Relationship Type="http://schemas.openxmlformats.org/officeDocument/2006/relationships/notesSlide" Target="/ppt/notesSlides/notesSlide13.xml" Id="R969e0d31233444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3762d26ee4aeb" /><Relationship Type="http://schemas.openxmlformats.org/officeDocument/2006/relationships/notesSlide" Target="/ppt/notesSlides/notesSlide14.xml" Id="Rb1518b23e9844e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b553cfc484def" /><Relationship Type="http://schemas.openxmlformats.org/officeDocument/2006/relationships/notesSlide" Target="/ppt/notesSlides/notesSlide15.xml" Id="R06c0bec9b4754c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5384B-A03A-4A24-BDEE-FC65FA23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B3361-8A6A-41C9-A064-B003EB01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C1B2B-57E7-43CC-B09D-51447C7E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Manual operational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2ED0E-7D4A-46C9-9B96-1661C908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90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Ajutor si manual de lucru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471CE-9C26-43E9-9E02-37C9BA40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590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Ghid operational pentru modulul education, construit ca manual in-app si aliniat la cele doua documente sursa.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EC0EE-F55E-49AA-B9B1-27130B58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Deck manual pentru utilizare in aplicatie, aliniat la cele doua PDF-uri sursa.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26E56-DDEB-4BB7-A114-6DD0E404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38200"/>
            <a:ext cx="4286250" cy="24574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33E0C-34CD-4945-99A9-5B18997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049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Acoperire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D1B89-DAE8-4E4C-A1FB-F3774B72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240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13 capitole functionale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21206-B9C6-4682-9095-44D25E14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5556C"/>
                </a:solidFill>
              </a:defRPr>
            </a:pPr>
            <a:r>
              <a:rPr sz="1050">
                <a:solidFill>
                  <a:srgbClr val="45556C"/>
                </a:solidFill>
              </a:rPr>
              <a:t>Portofolii, guvernanta, personal, rapoarte, conformitate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924D1-7EA2-4270-BBD5-2AA226AE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030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C7D99-FF67-4397-B979-28C5F5DD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Sursa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D04EB-5BDD-4C69-9FB7-8D1701F2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20618"/>
                </a:solidFill>
              </a:defRPr>
            </a:pPr>
            <a:r>
              <a:rPr sz="825">
                <a:solidFill>
                  <a:srgbClr val="020618"/>
                </a:solidFill>
              </a:rPr>
              <a:t>Metodologie portofoliu CD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5AEA0-7670-4110-92C9-8EEDEAE8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Sursa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90553-FA99-4102-9073-8106D670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20618"/>
                </a:solidFill>
              </a:defRPr>
            </a:pPr>
            <a:r>
              <a:rPr sz="825">
                <a:solidFill>
                  <a:srgbClr val="020618"/>
                </a:solidFill>
              </a:rPr>
              <a:t>Ghid directori unitati de invatamant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02C97-2A7F-4F3C-BA07-60DEDCCC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0680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1D103-E046-4B9E-B3E0-05788CC9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F71DE-D831-425E-9CFC-27D16929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C9DD5-7EF0-4AD4-AE70-28C71E6B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19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Acoperite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19B9A-FC8B-472A-8F1C-EBB9FA7D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29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5AFF7-154D-48BD-911E-884C8C1C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19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De rafinat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4D298-2B9C-4660-A1E9-82CC5023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29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92C102-89FA-4E60-A69F-B0A996C2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5E999A-9716-423E-AC5E-BA97BA78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CCDDC-BDE3-4FB3-821D-B8D6D222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936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077649-2C27-4824-940D-D60E46AF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87392-64D9-4873-A3BB-CC01D1E1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Orientare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AC2E2-E6AD-4816-ADD9-6DD4108A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Cum se foloseste acest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BAC80-C9D2-47ED-9282-B9499B41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Ghid de lucru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28F98-791B-44B2-B2A6-1ED291A0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Porneste din rutele rapide, deschide capitolul potrivit rolului tau si urmeaza exact secventele din stanga si iesirile asteptate din dreapta. Fiecare capitol este gandit ca o instructiune operationala completa, nu ca o simpla eticheta de ecran.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E7370-A7BC-4BF3-91CF-40098620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4483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28462-4978-44C2-9742-CD592CAD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Pasi de lucru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C7364-EF20-461E-9882-F8F1A60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4A09A-0228-494A-8103-892AA28A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Cauta manualul dupa capitol, ruta sau 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264E1-AB17-4A0B-9825-FE79E384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63607-A0F9-42A9-9147-0D57502C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Daca esti profesor, foloseste portofoliul si fluxurile de evaluare sau mobilitate.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2AE2B-532B-4818-B4C0-E7B16503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A021C-6DCD-4A1A-87BA-457D7E5A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Daca esti director, foloseste guvernanta, cockpitul si rapoartele standard.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2A59C-5B74-4FC1-A9B1-E874DF87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55626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57F73-EAB9-4186-9308-B077AE5D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Roluri si intrari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DB8AC-F4F9-498C-B497-F7B63A53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95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76179-393B-4738-8AAF-535F4F70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19375"/>
            <a:ext cx="506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Director: guvernanta, CA, CP, portofoliu managerial, rapoarte.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A6ECD-743A-412E-9CD4-D76D0071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9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056B6-24D8-4FFA-A59F-B5111844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33725"/>
            <a:ext cx="506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Profesor: portofoliu personal, opis, transfer, evaluare, valorificare.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33130-4B43-420E-9AF9-7C79DB05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24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81AA3-BC6D-4301-83C9-0313D2FD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48075"/>
            <a:ext cx="506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Secretariat: registratura, documente-model, publicare, trasabilitate.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B7A7A9-E330-409A-B775-F13FBAEF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38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4D89A-8EE6-4107-A359-9F5363C7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62425"/>
            <a:ext cx="506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Inspector: conformitate, control si analiza punctelor critice.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E0365-C881-4915-9A44-28FC5BF6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5A36B-DE94-4AA3-A0D5-B86E5B7A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Ghid de lucru pentru rolurile din eGuEducation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23D32-A340-4B6E-8F19-AFFCA78D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1000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CC0665-21CF-44DD-88B3-395F64F3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AC9A5-466B-43AA-A6A4-DB2E5E4C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01 / 13  |  profesor, director, secretariat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6BDE0-5783-46C2-8819-15EE4B73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Portofoliul profesional al cadrului didactic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78323-54FB-4C2E-A82E-8D3D19F2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 rafinat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7320E-0181-4F42-824A-E451B98D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Registrul portofoliilor, structura pe sectiuni, documentele, checklistul, custodia, transferul si revizuirea.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899B2-3520-473C-9C14-03371229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B60DC-BF7B-41C8-AC93-28A831E7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AE3D6-DB36-43BC-BA34-CD795C15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EBDC-7779-46F4-B9F7-708A94FF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Portofoliul meu sau lista de Portofolii CD.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AE348-CD35-433A-BC12-328850C0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507E8-8833-4840-B934-95391441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Verifica starea, sectiunile si lipsurile din portofoliu.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7CCD9-3F01-419C-AD00-9C44A320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02650-1304-407C-8BA5-ED521FE1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Trimite la verificare sau revino la completare din fluxul ghidat.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FC729-3C04-4C15-BAAF-C341F6C9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profesor, director, secretariat.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13679-362E-40BC-BE5B-23A63F0B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AE3A7-3783-4419-B57B-FF67ADE5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E42F2-8093-4D6A-9549-C89254E8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B9A463-90AC-4194-82FD-90A6C915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PDF principal de portofoliu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E48CD-B9D0-42EB-84DD-368A25B1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6D09B-A39E-4BDA-B093-06BB98D4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sumar de transfer si custodie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963DD-1738-4F04-890C-D78932AE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8E1A0-3F90-4CC6-B26C-4CC12D21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stare operationala pentru verificare si validare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72177-C3F4-494C-8D60-C548D106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73C5F-5F2D-4AE2-AA93-94EFA68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A5183-B25E-4706-B82F-7BB4B427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193167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/education/portfolio/me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67F15-E5A6-4C15-A50E-2AD4A0D5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236601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/education/portfolio/workflow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B3F94E-5B83-4604-8B59-E6B2783D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245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/education/portfolio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8799B8-B303-40B3-8F15-2A9B46C4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0CB13-D553-4C26-B1C9-BA5BCF11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portfolio-professional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DC2FA5-F4BF-42F6-A9E3-435384A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5215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FC31AD-6BA3-4B8B-8718-94FC234B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E947B-1170-4481-B3B3-8D7AF36B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02 / 13  |  profesor, secretariat, director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9A470-0EE1-49D9-9BDD-C11C532F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Opis, indexare si datare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8B4D-8296-4BBF-BCE8-7C4C33FB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Acoperit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7CE3A-91A0-444D-A1D3-DEEE2FED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Opisul este indexat cronologic, regenerator automat din documente si afisat cu datare vizibila.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27CDA-3B8F-4C56-AE1C-25978681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B1180-4179-4C94-A158-2FC9AF3C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2333F-6815-45E8-B47E-31A67F54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4538F-60DC-4C1C-AA5A-BA2E9756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opisul din detaliul portofoliului.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9CE1A-7BE1-4C3E-B90D-11F6315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8AF45-9465-4121-80B3-AA04D89B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Regeneraza opisul dupa modificari de documente.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55E0C-8FBD-4434-B99F-C263D5D9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71D48-A30F-4B15-AB2D-8DBB9DAD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Urmareste datarea automata si numarul de inregistrari.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22B2E-5CF0-4286-B178-FFBB0073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profesor, secretariat, director.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37974-1B54-4BC2-9607-1E083A24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CCA20-50E8-4D94-ADFE-0F535A73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6E485-31BD-4D45-B441-1FFE526D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73D34-9CFA-4899-A862-07D79468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opis structurat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F73DE-5D25-42A1-83C9-1A94590F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690EF-B52F-4741-B4DD-04E7E494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referinte document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70FDD-C2FE-4675-81F7-58EDD582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27EFD-E322-45DB-81A1-35648A14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datare si ordonare cronologica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AB5EF-4765-403F-8AD4-20D4A049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FB7A4-9500-476A-9E4F-A509275B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B7C0E-4857-4992-93A5-4ECB3A02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193167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/education/portfolio/me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AE9DA-CCB6-4027-915A-6A851ED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48387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/education/portfolio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1CC7B-5235-49FB-9A7E-A9D18A1C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D94271-0A9C-4AA2-84DC-20BC0F0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opis-indexare-datare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B76BBA-A3F6-47DD-AE35-49AC79AE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6282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60014E-A749-4FFD-8E20-EE3938D4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799B2-C434-4529-BEFF-60F05CB3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03 / 13  |  secretariat, director, HR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834B3-4920-4643-9CAF-22A3382B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Delimitarea portofoliu versus dosar personal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F6E1B-F2EB-41D8-B3ED-4EB75A21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 rafinat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C364E-EEE6-4A7D-B6D1-F8137E98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Portofoliul profesional si dosarul personal raman entitati distincte, dar corelabile si auditate.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5E84A-3590-4B5D-BD79-3D8F5F0D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608AD-D32C-4BE3-AB64-0D4E5182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51603-9AEE-439A-A416-28579898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5308E-94C9-448F-89F1-7E268066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Urmareste sumarul consolidat de relatie dintre portofoliu si dosarul personal.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EEE59-3997-4CA6-9CEB-3E15EAB3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C0B46-8627-46E2-82AA-1F7B02BD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Verifica documentele oglindite si blocajele institutionale.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65C6E-A6F7-4F42-8DE6-EA34A400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62BA1-F08B-4725-AC9D-93DD20E7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Aplica reguli interne pentru separare sau dublare de documente.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00540-27A2-43CB-AAB9-6FAD52B0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secretariat, director, HR.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071F5-3704-454F-850D-93EAAFFB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80E90-3717-4A51-A89B-46B8863C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37347-E823-48A0-999A-08728454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F576F-B441-4FED-AAF2-D80A7F84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sumar relatie portofoliu-dosar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84236-B2BA-4543-BEB9-0695CF0D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32045-82AD-4801-81FE-8DCE9623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reguli de oglindire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E69761-EF8F-4625-8E69-B6F2F6AC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7256F-BD73-4FC5-9175-F056DB06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audit de acces si trasabilitate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AE5AF-303C-40CC-944C-977A202B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DB282D-807D-4E7C-9A8E-BE702283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532EF-13C3-451D-8EEF-23ADAD5A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/education/personnel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C745DE-9862-41F1-8EE0-9469390F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387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/education/portfolio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4B3B8-220D-4D2C-BF5A-03B37769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178689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/education/compliance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3B9386-D706-482B-B76D-28B6F8BF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6ED792-2D1F-463F-8998-BB6BEE0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portfolio-vs-dossier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5B8571-8CAE-4C42-8A6D-EC7BC774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62935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D4C2B3-0479-4038-8D45-DDB4674A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7048E-00FF-48D0-BAE5-0CA7D683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04 / 13  |  secretariat, director, profesor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B0576-DBFE-4E69-9F79-90A24371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Transfer digital si mobilitate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BB031-E284-4702-BE84-B01753FC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 rafinat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5245F-BB1F-41B2-A6EA-C5C8F28B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Transferurile sunt urmarite procedural, cu custodie, predare, receptie si legaturi cu mobilitatea.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09C66-1FAB-4187-A55A-5554F0A4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EEE3B-1A62-420A-B593-43F9D866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22409-89DE-43CD-8A10-9F802925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84EDE-7FD6-48EE-8F20-C426C969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sumarul de transfer al portofoliului.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59414-6D9D-4465-9721-228B45A1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51AD6-1CF9-4115-A925-FE9A5D5D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Verifica stadiul: pregatit, trimis, receptionat sau inchis.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6FCEC-6A71-4775-B9D7-120FB87C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E720E-0A82-4DE1-A35A-46042B8C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Urmareste unitatea de baza si unitatea curenta.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A649C-1111-49E6-BBDD-23F56279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secretariat, director, profesor.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630CB-2BD5-4522-BD11-6D8F6A48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E170D-184E-4BB8-A897-3C549E13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B0B26-2DF6-4831-A504-D1C98B36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74660-8FB4-4289-B60A-BD5F195C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sumar transfer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8F72D-6429-4A1D-B738-08183132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9661A-8A71-434F-8FDD-1F14D54D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istoric de predare si receptie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07D5A-B4CD-4BB7-B990-B859A226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0431E-1D7B-490F-A146-492FE23D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stare de mobilitate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E65F8-A34C-429F-8046-60260341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C6DF9-25A0-4E7B-9476-FA10874D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21902D-9EA7-4599-BDC1-93BBE886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/education/portfolio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C2F06-A091-4627-9CBB-C83E3FD3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387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/education/personnel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11800A-A6BA-4171-9DA8-7EE98E11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6E4F78-2483-43C9-96FE-3A6CAF95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transfer-mobility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AC4F2F-D702-489F-ACF3-BCFEF551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6697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3AC619-94A2-4DB8-9F33-19695FFE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90645-25D0-4F5F-8962-38A9AC87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05 / 13  |  profesor, director, inspector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EC1D7-7F4E-4FF4-A08D-422715B1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Fluxurile de valorificare a portofoliului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4AAE1-02D4-426E-B8BE-063A176A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 rafinat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B76CF-157D-47EA-9D58-FE6F5B3D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Portofoliul poate fi utilizat in evaluare, mobilitate, gradatii, inspectii si dezvoltare profesionala.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9C448-E182-4D92-81C6-3FFFDADF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2B160-1056-4202-A828-9C1E4D6F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589E3-1C3A-452B-A32D-F0EDC4B6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13D2B-CC2E-40A0-B5EB-36D808D4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sumarul de valorificare al portofoliului.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87FEE-B966-4CDF-8A01-1B716D42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3D27E-8699-414C-8FE8-6E63091D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Urmareste contextul metodologic relevant.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321E0-E3A8-4684-9CE4-B52A4204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6F73B-9EDB-4F4F-B3A5-EB27482B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Filtreaza traseele pe evaluare, mobilitate sau gradatie.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F205D-874A-4A8E-AD95-69E3DF7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profesor, director, inspector.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2B0A5-5063-4807-BE59-D0759EAA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11FE5-3A44-4210-891A-61B2A55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B524A-9DD5-4496-8083-FD07213F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348C3-03F0-4277-87F4-50680990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istoric de valorificare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9DB72-D93A-4F58-9286-E78A79E7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85159-9236-4FDD-9744-6FA4034A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stare pe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9C7BB-36CB-4F5F-9CCE-AEBE379F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A448D-DEE7-46C0-9B98-A4C26D99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raport contextual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3BE13-3989-45B5-B725-8C1FB65B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848BA-DF27-4AE9-9AF3-800C1FC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587C1-2807-4E85-91B2-3223F2F4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/education/portfolio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8DCFE-8300-482C-8377-0C87C55D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387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/education/personnel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E390E9-5003-446A-A324-41AF2184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40C763-8E06-42A3-B54C-D8401878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valorification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C288C3-8103-4D11-80ED-AA145A51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45102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C9F906-8932-4CC8-97A4-EDCF942F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26085-55B6-49A3-8E8D-CB0EE0C0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06 / 13  |  director, secretariat, 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49ACD-A866-4344-8597-0D81FD63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ROF si ROI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4FAE1-A7D2-4088-96A4-6705A9A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 rafinat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89B71-9D83-415E-9D14-58C61B36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Regulamentele au versiuni, avizare, aprobare, publicare si arhivare, cu sumar procedural.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4B1B3-B540-41E4-8696-EA650BA3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81AE9-8E0B-490D-BFFE-84249FAD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4886F-858C-4905-AA67-5F02932D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5C781-EDDB-4C91-B403-5A9DF2FF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registrul de regulamente.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7A133-4A73-4BA7-B7AF-3CA0A974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441B4-DFA8-47AE-B60C-0CE5B0B5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Verifica starea versiunii si a workflow-ului.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FDEF0-9E12-4B16-A0F2-2299AA2D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29AE4-B157-4252-9E99-EA6E6B96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Publica doar versiunea aprobata si inregistrata.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0810F-9D3B-41A9-9870-D5BE0ACB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director, secretariat, CP.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D9D8A-C492-4648-9398-D56016C6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12C43-071D-4E82-8B3E-EF491646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8DF6E-2DC3-4300-9DEA-4FA5654C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EB6065-E015-4935-B73A-B02B7E57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versionare regulament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2CA44-5093-4292-B4A1-4272CECF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C7526-A8CB-4C09-A7C6-380BD9B9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flux de avizare si aprobare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9DEBD-8500-41D5-89D0-5CAA4C33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2436F-C6A5-47F1-9248-EBE19604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stare de publicare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A5917-4ABC-4C32-86D8-3BD8F780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55AAD-6CB6-4375-9234-1671DAD5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E399F-CD66-4D2D-8508-1A33DE99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178689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/education/governance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FE1C79-DEB3-4F2D-81A4-5D4BD695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4838700"/>
            <a:ext cx="178689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/education/compliance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67844-9833-42CB-882B-D148E51F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CF6881-7FFA-41C7-BDD8-48BB9BF3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rof-roi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C74F3F-672A-427C-A941-C2D86099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7327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D1E1A1-5B9D-41D2-9415-2DF0180E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E2D19-B59A-4828-95DE-FDE290B1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07 / 13  |  director, secretariat, membri 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8B2E8-6109-4894-B15D-100EE6F1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CA complet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4033D-E71F-43BB-93AF-50A9740C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 rafinat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32777-4DD0-4FCE-ADE0-42B9B2FA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Sedintele CA includ membri, participanti, voturi, minute, hotarari si sumar procedural.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C6921-9AC8-49B5-ACB8-A3D3F431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6A20F-8B63-4E1A-9BA6-BCABEACA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A0C26-382F-4FFA-97B4-CA6BEEC5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DFFA7-916E-4D4C-9F7C-12D2431C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CA si creeaza sedinta din wizard.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1BCD9-1342-4217-9AF6-2958013E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F43A0-51CD-4790-9FE8-5BED7B74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Verifica participanti, cvorum si voturi.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4FF46-141A-4E7A-9BB0-34030ED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8163B-C840-4571-94DD-EAC37231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Finalizeaza prin minute si hotarari.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53A6A-6B86-4091-A1FB-C7A341BF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director, secretariat, membri CA.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0FA71-DB07-4627-B8D9-6D4EE053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B4BE4-1878-482E-97D2-AFCC0DEF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6373E-4A74-4BAB-A218-08674EC8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E9BCD-D2EB-4386-9ED8-536B0A8A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proces-verbal 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4EEB28-9FB9-49EE-945C-8AE9F690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8ED33-1F12-42C6-8E93-CD0F0A71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hotarari si minute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E9964-FAAE-4DC3-9E02-D63D34DF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6273A-CE4F-48AD-B34A-15AEBA64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sumar procedural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F863B-4CCD-469D-BCFC-24B917B3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CB2EE4-7CE4-4474-A420-E615420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5A75F-ABD5-4CAA-B26B-C5D1E651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178689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/education/governance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D6F085-6D39-42ED-9E69-9950FE18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251079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/education/governance/ca-wizard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95070-6357-4F00-99CF-40DA1C62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1EF90-77E1-4246-8EDB-E17827F6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ca-complete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1F478F-8728-4D70-9C47-1066132C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03922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459F0-5271-4725-9182-FB1DB86E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23F99-1E47-47FB-9FFD-6ADBD235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08 / 13  |  director, CP, secretariat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41AC8-A14D-44C7-933D-7D1DFA2B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CP complet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C017B-7755-4B59-B57C-2F17F319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 rafinat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5B341-27CD-448E-AA68-A943A05E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Consiliul profesoral este organizat procedural, cu modele si documente oficiale de sedinta.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250CC-2F7C-4ECB-9B04-527F9553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6421A-E76D-4BAC-B997-DB37E794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E5F24-0604-4963-8BBA-E655AE6F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EE07F-1E7A-49A5-BEC0-24EC4D46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CP din guvernanta.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AB633-A1AF-444B-AA99-6AAF0BAA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42DDE-EB2C-4FB0-956B-4383EDA7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Urmeaza ordinea de zi si documentele de sedinta.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23F34-ED41-40DE-8521-FA4D5F15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CB9A3-0A9C-408D-84D4-5814430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Leaga minutele de hotararile consemnate.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3AF6C-2CF6-4BEA-9918-356D9130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director, CP, secretariat.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C95F9-D273-467B-8098-11764823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0DA6C-7B39-4442-8178-668E567D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8ACA1-DE31-4932-AC47-A663AC84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B9A78-C98F-46F9-BA44-8858BF11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proces-verbal 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E593E-064D-4681-BA80-264B0A9A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2B2BB-4BD1-40AA-AFB1-9B718FEB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documente de sedinta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4E437-5F8D-42C0-88DE-8EA5462B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7077F-2D17-4B30-B2FD-C65E749D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raport de sedinta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CE959-8137-4D23-910E-C719EA9B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18909-E978-4ACD-94CB-76263727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CCA92-4366-4395-B4D5-F29CBEB5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178689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/education/governance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F2D563-0262-42E8-B73F-C98E0540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251079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/education/governance/ca-wizard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EE2E5-0179-4C3C-9BC6-E8DA130C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60A260-A2A4-42F2-97F1-196A05B1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cp-complete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00A615-7CC1-4CCC-B8CC-C5643A05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55352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704295-DF70-45D3-A057-68F05E15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B777C-2F68-40FF-BC5D-961BEF01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09 / 13  |  director, responsabil comisie,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5245B-8336-4C5C-B4E8-EDECA36D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Comisii si comisia de evaluare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DC9C9-89A8-4DA6-BB42-A28E0DA7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 rafinat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C455C-7B98-4489-9F79-63E3D8AE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Comisiile au membri, mandat, rezultate si nevoie de raportare si documente dedicate.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DD764-F76C-4616-AEEB-F53BB8B4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1CBB5-2D32-4D3C-9588-A1E68C91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5A5EA-4F26-4870-91C5-069385CC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B7DB8-5567-4E62-BF46-CEDDEC30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resursele de comisie din educatie.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5B729-1375-4CE7-B9CB-DE65BA95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B5FB0-8F70-4404-9671-C999EE94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Verifica componenta si mandatul.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092DB-5035-44C2-92C7-DF075C85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326B0-D941-40BD-8FD9-3BBAA014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Urmareste raportul si documentele rezultate.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7A06C-0C2D-47ED-B8BD-FE73144A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director, responsabil comisie, evaluator.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DE952-F2D9-4E4E-8FCE-D17750A5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742B4-7F22-468E-8230-689C6775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E82DA-3856-4D44-9A9F-B53D9061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9286D-E33D-46EE-9263-4BA95510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comisie completata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3A258-AC5F-4973-AD57-E9614DBE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3E936-0D91-47A3-BB99-12676A17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mandat si raport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E300A-33DC-4A12-A9D4-A53633E7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9D3A95-B0E2-4B82-9C5A-33B675A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urmarire operationala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D383AA-6041-4CF4-9592-486EB932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1FDBE-F6A3-4BE8-8125-F12F9950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631140-4849-440B-A272-EE0C1630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178689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/education/governance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EC70B0-20A1-4FC2-AF59-93C306AE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48387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/education/personnel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02C8A-CD8B-4BA4-AF57-D4A1A211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D6F673-E6B6-4B70-8424-E7B97AF5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committees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640088-ECEA-4D0B-9D2F-9CD441AE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88976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589460-AA21-446F-96C3-C712AB84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EB532-F93C-44FC-8C58-129691B6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10 / 13  |  profesor, evaluator, secretariat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88A01-EC0F-4069-BBD0-AB52BA1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Comunicarea rezultatului evaluarii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0E141-DEA6-482B-8CE2-142BDF51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Acoperit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D18CB-ABA2-4B4A-A1C7-8A949D0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Rezultatul evaluarii are flux, document si expunere clara in dosarul personal.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1B6F6-E2DC-4C66-B0B0-9079A51C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11EB8-7942-4ECA-9034-E00B22A3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630B2-0853-43A5-AE95-2D75DAD9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E9CDC-E405-425F-80BD-011D2D74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evaluarea si rezultatului comunicat.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4710E-D8F3-4B0A-A762-0FD70061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2C3AB-D9EB-4D2A-B37A-8AEF6832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Verifica starea contestatiilor si a finalizarii.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CBD0E-B5A5-483A-AEC0-4708F326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B5B82-3D0B-406A-B33E-687597FE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Consultati PDF-ul si documentele aferente.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BDDAA-A008-4F34-B885-1A029C80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profesor, evaluator, secretariat.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C3535-B801-442A-A5FD-CD48824D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088BA-32BF-4A7A-BA73-AB1B6F71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36187-4932-492E-A13C-7F0A7965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3C353-30D5-4144-9902-AF33CF7E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comunicare rezultat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A82BD-AAB6-4C8E-954A-7316E02B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0AE53-198F-4EDF-B7E9-A3910BE0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PDF dedicat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D2244-42F4-4DC3-B6C9-F3F03CB4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23954-D7C2-40BD-AE67-A677C7D1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oglindire in dosar personal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0AD67-55A2-41F6-8CFE-DE8CBEEB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E6D68-E9AA-4094-B4AE-8A60BDD1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DB581-85DA-4301-935B-2047858D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/education/personnel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FEFC7B-F297-4901-9CA5-C070218E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308991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/education/personnel/evaluations-wizard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436D26-45B2-4CDC-805C-929BB436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B2385A-07E2-43CA-88B6-BAAAE1FF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evaluation-communication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5E5E5E-B54C-4F64-8B69-4374CB41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40755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3C57C1-34BA-40E2-91A7-74EC4DBF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15985-62E8-404A-B48D-BF9C2294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11 / 13  |  director, director adjunct, secretariat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B842B-CAD2-4A2A-82C7-BEA282B4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Portofoliul directorului si directorului adjunct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95738-55FB-49C1-B55D-EBC80330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 rafinat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17B20-8819-4A07-BDB3-8A8FB256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Portofoliul managerial este separat de dosarul personal si are documente si verticala proprie.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8F84D-92D2-49A9-9A48-A25B554E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4B21A-4A4B-4B3E-BCBE-65D3B3E1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6478D-023D-455F-A46A-44BADF5C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75D5B-5DAE-48CB-82FE-0C385F67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registrul managerial si filtreaza pe director sau adjunct.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32B59-1AC1-4D4C-89FF-51E27675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301BE-C754-4E01-BA24-B12AC24A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Verifica documentele aprobate si in avizare.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031CF-30EE-4F25-9E3A-A992B2F8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1658A-EECF-40E1-8211-F37E789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Urmareste checklistul managerial si publicarea.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B9581-CA58-4840-AFDD-D8A55ED6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director, director adjunct, secretariat.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1AACA-72C9-43C8-B187-EDF56A7F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02E16-BEE1-44A3-9AAB-F3006DC7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81048-F25F-45A4-A2D9-650C8D99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0A9C7-62C5-4BC9-843D-333803B1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documente manageriale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CF5FA-63F6-4245-9D9D-80FDD745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8C223-F684-4E25-824F-51208B4C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workflow de avizare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F7AC0-E3FD-4BDB-A20F-11A8287B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C9FF4-99F1-4C66-A7A8-B612959E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sumar de portofoliu managerial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DA1D0-EDE0-4F47-B879-4727DCFE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0C686-E073-40E7-91FB-BE83F7CB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12DC0-FE39-4EA5-869E-FFD8E4E3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178689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/education/governance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0B6053-93AD-4E36-B77C-508FF4C2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236601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/education/dashboard/director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941A48-F796-4AF1-8E0E-6AA692C4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85F80-FF03-41F4-88BE-6A29EA9B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director-portfolio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BEA8FB-8F7F-471F-918C-A0CF7FF2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50572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C1B35-10CF-437D-90AC-57BC70B3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B3DB5-1688-49E8-9A8C-69CCBA7F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12 / 13  |  secretariat, director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54072-D197-4CDA-83D5-E727CB9E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Documente-model si PDF-uri oficiale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3C786-684A-4F6D-ADC6-95A5D792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 rafinat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04C3B-D5EF-43BB-ADAA-A4CD3281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Sunt acoperite documente PDF pentru mai multe fluxuri, dar mai raman sabloane oficiale dedicate.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1AA94-D14D-4768-A197-1C79BAEC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AF60F-47BF-4804-AB37-462187EC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168AC-031A-4A75-8D1B-57428BE4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870C5-C51A-4FAB-BE64-A40B1816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generarea PDF din resursa relevanta.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4A3FF-71DF-450E-8395-C56CBEBF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4A015-0D05-4B96-BB26-75396CA6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Alege documentul formal aferent fluxului.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DB8A8-0376-4482-9582-48C13515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A3F49-33B8-4EEF-9802-532CD0AD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Verifica trasabilitatea, numarul si statusul.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DB26A-9B03-4A8C-88B5-A8DAB651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secretariat, director.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98691-D045-4343-92BE-A5B51EF8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9CDC7-3CFE-4DB8-9DD9-81B7D26B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42444-1BB5-4E8F-B102-C703250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8AE74-E7DA-4B47-9077-F8984450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PDF-uri pe fluxuri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2C4C8-1BE2-4BF4-89FE-A065B03D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B80EB-630D-4CDE-924C-A720684A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documente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46888-CA2D-4460-8BF0-513D0861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9B310-BB3A-40E1-9EE7-F45908D9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exporturi oficiale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C09830-BBBF-4A88-B0CB-9C8FE522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7D3809-6FC6-4555-90A4-CF93C2F8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A7095C-4CF6-420D-89E0-1F9026C4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294513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/education/dashboard/director/reports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105CB-8E59-40E7-AF38-9218A6F0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178689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ACA93-6406-4DF7-97B4-A18E2647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51816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/education/portfolio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76D539-573D-4CA9-8EE7-46ED6C15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060EF-5B48-45DB-8412-465BB2C2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official-pdfs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2030BC-310B-4FF7-A3BC-AFA1A0A1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532359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8E880B-3416-4492-B50E-447B63B5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69D54-C64F-4CA3-AD9F-191C2DA1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Capitol 13 / 13  |  director, secretariat, inspector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A1667-381F-4C34-865B-9D411B58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Rapoarte manageriale strict necesare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6D57A-E464-4725-9E47-13E142F6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 rafinat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04E9D-DA60-439F-8A14-2F5ACA85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0">
                <a:solidFill>
                  <a:srgbClr val="45556C"/>
                </a:solidFill>
              </a:defRPr>
            </a:pPr>
            <a:r>
              <a:rPr sz="1125" i="0">
                <a:solidFill>
                  <a:srgbClr val="45556C"/>
                </a:solidFill>
              </a:rPr>
              <a:t>Rapoartele trebuie sa arate starea operativa a scolii: sedinte, hotarari, portofolii, evaluari si conformitate. In aplicatie, acest capitol este tratat ca un flux operational: vezi starea, pasul urmator si documentele rezultate fara sa treci prin ecrane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77E21-ECB7-4277-B7CD-AB54ACF6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6572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43012-CD0D-45A1-B058-1EE2A957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Flux in aplicatie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D5374-E5F9-4061-ACC8-9F140C23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0632F-80A3-4762-808C-048133D5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Deschide rapoartele standard din cockpitul directorului.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79147-ABF3-4B80-8D80-4E1E9B6B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ADC12-26BF-42DC-BDB7-9C0B72B0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Filtreaza pe an scolar, organism si 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A361A-4FF2-4243-B9D1-81D91F88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F7CF2-B33E-4882-8BAC-A2588F90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Exporta PDF sau CSV pentru analiza si arhivare.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9F058-6C8B-4EDF-9D6F-9053197B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26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Capitolul se foloseste cand ai nevoie sa vezi exact ce lipseste, ce urmeaza si ce trebuie transmis mai departe pentru director, secretariat, inspector.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16C09-5FA6-4508-9A0E-30D4D8F8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400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1F943-3EEA-4B60-8F55-FDAF2E6A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Iesiri asteptate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EE817-944A-4B92-A5FA-82E00628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69F9D-0047-4387-BA35-620488A1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rapoarte standard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7B7F2-126F-4538-B9A3-47ED81ED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01CD9-5C47-4B9E-AB2A-1AB97E75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exporturi contextuale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2767A-F55A-4A35-A7A6-FF972DC4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F471D-FF6B-4CAD-83C3-81C5CE6C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004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20618"/>
                </a:solidFill>
              </a:defRPr>
            </a:pPr>
            <a:r>
              <a:rPr sz="1125">
                <a:solidFill>
                  <a:srgbClr val="020618"/>
                </a:solidFill>
              </a:rPr>
              <a:t>cockpit de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9E0B3-A087-4875-A0F9-E93E36CD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400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DD810-B6FB-4134-9747-88E68203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Rute in aplicatie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F2DE2-71A9-4274-9D32-B49B6F72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38700"/>
            <a:ext cx="294513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/education/dashboard/director/reports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3192F-4804-44DC-AF62-2FD7B9C6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236601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/education/dashboard/director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7F1EDB-2E65-4C5E-A056-8AA6CB6A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78DD34-EEEA-4224-91F8-C5B7C292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Sursa: Metodologie portofoliu CD + fisier-6107.pdf  |  managerial-reports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6B07A4-E102-4C46-BC16-B802B3BE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02032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2026-06-24T18:54:16.2730000Z</dcterms:created>
  <dcterms:modified xsi:type="dcterms:W3CDTF">2026-06-24T18:54:16.2730000Z</dcterms:modified>
</coreProperties>
</file>